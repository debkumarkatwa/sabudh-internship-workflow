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6858000" cx="12192000"/>
  <p:notesSz cx="12192000" cy="6858000"/>
  <p:embeddedFontLst>
    <p:embeddedFont>
      <p:font typeface="Constantia"/>
      <p:regular r:id="rId21"/>
      <p:bold r:id="rId22"/>
      <p:italic r:id="rId23"/>
      <p:boldItalic r:id="rId24"/>
    </p:embeddedFont>
    <p:embeddedFont>
      <p:font typeface="Tahoma"/>
      <p:regular r:id="rId25"/>
      <p:bold r:id="rId26"/>
    </p:embeddedFont>
    <p:embeddedFont>
      <p:font typeface="EB Garamond"/>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 uri="GoogleSlidesCustomDataVersion2">
      <go:slidesCustomData xmlns:go="http://customooxmlschemas.google.com/" r:id="rId31" roundtripDataSignature="AMtx7mjLmCxClfP5AcTWf0DEoAopnry/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AFD6F54-543B-4584-8D7C-6C815FA54AF1}">
  <a:tblStyle styleId="{1AFD6F54-543B-4584-8D7C-6C815FA54AF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Constantia-bold.fntdata"/><Relationship Id="rId21" Type="http://schemas.openxmlformats.org/officeDocument/2006/relationships/font" Target="fonts/Constantia-regular.fntdata"/><Relationship Id="rId24" Type="http://schemas.openxmlformats.org/officeDocument/2006/relationships/font" Target="fonts/Constantia-boldItalic.fntdata"/><Relationship Id="rId23" Type="http://schemas.openxmlformats.org/officeDocument/2006/relationships/font" Target="fonts/Constantia-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Tahoma-bold.fntdata"/><Relationship Id="rId25" Type="http://schemas.openxmlformats.org/officeDocument/2006/relationships/font" Target="fonts/Tahoma-regular.fntdata"/><Relationship Id="rId28" Type="http://schemas.openxmlformats.org/officeDocument/2006/relationships/font" Target="fonts/EBGaramond-bold.fntdata"/><Relationship Id="rId27" Type="http://schemas.openxmlformats.org/officeDocument/2006/relationships/font" Target="fonts/EBGaramond-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EBGaramond-italic.fntdata"/><Relationship Id="rId7" Type="http://schemas.openxmlformats.org/officeDocument/2006/relationships/slide" Target="slides/slide1.xml"/><Relationship Id="rId8" Type="http://schemas.openxmlformats.org/officeDocument/2006/relationships/slide" Target="slides/slide2.xml"/><Relationship Id="rId31" Type="http://customschemas.google.com/relationships/presentationmetadata" Target="metadata"/><Relationship Id="rId30" Type="http://schemas.openxmlformats.org/officeDocument/2006/relationships/font" Target="fonts/EBGaramond-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52832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6905625" y="0"/>
            <a:ext cx="52832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1219200" y="3257550"/>
            <a:ext cx="9753600" cy="30861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513"/>
            <a:ext cx="52832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6905625" y="6513513"/>
            <a:ext cx="52832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2:notes"/>
          <p:cNvSpPr/>
          <p:nvPr>
            <p:ph idx="2" type="sldImg"/>
          </p:nvPr>
        </p:nvSpPr>
        <p:spPr>
          <a:xfrm>
            <a:off x="3810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 name="Google Shape;42;p2:notes"/>
          <p:cNvSpPr txBox="1"/>
          <p:nvPr>
            <p:ph idx="1" type="body"/>
          </p:nvPr>
        </p:nvSpPr>
        <p:spPr>
          <a:xfrm>
            <a:off x="1219200" y="3257550"/>
            <a:ext cx="9753600" cy="30861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43" name="Google Shape;43;p2:notes"/>
          <p:cNvSpPr txBox="1"/>
          <p:nvPr>
            <p:ph idx="12" type="sldNum"/>
          </p:nvPr>
        </p:nvSpPr>
        <p:spPr>
          <a:xfrm>
            <a:off x="6905625" y="6513513"/>
            <a:ext cx="52832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3b0c1419701_0_0:notes"/>
          <p:cNvSpPr txBox="1"/>
          <p:nvPr>
            <p:ph idx="1" type="body"/>
          </p:nvPr>
        </p:nvSpPr>
        <p:spPr>
          <a:xfrm>
            <a:off x="1219200" y="3257550"/>
            <a:ext cx="97536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 name="Google Shape;56;g3b0c1419701_0_0:notes"/>
          <p:cNvSpPr/>
          <p:nvPr>
            <p:ph idx="2" type="sldImg"/>
          </p:nvPr>
        </p:nvSpPr>
        <p:spPr>
          <a:xfrm>
            <a:off x="3810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b0e912e912_0_8:notes"/>
          <p:cNvSpPr txBox="1"/>
          <p:nvPr>
            <p:ph idx="1" type="body"/>
          </p:nvPr>
        </p:nvSpPr>
        <p:spPr>
          <a:xfrm>
            <a:off x="1219200" y="3257550"/>
            <a:ext cx="97536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 name="Google Shape;65;g3b0e912e912_0_8:notes"/>
          <p:cNvSpPr/>
          <p:nvPr>
            <p:ph idx="2" type="sldImg"/>
          </p:nvPr>
        </p:nvSpPr>
        <p:spPr>
          <a:xfrm>
            <a:off x="3810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9f43ad522c_3_12:notes"/>
          <p:cNvSpPr txBox="1"/>
          <p:nvPr>
            <p:ph idx="1" type="body"/>
          </p:nvPr>
        </p:nvSpPr>
        <p:spPr>
          <a:xfrm>
            <a:off x="1219200" y="3257550"/>
            <a:ext cx="97536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 name="Google Shape;74;g39f43ad522c_3_12:notes"/>
          <p:cNvSpPr/>
          <p:nvPr>
            <p:ph idx="2" type="sldImg"/>
          </p:nvPr>
        </p:nvSpPr>
        <p:spPr>
          <a:xfrm>
            <a:off x="3810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809cb993a8_0_0:notes"/>
          <p:cNvSpPr/>
          <p:nvPr>
            <p:ph idx="2" type="sldImg"/>
          </p:nvPr>
        </p:nvSpPr>
        <p:spPr>
          <a:xfrm>
            <a:off x="3810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 name="Google Shape;84;g3809cb993a8_0_0:notes"/>
          <p:cNvSpPr txBox="1"/>
          <p:nvPr>
            <p:ph idx="1" type="body"/>
          </p:nvPr>
        </p:nvSpPr>
        <p:spPr>
          <a:xfrm>
            <a:off x="1219200" y="3257550"/>
            <a:ext cx="97536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 name="Google Shape;85;g3809cb993a8_0_0:notes"/>
          <p:cNvSpPr txBox="1"/>
          <p:nvPr>
            <p:ph idx="12" type="sldNum"/>
          </p:nvPr>
        </p:nvSpPr>
        <p:spPr>
          <a:xfrm>
            <a:off x="6905625" y="6513513"/>
            <a:ext cx="52833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b0c1419701_0_52:notes"/>
          <p:cNvSpPr/>
          <p:nvPr>
            <p:ph idx="2" type="sldImg"/>
          </p:nvPr>
        </p:nvSpPr>
        <p:spPr>
          <a:xfrm>
            <a:off x="3810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g3b0c1419701_0_52:notes"/>
          <p:cNvSpPr txBox="1"/>
          <p:nvPr>
            <p:ph idx="1" type="body"/>
          </p:nvPr>
        </p:nvSpPr>
        <p:spPr>
          <a:xfrm>
            <a:off x="1219200" y="3257550"/>
            <a:ext cx="97536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 name="Google Shape;94;g3b0c1419701_0_52:notes"/>
          <p:cNvSpPr txBox="1"/>
          <p:nvPr>
            <p:ph idx="12" type="sldNum"/>
          </p:nvPr>
        </p:nvSpPr>
        <p:spPr>
          <a:xfrm>
            <a:off x="6905625" y="6513513"/>
            <a:ext cx="52833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8:notes"/>
          <p:cNvSpPr/>
          <p:nvPr>
            <p:ph idx="2" type="sldImg"/>
          </p:nvPr>
        </p:nvSpPr>
        <p:spPr>
          <a:xfrm>
            <a:off x="3810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8:notes"/>
          <p:cNvSpPr txBox="1"/>
          <p:nvPr>
            <p:ph idx="1" type="body"/>
          </p:nvPr>
        </p:nvSpPr>
        <p:spPr>
          <a:xfrm>
            <a:off x="1219200" y="3257550"/>
            <a:ext cx="9753600" cy="30861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128" name="Google Shape;128;p8:notes"/>
          <p:cNvSpPr txBox="1"/>
          <p:nvPr>
            <p:ph idx="12" type="sldNum"/>
          </p:nvPr>
        </p:nvSpPr>
        <p:spPr>
          <a:xfrm>
            <a:off x="6905625" y="6513513"/>
            <a:ext cx="52833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6:notes"/>
          <p:cNvSpPr txBox="1"/>
          <p:nvPr>
            <p:ph idx="1" type="body"/>
          </p:nvPr>
        </p:nvSpPr>
        <p:spPr>
          <a:xfrm>
            <a:off x="1219200" y="3257550"/>
            <a:ext cx="97536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0" name="Google Shape;140;p6:notes"/>
          <p:cNvSpPr/>
          <p:nvPr>
            <p:ph idx="2" type="sldImg"/>
          </p:nvPr>
        </p:nvSpPr>
        <p:spPr>
          <a:xfrm>
            <a:off x="3810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b0c1419701_0_10:notes"/>
          <p:cNvSpPr txBox="1"/>
          <p:nvPr>
            <p:ph idx="1" type="body"/>
          </p:nvPr>
        </p:nvSpPr>
        <p:spPr>
          <a:xfrm>
            <a:off x="1219200" y="3257550"/>
            <a:ext cx="97536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9" name="Google Shape;149;g3b0c1419701_0_10:notes"/>
          <p:cNvSpPr/>
          <p:nvPr>
            <p:ph idx="2" type="sldImg"/>
          </p:nvPr>
        </p:nvSpPr>
        <p:spPr>
          <a:xfrm>
            <a:off x="3810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b0c1419701_0_21:notes"/>
          <p:cNvSpPr txBox="1"/>
          <p:nvPr>
            <p:ph idx="1" type="body"/>
          </p:nvPr>
        </p:nvSpPr>
        <p:spPr>
          <a:xfrm>
            <a:off x="1219200" y="3257550"/>
            <a:ext cx="97536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0" name="Google Shape;160;g3b0c1419701_0_21:notes"/>
          <p:cNvSpPr/>
          <p:nvPr>
            <p:ph idx="2" type="sldImg"/>
          </p:nvPr>
        </p:nvSpPr>
        <p:spPr>
          <a:xfrm>
            <a:off x="3810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b0c1419701_0_39:notes"/>
          <p:cNvSpPr txBox="1"/>
          <p:nvPr>
            <p:ph idx="1" type="body"/>
          </p:nvPr>
        </p:nvSpPr>
        <p:spPr>
          <a:xfrm>
            <a:off x="1219200" y="3257550"/>
            <a:ext cx="97536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9" name="Google Shape;169;g3b0c1419701_0_39:notes"/>
          <p:cNvSpPr/>
          <p:nvPr>
            <p:ph idx="2" type="sldImg"/>
          </p:nvPr>
        </p:nvSpPr>
        <p:spPr>
          <a:xfrm>
            <a:off x="3810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9f43ad522c_1_46:notes"/>
          <p:cNvSpPr txBox="1"/>
          <p:nvPr>
            <p:ph idx="1" type="body"/>
          </p:nvPr>
        </p:nvSpPr>
        <p:spPr>
          <a:xfrm>
            <a:off x="1219200" y="3257550"/>
            <a:ext cx="97536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8" name="Google Shape;178;g39f43ad522c_1_46:notes"/>
          <p:cNvSpPr/>
          <p:nvPr>
            <p:ph idx="2" type="sldImg"/>
          </p:nvPr>
        </p:nvSpPr>
        <p:spPr>
          <a:xfrm>
            <a:off x="3810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b03e64b31b_0_10:notes"/>
          <p:cNvSpPr/>
          <p:nvPr>
            <p:ph idx="2" type="sldImg"/>
          </p:nvPr>
        </p:nvSpPr>
        <p:spPr>
          <a:xfrm>
            <a:off x="3810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g3b03e64b31b_0_10:notes"/>
          <p:cNvSpPr txBox="1"/>
          <p:nvPr>
            <p:ph idx="1" type="body"/>
          </p:nvPr>
        </p:nvSpPr>
        <p:spPr>
          <a:xfrm>
            <a:off x="1219200" y="3257550"/>
            <a:ext cx="97536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0" name="Google Shape;190;g3b03e64b31b_0_10:notes"/>
          <p:cNvSpPr txBox="1"/>
          <p:nvPr>
            <p:ph idx="12" type="sldNum"/>
          </p:nvPr>
        </p:nvSpPr>
        <p:spPr>
          <a:xfrm>
            <a:off x="6905625" y="6513513"/>
            <a:ext cx="52833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1:notes"/>
          <p:cNvSpPr/>
          <p:nvPr>
            <p:ph idx="2" type="sldImg"/>
          </p:nvPr>
        </p:nvSpPr>
        <p:spPr>
          <a:xfrm>
            <a:off x="3810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p11:notes"/>
          <p:cNvSpPr txBox="1"/>
          <p:nvPr>
            <p:ph idx="1" type="body"/>
          </p:nvPr>
        </p:nvSpPr>
        <p:spPr>
          <a:xfrm>
            <a:off x="1219200" y="3257550"/>
            <a:ext cx="9753600" cy="30861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200" name="Google Shape;200;p11:notes"/>
          <p:cNvSpPr txBox="1"/>
          <p:nvPr>
            <p:ph idx="12" type="sldNum"/>
          </p:nvPr>
        </p:nvSpPr>
        <p:spPr>
          <a:xfrm>
            <a:off x="6905625" y="6513513"/>
            <a:ext cx="52832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bg>
      <p:bgPr>
        <a:solidFill>
          <a:schemeClr val="lt1"/>
        </a:solidFill>
      </p:bgPr>
    </p:bg>
    <p:spTree>
      <p:nvGrpSpPr>
        <p:cNvPr id="15" name="Shape 15"/>
        <p:cNvGrpSpPr/>
        <p:nvPr/>
      </p:nvGrpSpPr>
      <p:grpSpPr>
        <a:xfrm>
          <a:off x="0" y="0"/>
          <a:ext cx="0" cy="0"/>
          <a:chOff x="0" y="0"/>
          <a:chExt cx="0" cy="0"/>
        </a:xfrm>
      </p:grpSpPr>
      <p:pic>
        <p:nvPicPr>
          <p:cNvPr id="16" name="Google Shape;16;p14"/>
          <p:cNvPicPr preferRelativeResize="0"/>
          <p:nvPr/>
        </p:nvPicPr>
        <p:blipFill rotWithShape="1">
          <a:blip r:embed="rId2">
            <a:alphaModFix/>
          </a:blip>
          <a:srcRect b="0" l="0" r="0" t="0"/>
          <a:stretch/>
        </p:blipFill>
        <p:spPr>
          <a:xfrm>
            <a:off x="11376914" y="165988"/>
            <a:ext cx="601471" cy="601979"/>
          </a:xfrm>
          <a:prstGeom prst="rect">
            <a:avLst/>
          </a:prstGeom>
          <a:noFill/>
          <a:ln>
            <a:noFill/>
          </a:ln>
        </p:spPr>
      </p:pic>
      <p:sp>
        <p:nvSpPr>
          <p:cNvPr id="17" name="Google Shape;17;p14"/>
          <p:cNvSpPr txBox="1"/>
          <p:nvPr>
            <p:ph type="ctrTitle"/>
          </p:nvPr>
        </p:nvSpPr>
        <p:spPr>
          <a:xfrm>
            <a:off x="4775200" y="241299"/>
            <a:ext cx="2641599" cy="63246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950" u="sng">
                <a:solidFill>
                  <a:schemeClr val="dk1"/>
                </a:solidFill>
                <a:latin typeface="Constantia"/>
                <a:ea typeface="Constantia"/>
                <a:cs typeface="Constantia"/>
                <a:sym typeface="Constant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4"/>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4"/>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4"/>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2" name="Shape 22"/>
        <p:cNvGrpSpPr/>
        <p:nvPr/>
      </p:nvGrpSpPr>
      <p:grpSpPr>
        <a:xfrm>
          <a:off x="0" y="0"/>
          <a:ext cx="0" cy="0"/>
          <a:chOff x="0" y="0"/>
          <a:chExt cx="0" cy="0"/>
        </a:xfrm>
      </p:grpSpPr>
      <p:sp>
        <p:nvSpPr>
          <p:cNvPr id="23" name="Google Shape;23;p15"/>
          <p:cNvSpPr txBox="1"/>
          <p:nvPr>
            <p:ph type="title"/>
          </p:nvPr>
        </p:nvSpPr>
        <p:spPr>
          <a:xfrm>
            <a:off x="4241165" y="2799397"/>
            <a:ext cx="3709669" cy="94107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6000">
                <a:solidFill>
                  <a:schemeClr val="dk1"/>
                </a:solidFill>
                <a:latin typeface="Tahoma"/>
                <a:ea typeface="Tahoma"/>
                <a:cs typeface="Tahoma"/>
                <a:sym typeface="Tahom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5"/>
          <p:cNvSpPr txBox="1"/>
          <p:nvPr>
            <p:ph idx="1" type="body"/>
          </p:nvPr>
        </p:nvSpPr>
        <p:spPr>
          <a:xfrm>
            <a:off x="3177285" y="1924685"/>
            <a:ext cx="6145530" cy="1892935"/>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a:solidFill>
                  <a:schemeClr val="dk1"/>
                </a:solidFil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5" name="Google Shape;25;p1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5"/>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8" name="Shape 28"/>
        <p:cNvGrpSpPr/>
        <p:nvPr/>
      </p:nvGrpSpPr>
      <p:grpSpPr>
        <a:xfrm>
          <a:off x="0" y="0"/>
          <a:ext cx="0" cy="0"/>
          <a:chOff x="0" y="0"/>
          <a:chExt cx="0" cy="0"/>
        </a:xfrm>
      </p:grpSpPr>
      <p:sp>
        <p:nvSpPr>
          <p:cNvPr id="29" name="Google Shape;29;p16"/>
          <p:cNvSpPr txBox="1"/>
          <p:nvPr>
            <p:ph type="title"/>
          </p:nvPr>
        </p:nvSpPr>
        <p:spPr>
          <a:xfrm>
            <a:off x="4241165" y="2799397"/>
            <a:ext cx="3709669" cy="94107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6000">
                <a:solidFill>
                  <a:schemeClr val="dk1"/>
                </a:solidFill>
                <a:latin typeface="Tahoma"/>
                <a:ea typeface="Tahoma"/>
                <a:cs typeface="Tahoma"/>
                <a:sym typeface="Tahom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6"/>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6"/>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6"/>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3" name="Shape 33"/>
        <p:cNvGrpSpPr/>
        <p:nvPr/>
      </p:nvGrpSpPr>
      <p:grpSpPr>
        <a:xfrm>
          <a:off x="0" y="0"/>
          <a:ext cx="0" cy="0"/>
          <a:chOff x="0" y="0"/>
          <a:chExt cx="0" cy="0"/>
        </a:xfrm>
      </p:grpSpPr>
      <p:sp>
        <p:nvSpPr>
          <p:cNvPr id="34" name="Google Shape;34;p17"/>
          <p:cNvSpPr txBox="1"/>
          <p:nvPr>
            <p:ph type="title"/>
          </p:nvPr>
        </p:nvSpPr>
        <p:spPr>
          <a:xfrm>
            <a:off x="4241165" y="2799397"/>
            <a:ext cx="3709669" cy="94107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6000">
                <a:solidFill>
                  <a:schemeClr val="dk1"/>
                </a:solidFill>
                <a:latin typeface="Tahoma"/>
                <a:ea typeface="Tahoma"/>
                <a:cs typeface="Tahoma"/>
                <a:sym typeface="Tahom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7"/>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6" name="Google Shape;36;p17"/>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7" name="Google Shape;37;p17"/>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7"/>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7"/>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2"/>
          <p:cNvSpPr txBox="1"/>
          <p:nvPr>
            <p:ph type="title"/>
          </p:nvPr>
        </p:nvSpPr>
        <p:spPr>
          <a:xfrm>
            <a:off x="4241165" y="2799397"/>
            <a:ext cx="3709669" cy="94107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60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2"/>
          <p:cNvSpPr txBox="1"/>
          <p:nvPr>
            <p:ph idx="1" type="body"/>
          </p:nvPr>
        </p:nvSpPr>
        <p:spPr>
          <a:xfrm>
            <a:off x="3177285" y="1924685"/>
            <a:ext cx="6145530" cy="1892935"/>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12" name="Google Shape;12;p12"/>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2"/>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2"/>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hyperlink" Target="https://www.kaggle.com/datasets/kshitizbhargava/deepfake-face-images" TargetMode="External"/><Relationship Id="rId5" Type="http://schemas.openxmlformats.org/officeDocument/2006/relationships/hyperlink" Target="https://www.kaggle.com/datasets/uditsharma72/real-vs-fake-faces" TargetMode="External"/><Relationship Id="rId6" Type="http://schemas.openxmlformats.org/officeDocument/2006/relationships/hyperlink" Target="https://www.kaggle.com/datasets/manjilkarki/deepfake-and-real-image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9.jpg"/><Relationship Id="rId5"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10.jpg"/><Relationship Id="rId5" Type="http://schemas.openxmlformats.org/officeDocument/2006/relationships/image" Target="../media/image1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hyperlink" Target="https://huggingface.co/spaces/AryaGupta007/DeepFake_Detector_Final" TargetMode="External"/><Relationship Id="rId5" Type="http://schemas.openxmlformats.org/officeDocument/2006/relationships/hyperlink" Target="https://huggingface.co/spaces/AryaGupta007/DeepFake_Detector_Fina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2"/>
          <p:cNvSpPr txBox="1"/>
          <p:nvPr/>
        </p:nvSpPr>
        <p:spPr>
          <a:xfrm>
            <a:off x="2032500" y="619725"/>
            <a:ext cx="9174000" cy="906300"/>
          </a:xfrm>
          <a:prstGeom prst="rect">
            <a:avLst/>
          </a:prstGeom>
          <a:noFill/>
          <a:ln>
            <a:noFill/>
          </a:ln>
        </p:spPr>
        <p:txBody>
          <a:bodyPr anchorCtr="0" anchor="t" bIns="0" lIns="0" spcFirstLastPara="1" rIns="0" wrap="square" tIns="13325">
            <a:spAutoFit/>
          </a:bodyPr>
          <a:lstStyle/>
          <a:p>
            <a:pPr indent="0" lvl="0" marL="0" marR="0" rtl="0" algn="ctr">
              <a:lnSpc>
                <a:spcPct val="100000"/>
              </a:lnSpc>
              <a:spcBef>
                <a:spcPts val="0"/>
              </a:spcBef>
              <a:spcAft>
                <a:spcPts val="0"/>
              </a:spcAft>
              <a:buClr>
                <a:srgbClr val="000000"/>
              </a:buClr>
              <a:buSzPts val="4800"/>
              <a:buFont typeface="Arial"/>
              <a:buNone/>
            </a:pPr>
            <a:r>
              <a:rPr b="1" i="0" lang="en-US" sz="5800" u="sng" cap="none" strike="noStrike">
                <a:solidFill>
                  <a:srgbClr val="000000"/>
                </a:solidFill>
                <a:latin typeface="Times New Roman"/>
                <a:ea typeface="Times New Roman"/>
                <a:cs typeface="Times New Roman"/>
                <a:sym typeface="Times New Roman"/>
              </a:rPr>
              <a:t>Deep Fake Identification</a:t>
            </a:r>
            <a:endParaRPr b="1" i="0" sz="5800" u="none" cap="none" strike="noStrike">
              <a:solidFill>
                <a:srgbClr val="06080A"/>
              </a:solidFill>
              <a:latin typeface="Times New Roman"/>
              <a:ea typeface="Times New Roman"/>
              <a:cs typeface="Times New Roman"/>
              <a:sym typeface="Times New Roman"/>
            </a:endParaRPr>
          </a:p>
        </p:txBody>
      </p:sp>
      <p:sp>
        <p:nvSpPr>
          <p:cNvPr id="46" name="Google Shape;46;p2"/>
          <p:cNvSpPr/>
          <p:nvPr/>
        </p:nvSpPr>
        <p:spPr>
          <a:xfrm>
            <a:off x="360300" y="2772400"/>
            <a:ext cx="11336400" cy="126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600"/>
              </a:spcBef>
              <a:spcAft>
                <a:spcPts val="0"/>
              </a:spcAft>
              <a:buClr>
                <a:srgbClr val="000000"/>
              </a:buClr>
              <a:buSzPts val="1800"/>
              <a:buFont typeface="Arial"/>
              <a:buNone/>
            </a:pPr>
            <a:r>
              <a:rPr b="1" i="0" lang="en-US" sz="2500" u="sng" cap="none" strike="noStrike">
                <a:solidFill>
                  <a:srgbClr val="1B786F"/>
                </a:solidFill>
                <a:latin typeface="Arial"/>
                <a:ea typeface="Arial"/>
                <a:cs typeface="Arial"/>
                <a:sym typeface="Arial"/>
              </a:rPr>
              <a:t>Presented By</a:t>
            </a:r>
            <a:endParaRPr b="1" i="0" sz="25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1" i="0" lang="en-US" sz="2100" u="none" cap="none" strike="noStrike">
                <a:solidFill>
                  <a:srgbClr val="000000"/>
                </a:solidFill>
                <a:latin typeface="Arial"/>
                <a:ea typeface="Arial"/>
                <a:cs typeface="Arial"/>
                <a:sym typeface="Arial"/>
              </a:rPr>
              <a:t>	   </a:t>
            </a:r>
            <a:r>
              <a:rPr b="1" i="0" lang="en-US" sz="2000" u="none" cap="none" strike="noStrike">
                <a:solidFill>
                  <a:srgbClr val="000000"/>
                </a:solidFill>
                <a:latin typeface="Arial"/>
                <a:ea typeface="Arial"/>
                <a:cs typeface="Arial"/>
                <a:sym typeface="Arial"/>
              </a:rPr>
              <a:t>Swarnadri Sekhar Mukherjee		</a:t>
            </a:r>
            <a:r>
              <a:rPr b="1" i="0" lang="en-US" sz="1900" u="none" cap="none" strike="noStrike">
                <a:solidFill>
                  <a:srgbClr val="000000"/>
                </a:solidFill>
                <a:latin typeface="Arial"/>
                <a:ea typeface="Arial"/>
                <a:cs typeface="Arial"/>
                <a:sym typeface="Arial"/>
              </a:rPr>
              <a:t>Deb kumar Mondal		</a:t>
            </a:r>
            <a:r>
              <a:rPr b="1" i="0" lang="en-US" sz="1900" u="none" cap="none" strike="noStrike">
                <a:solidFill>
                  <a:schemeClr val="dk1"/>
                </a:solidFill>
                <a:latin typeface="Arial"/>
                <a:ea typeface="Arial"/>
                <a:cs typeface="Arial"/>
                <a:sym typeface="Arial"/>
              </a:rPr>
              <a:t>	Soumyadeep Shaw</a:t>
            </a:r>
            <a:endParaRPr b="1" i="0" sz="19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1" i="0" lang="en-US" sz="1900" u="none" cap="none" strike="noStrike">
                <a:solidFill>
                  <a:schemeClr val="dk1"/>
                </a:solidFill>
                <a:latin typeface="Arial"/>
                <a:ea typeface="Arial"/>
                <a:cs typeface="Arial"/>
                <a:sym typeface="Arial"/>
              </a:rPr>
              <a:t>	Meet Kasediya		</a:t>
            </a:r>
            <a:r>
              <a:rPr b="1" i="0" lang="en-US" sz="1900" u="none" cap="none" strike="noStrike">
                <a:solidFill>
                  <a:srgbClr val="000000"/>
                </a:solidFill>
                <a:latin typeface="Arial"/>
                <a:ea typeface="Arial"/>
                <a:cs typeface="Arial"/>
                <a:sym typeface="Arial"/>
              </a:rPr>
              <a:t>Tanya Kumari</a:t>
            </a:r>
            <a:r>
              <a:rPr b="1" i="0" lang="en-US" sz="1900" u="none" cap="none" strike="noStrike">
                <a:solidFill>
                  <a:schemeClr val="dk1"/>
                </a:solidFill>
                <a:latin typeface="Arial"/>
                <a:ea typeface="Arial"/>
                <a:cs typeface="Arial"/>
                <a:sym typeface="Arial"/>
              </a:rPr>
              <a:t>		Sunny Kumar		Prabhjot Kaur	          Arya Gupta</a:t>
            </a:r>
            <a:endParaRPr b="1" i="0" sz="1900" u="none" cap="none" strike="noStrike">
              <a:solidFill>
                <a:schemeClr val="dk1"/>
              </a:solidFill>
              <a:latin typeface="Arial"/>
              <a:ea typeface="Arial"/>
              <a:cs typeface="Arial"/>
              <a:sym typeface="Arial"/>
            </a:endParaRPr>
          </a:p>
        </p:txBody>
      </p:sp>
      <p:sp>
        <p:nvSpPr>
          <p:cNvPr id="47" name="Google Shape;47;p2"/>
          <p:cNvSpPr txBox="1"/>
          <p:nvPr/>
        </p:nvSpPr>
        <p:spPr>
          <a:xfrm>
            <a:off x="9533325" y="5725125"/>
            <a:ext cx="2391900" cy="721200"/>
          </a:xfrm>
          <a:prstGeom prst="rect">
            <a:avLst/>
          </a:prstGeom>
          <a:noFill/>
          <a:ln>
            <a:noFill/>
          </a:ln>
        </p:spPr>
        <p:txBody>
          <a:bodyPr anchorCtr="0" anchor="t" bIns="45700" lIns="91425" spcFirstLastPara="1" rIns="91425" wrap="square" tIns="45700">
            <a:spAutoFit/>
          </a:bodyPr>
          <a:lstStyle/>
          <a:p>
            <a:pPr indent="0" lvl="0" marL="0" marR="0" rtl="0" algn="r">
              <a:lnSpc>
                <a:spcPct val="115000"/>
              </a:lnSpc>
              <a:spcBef>
                <a:spcPts val="0"/>
              </a:spcBef>
              <a:spcAft>
                <a:spcPts val="0"/>
              </a:spcAft>
              <a:buClr>
                <a:srgbClr val="000000"/>
              </a:buClr>
              <a:buSzPts val="1600"/>
              <a:buFont typeface="Arial"/>
              <a:buNone/>
            </a:pPr>
            <a:r>
              <a:rPr b="1" i="0" lang="en-US" sz="1900" u="none" cap="none" strike="noStrike">
                <a:solidFill>
                  <a:srgbClr val="000000"/>
                </a:solidFill>
                <a:latin typeface="Arial"/>
                <a:ea typeface="Arial"/>
                <a:cs typeface="Arial"/>
                <a:sym typeface="Arial"/>
              </a:rPr>
              <a:t>Date of Reporting:</a:t>
            </a:r>
            <a:br>
              <a:rPr b="0" i="0" lang="en-US" sz="1900" u="none" cap="none" strike="noStrike">
                <a:solidFill>
                  <a:srgbClr val="000000"/>
                </a:solidFill>
                <a:latin typeface="Arial"/>
                <a:ea typeface="Arial"/>
                <a:cs typeface="Arial"/>
                <a:sym typeface="Arial"/>
              </a:rPr>
            </a:br>
            <a:r>
              <a:rPr lang="en-US" sz="1900"/>
              <a:t>Dec 16th</a:t>
            </a:r>
            <a:r>
              <a:rPr baseline="30000" lang="en-US" sz="1900"/>
              <a:t> </a:t>
            </a:r>
            <a:r>
              <a:rPr b="0" i="0" lang="en-US" sz="1900" u="none" cap="none" strike="noStrike">
                <a:solidFill>
                  <a:srgbClr val="000000"/>
                </a:solidFill>
                <a:latin typeface="Arial"/>
                <a:ea typeface="Arial"/>
                <a:cs typeface="Arial"/>
                <a:sym typeface="Arial"/>
              </a:rPr>
              <a:t> 2025</a:t>
            </a:r>
            <a:r>
              <a:rPr b="0" baseline="30000" i="0" lang="en-US" sz="1900" u="none" cap="none" strike="noStrike">
                <a:solidFill>
                  <a:srgbClr val="000000"/>
                </a:solidFill>
                <a:latin typeface="Arial"/>
                <a:ea typeface="Arial"/>
                <a:cs typeface="Arial"/>
                <a:sym typeface="Arial"/>
              </a:rPr>
              <a:t> </a:t>
            </a:r>
            <a:endParaRPr b="0" i="0" sz="1900" u="none" cap="none" strike="noStrike">
              <a:solidFill>
                <a:srgbClr val="000000"/>
              </a:solidFill>
              <a:latin typeface="Arial"/>
              <a:ea typeface="Arial"/>
              <a:cs typeface="Arial"/>
              <a:sym typeface="Arial"/>
            </a:endParaRPr>
          </a:p>
        </p:txBody>
      </p:sp>
      <p:pic>
        <p:nvPicPr>
          <p:cNvPr id="48" name="Google Shape;48;p2" title="download.jpeg"/>
          <p:cNvPicPr preferRelativeResize="0"/>
          <p:nvPr/>
        </p:nvPicPr>
        <p:blipFill rotWithShape="1">
          <a:blip r:embed="rId3">
            <a:alphaModFix/>
          </a:blip>
          <a:srcRect b="16791" l="14315" r="14358" t="6497"/>
          <a:stretch/>
        </p:blipFill>
        <p:spPr>
          <a:xfrm>
            <a:off x="11290059" y="109862"/>
            <a:ext cx="840225" cy="903625"/>
          </a:xfrm>
          <a:prstGeom prst="rect">
            <a:avLst/>
          </a:prstGeom>
          <a:noFill/>
          <a:ln>
            <a:noFill/>
          </a:ln>
        </p:spPr>
      </p:pic>
      <p:sp>
        <p:nvSpPr>
          <p:cNvPr id="49" name="Google Shape;49;p2"/>
          <p:cNvSpPr/>
          <p:nvPr/>
        </p:nvSpPr>
        <p:spPr>
          <a:xfrm>
            <a:off x="4387950" y="4267200"/>
            <a:ext cx="3223200" cy="90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600"/>
              </a:spcBef>
              <a:spcAft>
                <a:spcPts val="0"/>
              </a:spcAft>
              <a:buClr>
                <a:srgbClr val="000000"/>
              </a:buClr>
              <a:buSzPts val="1800"/>
              <a:buFont typeface="Arial"/>
              <a:buNone/>
            </a:pPr>
            <a:r>
              <a:rPr b="1" i="0" lang="en-US" sz="2300" u="none" cap="none" strike="noStrike">
                <a:solidFill>
                  <a:srgbClr val="1B786F"/>
                </a:solidFill>
                <a:latin typeface="Arial"/>
                <a:ea typeface="Arial"/>
                <a:cs typeface="Arial"/>
                <a:sym typeface="Arial"/>
              </a:rPr>
              <a:t> </a:t>
            </a:r>
            <a:r>
              <a:rPr b="1" i="0" lang="en-US" sz="2300" u="sng" cap="none" strike="noStrike">
                <a:solidFill>
                  <a:srgbClr val="1B786F"/>
                </a:solidFill>
                <a:latin typeface="Arial"/>
                <a:ea typeface="Arial"/>
                <a:cs typeface="Arial"/>
                <a:sym typeface="Arial"/>
              </a:rPr>
              <a:t> Under Guidance of</a:t>
            </a:r>
            <a:r>
              <a:rPr b="1" i="0" lang="en-US" sz="2300" u="sng" cap="none" strike="noStrike">
                <a:solidFill>
                  <a:srgbClr val="000000"/>
                </a:solidFill>
                <a:latin typeface="Arial"/>
                <a:ea typeface="Arial"/>
                <a:cs typeface="Arial"/>
                <a:sym typeface="Arial"/>
              </a:rPr>
              <a:t> </a:t>
            </a:r>
            <a:endParaRPr b="1" i="0" sz="2300" u="sng"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1" i="0" lang="en-US" sz="2100" u="none" cap="none" strike="noStrike">
                <a:solidFill>
                  <a:srgbClr val="000000"/>
                </a:solidFill>
                <a:latin typeface="Arial"/>
                <a:ea typeface="Arial"/>
                <a:cs typeface="Arial"/>
                <a:sym typeface="Arial"/>
              </a:rPr>
              <a:t>  Mr. Harjaspreet Singh</a:t>
            </a:r>
            <a:endParaRPr b="1" i="0" sz="2100" u="none" cap="none" strike="noStrike">
              <a:solidFill>
                <a:schemeClr val="dk1"/>
              </a:solidFill>
              <a:latin typeface="Arial"/>
              <a:ea typeface="Arial"/>
              <a:cs typeface="Arial"/>
              <a:sym typeface="Arial"/>
            </a:endParaRPr>
          </a:p>
        </p:txBody>
      </p:sp>
      <p:sp>
        <p:nvSpPr>
          <p:cNvPr id="50" name="Google Shape;50;p2"/>
          <p:cNvSpPr/>
          <p:nvPr/>
        </p:nvSpPr>
        <p:spPr>
          <a:xfrm>
            <a:off x="4175700" y="5316575"/>
            <a:ext cx="3756000" cy="906300"/>
          </a:xfrm>
          <a:prstGeom prst="rect">
            <a:avLst/>
          </a:prstGeom>
          <a:noFill/>
          <a:ln>
            <a:noFill/>
          </a:ln>
        </p:spPr>
        <p:txBody>
          <a:bodyPr anchorCtr="0" anchor="ctr" bIns="45700" lIns="91425" spcFirstLastPara="1" rIns="91425" wrap="square" tIns="45700">
            <a:noAutofit/>
          </a:bodyPr>
          <a:lstStyle/>
          <a:p>
            <a:pPr indent="0" lvl="0" marL="0" marR="0" rtl="0" algn="ctr">
              <a:lnSpc>
                <a:spcPct val="115000"/>
              </a:lnSpc>
              <a:spcBef>
                <a:spcPts val="600"/>
              </a:spcBef>
              <a:spcAft>
                <a:spcPts val="0"/>
              </a:spcAft>
              <a:buClr>
                <a:srgbClr val="000000"/>
              </a:buClr>
              <a:buSzPts val="1800"/>
              <a:buFont typeface="Arial"/>
              <a:buNone/>
            </a:pPr>
            <a:r>
              <a:rPr b="1" i="0" lang="en-US" sz="2100" u="sng" cap="none" strike="noStrike">
                <a:solidFill>
                  <a:srgbClr val="1B786F"/>
                </a:solidFill>
                <a:latin typeface="Arial"/>
                <a:ea typeface="Arial"/>
                <a:cs typeface="Arial"/>
                <a:sym typeface="Arial"/>
              </a:rPr>
              <a:t>To </a:t>
            </a:r>
            <a:endParaRPr b="1" i="0" sz="2100" u="sng" cap="none" strike="noStrike">
              <a:solidFill>
                <a:srgbClr val="1B786F"/>
              </a:solidFill>
              <a:latin typeface="Arial"/>
              <a:ea typeface="Arial"/>
              <a:cs typeface="Arial"/>
              <a:sym typeface="Arial"/>
            </a:endParaRPr>
          </a:p>
          <a:p>
            <a:pPr indent="0" lvl="0" marL="0" marR="0" rtl="0" algn="ctr">
              <a:lnSpc>
                <a:spcPct val="115000"/>
              </a:lnSpc>
              <a:spcBef>
                <a:spcPts val="600"/>
              </a:spcBef>
              <a:spcAft>
                <a:spcPts val="0"/>
              </a:spcAft>
              <a:buClr>
                <a:srgbClr val="000000"/>
              </a:buClr>
              <a:buSzPts val="1800"/>
              <a:buFont typeface="Arial"/>
              <a:buNone/>
            </a:pPr>
            <a:r>
              <a:rPr b="1" i="0" lang="en-US" sz="2200" u="sng" cap="none" strike="noStrike">
                <a:solidFill>
                  <a:schemeClr val="dk1"/>
                </a:solidFill>
                <a:latin typeface="Arial"/>
                <a:ea typeface="Arial"/>
                <a:cs typeface="Arial"/>
                <a:sym typeface="Arial"/>
              </a:rPr>
              <a:t>SABUDH FOUNDATION</a:t>
            </a:r>
            <a:r>
              <a:rPr b="1" i="0" lang="en-US" sz="2000" u="sng" cap="none" strike="noStrike">
                <a:solidFill>
                  <a:schemeClr val="dk1"/>
                </a:solidFill>
                <a:latin typeface="Arial"/>
                <a:ea typeface="Arial"/>
                <a:cs typeface="Arial"/>
                <a:sym typeface="Arial"/>
              </a:rPr>
              <a:t>	</a:t>
            </a:r>
            <a:endParaRPr b="1" i="0" sz="2000" u="sng" cap="none" strike="noStrike">
              <a:solidFill>
                <a:schemeClr val="dk1"/>
              </a:solidFill>
              <a:latin typeface="Arial"/>
              <a:ea typeface="Arial"/>
              <a:cs typeface="Arial"/>
              <a:sym typeface="Arial"/>
            </a:endParaRPr>
          </a:p>
        </p:txBody>
      </p:sp>
      <p:sp>
        <p:nvSpPr>
          <p:cNvPr id="51" name="Google Shape;51;p2"/>
          <p:cNvSpPr txBox="1"/>
          <p:nvPr/>
        </p:nvSpPr>
        <p:spPr>
          <a:xfrm>
            <a:off x="925700" y="1604751"/>
            <a:ext cx="10280700" cy="1167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1B786F"/>
                </a:solidFill>
                <a:highlight>
                  <a:schemeClr val="lt1"/>
                </a:highlight>
                <a:latin typeface="Calibri"/>
                <a:ea typeface="Calibri"/>
                <a:cs typeface="Calibri"/>
                <a:sym typeface="Calibri"/>
              </a:rPr>
              <a:t>An AI-powered Platform Designed to Differentiate Between Real and Fake Contents.</a:t>
            </a:r>
            <a:endParaRPr b="0" i="0" sz="2800" u="none" cap="none" strike="noStrike">
              <a:solidFill>
                <a:srgbClr val="1B786F"/>
              </a:solidFill>
              <a:highlight>
                <a:schemeClr val="lt1"/>
              </a:highlight>
              <a:latin typeface="Calibri"/>
              <a:ea typeface="Calibri"/>
              <a:cs typeface="Calibri"/>
              <a:sym typeface="Calibri"/>
            </a:endParaRPr>
          </a:p>
        </p:txBody>
      </p:sp>
      <p:sp>
        <p:nvSpPr>
          <p:cNvPr id="52" name="Google Shape;52;p2"/>
          <p:cNvSpPr/>
          <p:nvPr/>
        </p:nvSpPr>
        <p:spPr>
          <a:xfrm>
            <a:off x="0" y="25"/>
            <a:ext cx="360300" cy="6858000"/>
          </a:xfrm>
          <a:prstGeom prst="rect">
            <a:avLst/>
          </a:prstGeom>
          <a:solidFill>
            <a:srgbClr val="1B786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B786F"/>
              </a:solidFill>
              <a:latin typeface="Calibri"/>
              <a:ea typeface="Calibri"/>
              <a:cs typeface="Calibri"/>
              <a:sym typeface="Calibri"/>
            </a:endParaRPr>
          </a:p>
        </p:txBody>
      </p:sp>
      <p:pic>
        <p:nvPicPr>
          <p:cNvPr id="53" name="Google Shape;53;p2"/>
          <p:cNvPicPr preferRelativeResize="0"/>
          <p:nvPr/>
        </p:nvPicPr>
        <p:blipFill rotWithShape="1">
          <a:blip r:embed="rId4">
            <a:alphaModFix/>
          </a:blip>
          <a:srcRect b="0" l="0" r="0" t="0"/>
          <a:stretch/>
        </p:blipFill>
        <p:spPr>
          <a:xfrm>
            <a:off x="1283151" y="417098"/>
            <a:ext cx="1041482" cy="12678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7" name="Shape 57"/>
        <p:cNvGrpSpPr/>
        <p:nvPr/>
      </p:nvGrpSpPr>
      <p:grpSpPr>
        <a:xfrm>
          <a:off x="0" y="0"/>
          <a:ext cx="0" cy="0"/>
          <a:chOff x="0" y="0"/>
          <a:chExt cx="0" cy="0"/>
        </a:xfrm>
      </p:grpSpPr>
      <p:sp>
        <p:nvSpPr>
          <p:cNvPr id="58" name="Google Shape;58;g3b0c1419701_0_0"/>
          <p:cNvSpPr txBox="1"/>
          <p:nvPr/>
        </p:nvSpPr>
        <p:spPr>
          <a:xfrm>
            <a:off x="168450" y="314475"/>
            <a:ext cx="10575900" cy="785100"/>
          </a:xfrm>
          <a:prstGeom prst="rect">
            <a:avLst/>
          </a:prstGeom>
          <a:noFill/>
          <a:ln>
            <a:noFill/>
          </a:ln>
        </p:spPr>
        <p:txBody>
          <a:bodyPr anchorCtr="0" anchor="t" bIns="45700" lIns="91425" spcFirstLastPara="1" rIns="91425" wrap="square" tIns="45700">
            <a:spAutoFit/>
          </a:bodyPr>
          <a:lstStyle/>
          <a:p>
            <a:pPr indent="-514350" lvl="0" marL="914400" marR="0" rtl="0" algn="l">
              <a:lnSpc>
                <a:spcPct val="100000"/>
              </a:lnSpc>
              <a:spcBef>
                <a:spcPts val="0"/>
              </a:spcBef>
              <a:spcAft>
                <a:spcPts val="0"/>
              </a:spcAft>
              <a:buClr>
                <a:srgbClr val="1B786F"/>
              </a:buClr>
              <a:buSzPts val="4500"/>
              <a:buFont typeface="EB Garamond"/>
              <a:buChar char="❏"/>
            </a:pPr>
            <a:r>
              <a:rPr b="1" lang="en-US" sz="4500" u="sng">
                <a:solidFill>
                  <a:srgbClr val="1B786F"/>
                </a:solidFill>
                <a:latin typeface="EB Garamond"/>
                <a:ea typeface="EB Garamond"/>
                <a:cs typeface="EB Garamond"/>
                <a:sym typeface="EB Garamond"/>
              </a:rPr>
              <a:t>Problem Statement </a:t>
            </a:r>
            <a:r>
              <a:rPr b="1" i="0" lang="en-US" sz="4500" u="none" cap="none" strike="noStrike">
                <a:solidFill>
                  <a:srgbClr val="1B786F"/>
                </a:solidFill>
                <a:latin typeface="EB Garamond"/>
                <a:ea typeface="EB Garamond"/>
                <a:cs typeface="EB Garamond"/>
                <a:sym typeface="EB Garamond"/>
              </a:rPr>
              <a:t>:- </a:t>
            </a:r>
            <a:endParaRPr b="1" i="0" sz="4500" u="none" cap="none" strike="noStrike">
              <a:solidFill>
                <a:srgbClr val="1B786F"/>
              </a:solidFill>
              <a:latin typeface="EB Garamond"/>
              <a:ea typeface="EB Garamond"/>
              <a:cs typeface="EB Garamond"/>
              <a:sym typeface="EB Garamond"/>
            </a:endParaRPr>
          </a:p>
        </p:txBody>
      </p:sp>
      <p:pic>
        <p:nvPicPr>
          <p:cNvPr id="59" name="Google Shape;59;g3b0c1419701_0_0" title="download.jpeg"/>
          <p:cNvPicPr preferRelativeResize="0"/>
          <p:nvPr/>
        </p:nvPicPr>
        <p:blipFill rotWithShape="1">
          <a:blip r:embed="rId3">
            <a:alphaModFix/>
          </a:blip>
          <a:srcRect b="16791" l="14315" r="14358" t="6497"/>
          <a:stretch/>
        </p:blipFill>
        <p:spPr>
          <a:xfrm>
            <a:off x="11290059" y="109862"/>
            <a:ext cx="840225" cy="903625"/>
          </a:xfrm>
          <a:prstGeom prst="rect">
            <a:avLst/>
          </a:prstGeom>
          <a:noFill/>
          <a:ln>
            <a:noFill/>
          </a:ln>
        </p:spPr>
      </p:pic>
      <p:sp>
        <p:nvSpPr>
          <p:cNvPr id="60" name="Google Shape;60;g3b0c1419701_0_0"/>
          <p:cNvSpPr/>
          <p:nvPr/>
        </p:nvSpPr>
        <p:spPr>
          <a:xfrm>
            <a:off x="0" y="25"/>
            <a:ext cx="360300" cy="6858000"/>
          </a:xfrm>
          <a:prstGeom prst="rect">
            <a:avLst/>
          </a:prstGeom>
          <a:solidFill>
            <a:srgbClr val="1B786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B786F"/>
              </a:solidFill>
              <a:latin typeface="Calibri"/>
              <a:ea typeface="Calibri"/>
              <a:cs typeface="Calibri"/>
              <a:sym typeface="Calibri"/>
            </a:endParaRPr>
          </a:p>
        </p:txBody>
      </p:sp>
      <p:sp>
        <p:nvSpPr>
          <p:cNvPr id="61" name="Google Shape;61;g3b0c1419701_0_0"/>
          <p:cNvSpPr txBox="1"/>
          <p:nvPr/>
        </p:nvSpPr>
        <p:spPr>
          <a:xfrm>
            <a:off x="1279275" y="1099575"/>
            <a:ext cx="8856900" cy="34725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1200"/>
              </a:spcBef>
              <a:spcAft>
                <a:spcPts val="0"/>
              </a:spcAft>
              <a:buClr>
                <a:schemeClr val="dk1"/>
              </a:buClr>
              <a:buSzPts val="1100"/>
              <a:buFont typeface="Arial"/>
              <a:buNone/>
            </a:pPr>
            <a:r>
              <a:rPr lang="en-US" sz="1900">
                <a:solidFill>
                  <a:schemeClr val="dk1"/>
                </a:solidFill>
              </a:rPr>
              <a:t>With rapid advancements in Artificial Intelligence, </a:t>
            </a:r>
            <a:r>
              <a:rPr b="1" lang="en-US" sz="1900">
                <a:solidFill>
                  <a:schemeClr val="dk1"/>
                </a:solidFill>
              </a:rPr>
              <a:t>DeepFake technology</a:t>
            </a:r>
            <a:r>
              <a:rPr lang="en-US" sz="1900">
                <a:solidFill>
                  <a:schemeClr val="dk1"/>
                </a:solidFill>
              </a:rPr>
              <a:t> can generate highly realistic synthetic images that are difficult to distinguish from real ones. While useful, this technology poses serious risks such as spreading misinformation, creating deceptive content, and violating personal privacy.</a:t>
            </a:r>
            <a:endParaRPr sz="1900">
              <a:solidFill>
                <a:schemeClr val="dk1"/>
              </a:solidFill>
            </a:endParaRPr>
          </a:p>
          <a:p>
            <a:pPr indent="0" lvl="0" marL="0" rtl="0" algn="just">
              <a:lnSpc>
                <a:spcPct val="100000"/>
              </a:lnSpc>
              <a:spcBef>
                <a:spcPts val="1200"/>
              </a:spcBef>
              <a:spcAft>
                <a:spcPts val="0"/>
              </a:spcAft>
              <a:buClr>
                <a:schemeClr val="dk1"/>
              </a:buClr>
              <a:buSzPts val="1100"/>
              <a:buFont typeface="Arial"/>
              <a:buNone/>
            </a:pPr>
            <a:r>
              <a:rPr b="1" lang="en-US" sz="1900">
                <a:solidFill>
                  <a:schemeClr val="dk1"/>
                </a:solidFill>
              </a:rPr>
              <a:t>Objective: </a:t>
            </a:r>
            <a:endParaRPr b="1" sz="1900">
              <a:solidFill>
                <a:schemeClr val="dk1"/>
              </a:solidFill>
            </a:endParaRPr>
          </a:p>
          <a:p>
            <a:pPr indent="0" lvl="0" marL="0" rtl="0" algn="just">
              <a:lnSpc>
                <a:spcPct val="100000"/>
              </a:lnSpc>
              <a:spcBef>
                <a:spcPts val="1200"/>
              </a:spcBef>
              <a:spcAft>
                <a:spcPts val="0"/>
              </a:spcAft>
              <a:buClr>
                <a:schemeClr val="dk1"/>
              </a:buClr>
              <a:buSzPts val="1100"/>
              <a:buFont typeface="Arial"/>
              <a:buNone/>
            </a:pPr>
            <a:r>
              <a:rPr lang="en-US" sz="1900">
                <a:solidFill>
                  <a:schemeClr val="dk1"/>
                </a:solidFill>
              </a:rPr>
              <a:t>To develop an </a:t>
            </a:r>
            <a:r>
              <a:rPr b="1" lang="en-US" sz="1900">
                <a:solidFill>
                  <a:schemeClr val="dk1"/>
                </a:solidFill>
              </a:rPr>
              <a:t>ANN-based DeepFake detection system</a:t>
            </a:r>
            <a:r>
              <a:rPr lang="en-US" sz="1900">
                <a:solidFill>
                  <a:schemeClr val="dk1"/>
                </a:solidFill>
              </a:rPr>
              <a:t> that analyzes image features and accurately classifies images as </a:t>
            </a:r>
            <a:r>
              <a:rPr b="1" lang="en-US" sz="1900">
                <a:solidFill>
                  <a:schemeClr val="dk1"/>
                </a:solidFill>
              </a:rPr>
              <a:t>real or fake</a:t>
            </a:r>
            <a:r>
              <a:rPr lang="en-US" sz="1900">
                <a:solidFill>
                  <a:schemeClr val="dk1"/>
                </a:solidFill>
              </a:rPr>
              <a:t>, enhancing digital security and trust online.</a:t>
            </a:r>
            <a:endParaRPr sz="1900">
              <a:solidFill>
                <a:schemeClr val="dk1"/>
              </a:solidFill>
            </a:endParaRPr>
          </a:p>
          <a:p>
            <a:pPr indent="0" lvl="0" marL="457200" rtl="0" algn="l">
              <a:lnSpc>
                <a:spcPct val="100000"/>
              </a:lnSpc>
              <a:spcBef>
                <a:spcPts val="1200"/>
              </a:spcBef>
              <a:spcAft>
                <a:spcPts val="0"/>
              </a:spcAft>
              <a:buNone/>
            </a:pPr>
            <a:r>
              <a:t/>
            </a:r>
            <a:endParaRPr b="1" sz="1600">
              <a:solidFill>
                <a:schemeClr val="dk1"/>
              </a:solidFill>
            </a:endParaRPr>
          </a:p>
          <a:p>
            <a:pPr indent="0" lvl="0" marL="457200" rtl="0" algn="l">
              <a:lnSpc>
                <a:spcPct val="100000"/>
              </a:lnSpc>
              <a:spcBef>
                <a:spcPts val="1200"/>
              </a:spcBef>
              <a:spcAft>
                <a:spcPts val="0"/>
              </a:spcAft>
              <a:buNone/>
            </a:pPr>
            <a:r>
              <a:t/>
            </a:r>
            <a:endParaRPr sz="1200">
              <a:solidFill>
                <a:schemeClr val="dk1"/>
              </a:solidFill>
            </a:endParaRPr>
          </a:p>
          <a:p>
            <a:pPr indent="0" lvl="0" marL="0" marR="0" rtl="0" algn="l">
              <a:lnSpc>
                <a:spcPct val="115000"/>
              </a:lnSpc>
              <a:spcBef>
                <a:spcPts val="1200"/>
              </a:spcBef>
              <a:spcAft>
                <a:spcPts val="0"/>
              </a:spcAft>
              <a:buNone/>
            </a:pPr>
            <a:r>
              <a:t/>
            </a:r>
            <a:endParaRPr b="1" sz="1800">
              <a:solidFill>
                <a:schemeClr val="dk1"/>
              </a:solidFill>
            </a:endParaRPr>
          </a:p>
        </p:txBody>
      </p:sp>
      <p:pic>
        <p:nvPicPr>
          <p:cNvPr id="62" name="Google Shape;62;g3b0c1419701_0_0"/>
          <p:cNvPicPr preferRelativeResize="0"/>
          <p:nvPr/>
        </p:nvPicPr>
        <p:blipFill>
          <a:blip r:embed="rId4">
            <a:alphaModFix/>
          </a:blip>
          <a:stretch>
            <a:fillRect/>
          </a:stretch>
        </p:blipFill>
        <p:spPr>
          <a:xfrm>
            <a:off x="2019053" y="4106725"/>
            <a:ext cx="8153899" cy="23819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6" name="Shape 66"/>
        <p:cNvGrpSpPr/>
        <p:nvPr/>
      </p:nvGrpSpPr>
      <p:grpSpPr>
        <a:xfrm>
          <a:off x="0" y="0"/>
          <a:ext cx="0" cy="0"/>
          <a:chOff x="0" y="0"/>
          <a:chExt cx="0" cy="0"/>
        </a:xfrm>
      </p:grpSpPr>
      <p:sp>
        <p:nvSpPr>
          <p:cNvPr id="67" name="Google Shape;67;g3b0e912e912_0_8"/>
          <p:cNvSpPr txBox="1"/>
          <p:nvPr/>
        </p:nvSpPr>
        <p:spPr>
          <a:xfrm>
            <a:off x="168450" y="314475"/>
            <a:ext cx="10575900" cy="785100"/>
          </a:xfrm>
          <a:prstGeom prst="rect">
            <a:avLst/>
          </a:prstGeom>
          <a:noFill/>
          <a:ln>
            <a:noFill/>
          </a:ln>
        </p:spPr>
        <p:txBody>
          <a:bodyPr anchorCtr="0" anchor="t" bIns="45700" lIns="91425" spcFirstLastPara="1" rIns="91425" wrap="square" tIns="45700">
            <a:spAutoFit/>
          </a:bodyPr>
          <a:lstStyle/>
          <a:p>
            <a:pPr indent="-514350" lvl="0" marL="914400" marR="0" rtl="0" algn="l">
              <a:lnSpc>
                <a:spcPct val="100000"/>
              </a:lnSpc>
              <a:spcBef>
                <a:spcPts val="0"/>
              </a:spcBef>
              <a:spcAft>
                <a:spcPts val="0"/>
              </a:spcAft>
              <a:buClr>
                <a:srgbClr val="1B786F"/>
              </a:buClr>
              <a:buSzPts val="4500"/>
              <a:buFont typeface="EB Garamond"/>
              <a:buChar char="❏"/>
            </a:pPr>
            <a:r>
              <a:rPr b="1" i="0" lang="en-US" sz="4500" u="sng" cap="none" strike="noStrike">
                <a:solidFill>
                  <a:srgbClr val="1B786F"/>
                </a:solidFill>
                <a:latin typeface="EB Garamond"/>
                <a:ea typeface="EB Garamond"/>
                <a:cs typeface="EB Garamond"/>
                <a:sym typeface="EB Garamond"/>
              </a:rPr>
              <a:t>Datasets</a:t>
            </a:r>
            <a:r>
              <a:rPr b="1" i="0" lang="en-US" sz="4500" u="none" cap="none" strike="noStrike">
                <a:solidFill>
                  <a:srgbClr val="1B786F"/>
                </a:solidFill>
                <a:latin typeface="EB Garamond"/>
                <a:ea typeface="EB Garamond"/>
                <a:cs typeface="EB Garamond"/>
                <a:sym typeface="EB Garamond"/>
              </a:rPr>
              <a:t> :- </a:t>
            </a:r>
            <a:endParaRPr b="1" i="0" sz="4500" u="none" cap="none" strike="noStrike">
              <a:solidFill>
                <a:srgbClr val="1B786F"/>
              </a:solidFill>
              <a:latin typeface="EB Garamond"/>
              <a:ea typeface="EB Garamond"/>
              <a:cs typeface="EB Garamond"/>
              <a:sym typeface="EB Garamond"/>
            </a:endParaRPr>
          </a:p>
        </p:txBody>
      </p:sp>
      <p:pic>
        <p:nvPicPr>
          <p:cNvPr id="68" name="Google Shape;68;g3b0e912e912_0_8" title="download.jpeg"/>
          <p:cNvPicPr preferRelativeResize="0"/>
          <p:nvPr/>
        </p:nvPicPr>
        <p:blipFill rotWithShape="1">
          <a:blip r:embed="rId3">
            <a:alphaModFix/>
          </a:blip>
          <a:srcRect b="16791" l="14315" r="14358" t="6497"/>
          <a:stretch/>
        </p:blipFill>
        <p:spPr>
          <a:xfrm>
            <a:off x="11290059" y="109862"/>
            <a:ext cx="840225" cy="903625"/>
          </a:xfrm>
          <a:prstGeom prst="rect">
            <a:avLst/>
          </a:prstGeom>
          <a:noFill/>
          <a:ln>
            <a:noFill/>
          </a:ln>
        </p:spPr>
      </p:pic>
      <p:sp>
        <p:nvSpPr>
          <p:cNvPr id="69" name="Google Shape;69;g3b0e912e912_0_8"/>
          <p:cNvSpPr/>
          <p:nvPr/>
        </p:nvSpPr>
        <p:spPr>
          <a:xfrm>
            <a:off x="0" y="25"/>
            <a:ext cx="360300" cy="6858000"/>
          </a:xfrm>
          <a:prstGeom prst="rect">
            <a:avLst/>
          </a:prstGeom>
          <a:solidFill>
            <a:srgbClr val="1B786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B786F"/>
              </a:solidFill>
              <a:latin typeface="Calibri"/>
              <a:ea typeface="Calibri"/>
              <a:cs typeface="Calibri"/>
              <a:sym typeface="Calibri"/>
            </a:endParaRPr>
          </a:p>
        </p:txBody>
      </p:sp>
      <p:sp>
        <p:nvSpPr>
          <p:cNvPr id="70" name="Google Shape;70;g3b0e912e912_0_8"/>
          <p:cNvSpPr txBox="1"/>
          <p:nvPr/>
        </p:nvSpPr>
        <p:spPr>
          <a:xfrm>
            <a:off x="541200" y="1099575"/>
            <a:ext cx="11162700" cy="5527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0"/>
              </a:spcAft>
              <a:buClr>
                <a:schemeClr val="dk1"/>
              </a:buClr>
              <a:buSzPts val="1100"/>
              <a:buFont typeface="Arial"/>
              <a:buNone/>
            </a:pPr>
            <a:r>
              <a:rPr lang="en-US" sz="1700">
                <a:solidFill>
                  <a:schemeClr val="dk1"/>
                </a:solidFill>
              </a:rPr>
              <a:t>Datasets were collected from </a:t>
            </a:r>
            <a:r>
              <a:rPr b="1" lang="en-US" sz="1700">
                <a:solidFill>
                  <a:schemeClr val="dk1"/>
                </a:solidFill>
              </a:rPr>
              <a:t>the papers we reviewed in Literature Review</a:t>
            </a:r>
            <a:r>
              <a:rPr lang="en-US" sz="1700">
                <a:solidFill>
                  <a:schemeClr val="dk1"/>
                </a:solidFill>
              </a:rPr>
              <a:t> and merged into a single dataset:</a:t>
            </a:r>
            <a:endParaRPr sz="1700">
              <a:solidFill>
                <a:schemeClr val="dk1"/>
              </a:solidFill>
            </a:endParaRPr>
          </a:p>
          <a:p>
            <a:pPr indent="-336550" lvl="0" marL="457200" rtl="0" algn="l">
              <a:lnSpc>
                <a:spcPct val="100000"/>
              </a:lnSpc>
              <a:spcBef>
                <a:spcPts val="1200"/>
              </a:spcBef>
              <a:spcAft>
                <a:spcPts val="0"/>
              </a:spcAft>
              <a:buClr>
                <a:schemeClr val="dk1"/>
              </a:buClr>
              <a:buSzPts val="1700"/>
              <a:buChar char="●"/>
            </a:pPr>
            <a:r>
              <a:rPr lang="en-US" sz="1700">
                <a:solidFill>
                  <a:schemeClr val="dk1"/>
                </a:solidFill>
              </a:rPr>
              <a:t>StyleGAN / StyleGAN2 DeepFake Face Images</a:t>
            </a:r>
            <a:endParaRPr sz="1700">
              <a:solidFill>
                <a:schemeClr val="dk1"/>
              </a:solidFill>
            </a:endParaRPr>
          </a:p>
          <a:p>
            <a:pPr indent="-336550" lvl="0" marL="457200" rtl="0" algn="l">
              <a:lnSpc>
                <a:spcPct val="100000"/>
              </a:lnSpc>
              <a:spcBef>
                <a:spcPts val="0"/>
              </a:spcBef>
              <a:spcAft>
                <a:spcPts val="0"/>
              </a:spcAft>
              <a:buClr>
                <a:schemeClr val="dk1"/>
              </a:buClr>
              <a:buSzPts val="1700"/>
              <a:buChar char="●"/>
            </a:pPr>
            <a:r>
              <a:rPr lang="en-US" sz="1700">
                <a:solidFill>
                  <a:schemeClr val="dk1"/>
                </a:solidFill>
              </a:rPr>
              <a:t>Real vs Fake Face Images</a:t>
            </a:r>
            <a:endParaRPr sz="1700">
              <a:solidFill>
                <a:schemeClr val="dk1"/>
              </a:solidFill>
            </a:endParaRPr>
          </a:p>
          <a:p>
            <a:pPr indent="-336550" lvl="0" marL="457200" rtl="0" algn="l">
              <a:lnSpc>
                <a:spcPct val="100000"/>
              </a:lnSpc>
              <a:spcBef>
                <a:spcPts val="0"/>
              </a:spcBef>
              <a:spcAft>
                <a:spcPts val="0"/>
              </a:spcAft>
              <a:buClr>
                <a:schemeClr val="dk1"/>
              </a:buClr>
              <a:buSzPts val="1700"/>
              <a:buChar char="●"/>
            </a:pPr>
            <a:r>
              <a:rPr lang="en-US" sz="1700">
                <a:solidFill>
                  <a:schemeClr val="dk1"/>
                </a:solidFill>
              </a:rPr>
              <a:t>DeepFake and Real Images</a:t>
            </a:r>
            <a:endParaRPr sz="1700">
              <a:solidFill>
                <a:schemeClr val="dk1"/>
              </a:solidFill>
            </a:endParaRPr>
          </a:p>
          <a:p>
            <a:pPr indent="0" lvl="0" marL="0" rtl="0" algn="l">
              <a:lnSpc>
                <a:spcPct val="100000"/>
              </a:lnSpc>
              <a:spcBef>
                <a:spcPts val="1200"/>
              </a:spcBef>
              <a:spcAft>
                <a:spcPts val="0"/>
              </a:spcAft>
              <a:buNone/>
            </a:pPr>
            <a:r>
              <a:t/>
            </a:r>
            <a:endParaRPr sz="1700">
              <a:solidFill>
                <a:schemeClr val="dk1"/>
              </a:solidFill>
            </a:endParaRPr>
          </a:p>
          <a:p>
            <a:pPr indent="0" lvl="0" marL="0" rtl="0" algn="l">
              <a:lnSpc>
                <a:spcPct val="100000"/>
              </a:lnSpc>
              <a:spcBef>
                <a:spcPts val="1200"/>
              </a:spcBef>
              <a:spcAft>
                <a:spcPts val="0"/>
              </a:spcAft>
              <a:buNone/>
            </a:pPr>
            <a:r>
              <a:t/>
            </a:r>
            <a:endParaRPr sz="1700">
              <a:solidFill>
                <a:schemeClr val="dk1"/>
              </a:solidFill>
            </a:endParaRPr>
          </a:p>
          <a:p>
            <a:pPr indent="0" lvl="0" marL="0" rtl="0" algn="l">
              <a:lnSpc>
                <a:spcPct val="100000"/>
              </a:lnSpc>
              <a:spcBef>
                <a:spcPts val="1200"/>
              </a:spcBef>
              <a:spcAft>
                <a:spcPts val="0"/>
              </a:spcAft>
              <a:buNone/>
            </a:pPr>
            <a:r>
              <a:t/>
            </a:r>
            <a:endParaRPr sz="1700">
              <a:solidFill>
                <a:schemeClr val="dk1"/>
              </a:solidFill>
            </a:endParaRPr>
          </a:p>
          <a:p>
            <a:pPr indent="0" lvl="0" marL="0" rtl="0" algn="l">
              <a:lnSpc>
                <a:spcPct val="100000"/>
              </a:lnSpc>
              <a:spcBef>
                <a:spcPts val="1200"/>
              </a:spcBef>
              <a:spcAft>
                <a:spcPts val="0"/>
              </a:spcAft>
              <a:buNone/>
            </a:pPr>
            <a:r>
              <a:t/>
            </a:r>
            <a:endParaRPr sz="1700">
              <a:solidFill>
                <a:schemeClr val="dk1"/>
              </a:solidFill>
            </a:endParaRPr>
          </a:p>
          <a:p>
            <a:pPr indent="0" lvl="0" marL="0" rtl="0" algn="l">
              <a:lnSpc>
                <a:spcPct val="100000"/>
              </a:lnSpc>
              <a:spcBef>
                <a:spcPts val="1200"/>
              </a:spcBef>
              <a:spcAft>
                <a:spcPts val="0"/>
              </a:spcAft>
              <a:buNone/>
            </a:pPr>
            <a:r>
              <a:t/>
            </a:r>
            <a:endParaRPr sz="1700">
              <a:solidFill>
                <a:schemeClr val="dk1"/>
              </a:solidFill>
            </a:endParaRPr>
          </a:p>
          <a:p>
            <a:pPr indent="0" lvl="0" marL="0" rtl="0" algn="l">
              <a:lnSpc>
                <a:spcPct val="100000"/>
              </a:lnSpc>
              <a:spcBef>
                <a:spcPts val="1200"/>
              </a:spcBef>
              <a:spcAft>
                <a:spcPts val="0"/>
              </a:spcAft>
              <a:buNone/>
            </a:pPr>
            <a:r>
              <a:t/>
            </a:r>
            <a:endParaRPr sz="1700">
              <a:solidFill>
                <a:schemeClr val="dk1"/>
              </a:solidFill>
            </a:endParaRPr>
          </a:p>
          <a:p>
            <a:pPr indent="0" lvl="0" marL="0" rtl="0" algn="l">
              <a:lnSpc>
                <a:spcPct val="100000"/>
              </a:lnSpc>
              <a:spcBef>
                <a:spcPts val="1200"/>
              </a:spcBef>
              <a:spcAft>
                <a:spcPts val="0"/>
              </a:spcAft>
              <a:buNone/>
            </a:pPr>
            <a:r>
              <a:t/>
            </a:r>
            <a:endParaRPr sz="1700">
              <a:solidFill>
                <a:schemeClr val="dk1"/>
              </a:solidFill>
            </a:endParaRPr>
          </a:p>
          <a:p>
            <a:pPr indent="0" lvl="0" marL="0" rtl="0" algn="l">
              <a:lnSpc>
                <a:spcPct val="100000"/>
              </a:lnSpc>
              <a:spcBef>
                <a:spcPts val="1200"/>
              </a:spcBef>
              <a:spcAft>
                <a:spcPts val="0"/>
              </a:spcAft>
              <a:buClr>
                <a:schemeClr val="dk1"/>
              </a:buClr>
              <a:buSzPts val="1100"/>
              <a:buFont typeface="Arial"/>
              <a:buNone/>
            </a:pPr>
            <a:r>
              <a:rPr b="1" lang="en-US" sz="1800">
                <a:solidFill>
                  <a:schemeClr val="dk1"/>
                </a:solidFill>
              </a:rPr>
              <a:t>Final Dataset Size:</a:t>
            </a:r>
            <a:endParaRPr b="1" sz="1800">
              <a:solidFill>
                <a:schemeClr val="dk1"/>
              </a:solidFill>
            </a:endParaRPr>
          </a:p>
          <a:p>
            <a:pPr indent="-330200" lvl="0" marL="457200" rtl="0" algn="l">
              <a:lnSpc>
                <a:spcPct val="100000"/>
              </a:lnSpc>
              <a:spcBef>
                <a:spcPts val="1200"/>
              </a:spcBef>
              <a:spcAft>
                <a:spcPts val="0"/>
              </a:spcAft>
              <a:buClr>
                <a:schemeClr val="dk1"/>
              </a:buClr>
              <a:buSzPts val="1600"/>
              <a:buChar char="●"/>
            </a:pPr>
            <a:r>
              <a:rPr lang="en-US" sz="1600">
                <a:solidFill>
                  <a:schemeClr val="dk1"/>
                </a:solidFill>
              </a:rPr>
              <a:t>Real Images: </a:t>
            </a:r>
            <a:r>
              <a:rPr b="1" lang="en-US" sz="1600">
                <a:solidFill>
                  <a:schemeClr val="dk1"/>
                </a:solidFill>
              </a:rPr>
              <a:t>65,558,    </a:t>
            </a:r>
            <a:r>
              <a:rPr lang="en-US" sz="1600">
                <a:solidFill>
                  <a:schemeClr val="dk1"/>
                </a:solidFill>
              </a:rPr>
              <a:t>Fake Images: </a:t>
            </a:r>
            <a:r>
              <a:rPr b="1" lang="en-US" sz="1600">
                <a:solidFill>
                  <a:schemeClr val="dk1"/>
                </a:solidFill>
              </a:rPr>
              <a:t>77,954</a:t>
            </a:r>
            <a:endParaRPr b="1" sz="1600">
              <a:solidFill>
                <a:schemeClr val="dk1"/>
              </a:solidFill>
            </a:endParaRPr>
          </a:p>
          <a:p>
            <a:pPr indent="0" lvl="0" marL="457200" rtl="0" algn="l">
              <a:lnSpc>
                <a:spcPct val="100000"/>
              </a:lnSpc>
              <a:spcBef>
                <a:spcPts val="1200"/>
              </a:spcBef>
              <a:spcAft>
                <a:spcPts val="0"/>
              </a:spcAft>
              <a:buNone/>
            </a:pPr>
            <a:r>
              <a:t/>
            </a:r>
            <a:endParaRPr sz="1200">
              <a:solidFill>
                <a:schemeClr val="dk1"/>
              </a:solidFill>
            </a:endParaRPr>
          </a:p>
          <a:p>
            <a:pPr indent="0" lvl="0" marL="0" marR="0" rtl="0" algn="l">
              <a:lnSpc>
                <a:spcPct val="115000"/>
              </a:lnSpc>
              <a:spcBef>
                <a:spcPts val="1200"/>
              </a:spcBef>
              <a:spcAft>
                <a:spcPts val="0"/>
              </a:spcAft>
              <a:buNone/>
            </a:pPr>
            <a:r>
              <a:t/>
            </a:r>
            <a:endParaRPr b="1" sz="1800">
              <a:solidFill>
                <a:schemeClr val="dk1"/>
              </a:solidFill>
            </a:endParaRPr>
          </a:p>
        </p:txBody>
      </p:sp>
      <p:graphicFrame>
        <p:nvGraphicFramePr>
          <p:cNvPr id="71" name="Google Shape;71;g3b0e912e912_0_8"/>
          <p:cNvGraphicFramePr/>
          <p:nvPr/>
        </p:nvGraphicFramePr>
        <p:xfrm>
          <a:off x="1306150" y="2594175"/>
          <a:ext cx="3000000" cy="3000000"/>
        </p:xfrm>
        <a:graphic>
          <a:graphicData uri="http://schemas.openxmlformats.org/drawingml/2006/table">
            <a:tbl>
              <a:tblPr>
                <a:noFill/>
                <a:tableStyleId>{1AFD6F54-543B-4584-8D7C-6C815FA54AF1}</a:tableStyleId>
              </a:tblPr>
              <a:tblGrid>
                <a:gridCol w="4789850"/>
                <a:gridCol w="4789850"/>
              </a:tblGrid>
              <a:tr h="420375">
                <a:tc>
                  <a:txBody>
                    <a:bodyPr/>
                    <a:lstStyle/>
                    <a:p>
                      <a:pPr indent="0" lvl="0" marL="0" rtl="0" algn="ctr">
                        <a:spcBef>
                          <a:spcPts val="0"/>
                        </a:spcBef>
                        <a:spcAft>
                          <a:spcPts val="0"/>
                        </a:spcAft>
                        <a:buNone/>
                      </a:pPr>
                      <a:r>
                        <a:rPr b="1" lang="en-US" sz="1800"/>
                        <a:t>Dataset Name</a:t>
                      </a:r>
                      <a:endParaRPr b="1" sz="1800"/>
                    </a:p>
                  </a:txBody>
                  <a:tcPr marT="91425" marB="91425" marR="91425" marL="91425"/>
                </a:tc>
                <a:tc>
                  <a:txBody>
                    <a:bodyPr/>
                    <a:lstStyle/>
                    <a:p>
                      <a:pPr indent="0" lvl="0" marL="0" rtl="0" algn="ctr">
                        <a:spcBef>
                          <a:spcPts val="0"/>
                        </a:spcBef>
                        <a:spcAft>
                          <a:spcPts val="0"/>
                        </a:spcAft>
                        <a:buNone/>
                      </a:pPr>
                      <a:r>
                        <a:rPr b="1" lang="en-US" sz="1800"/>
                        <a:t>Dataset Link</a:t>
                      </a:r>
                      <a:endParaRPr b="1" sz="1800"/>
                    </a:p>
                  </a:txBody>
                  <a:tcPr marT="91425" marB="91425" marR="91425" marL="91425"/>
                </a:tc>
              </a:tr>
              <a:tr h="680350">
                <a:tc>
                  <a:txBody>
                    <a:bodyPr/>
                    <a:lstStyle/>
                    <a:p>
                      <a:pPr indent="0" lvl="0" marL="0" rtl="0" algn="ctr">
                        <a:lnSpc>
                          <a:spcPct val="115000"/>
                        </a:lnSpc>
                        <a:spcBef>
                          <a:spcPts val="0"/>
                        </a:spcBef>
                        <a:spcAft>
                          <a:spcPts val="0"/>
                        </a:spcAft>
                        <a:buNone/>
                      </a:pPr>
                      <a:r>
                        <a:rPr lang="en-US" sz="1700">
                          <a:solidFill>
                            <a:schemeClr val="dk1"/>
                          </a:solidFill>
                        </a:rPr>
                        <a:t>StyleGan-StyleGan2 Deepfake Face Images</a:t>
                      </a:r>
                      <a:endParaRPr/>
                    </a:p>
                  </a:txBody>
                  <a:tcPr marT="91425" marB="91425" marR="91425" marL="91425"/>
                </a:tc>
                <a:tc>
                  <a:txBody>
                    <a:bodyPr/>
                    <a:lstStyle/>
                    <a:p>
                      <a:pPr indent="0" lvl="0" marL="0" rtl="0" algn="l">
                        <a:lnSpc>
                          <a:spcPct val="115000"/>
                        </a:lnSpc>
                        <a:spcBef>
                          <a:spcPts val="0"/>
                        </a:spcBef>
                        <a:spcAft>
                          <a:spcPts val="0"/>
                        </a:spcAft>
                        <a:buNone/>
                      </a:pPr>
                      <a:r>
                        <a:rPr lang="en-US" sz="1700" u="sng">
                          <a:solidFill>
                            <a:schemeClr val="hlink"/>
                          </a:solidFill>
                          <a:hlinkClick r:id="rId4"/>
                        </a:rPr>
                        <a:t>https://www.kaggle.com/datasets/kshitizbhargava/deepfake-face-images</a:t>
                      </a:r>
                      <a:endParaRPr/>
                    </a:p>
                  </a:txBody>
                  <a:tcPr marT="91425" marB="91425" marR="91425" marL="91425"/>
                </a:tc>
              </a:tr>
              <a:tr h="680350">
                <a:tc>
                  <a:txBody>
                    <a:bodyPr/>
                    <a:lstStyle/>
                    <a:p>
                      <a:pPr indent="0" lvl="0" marL="0" rtl="0" algn="ctr">
                        <a:lnSpc>
                          <a:spcPct val="115000"/>
                        </a:lnSpc>
                        <a:spcBef>
                          <a:spcPts val="0"/>
                        </a:spcBef>
                        <a:spcAft>
                          <a:spcPts val="0"/>
                        </a:spcAft>
                        <a:buNone/>
                      </a:pPr>
                      <a:r>
                        <a:rPr lang="en-US" sz="1700">
                          <a:solidFill>
                            <a:schemeClr val="dk1"/>
                          </a:solidFill>
                        </a:rPr>
                        <a:t>Real vs fake faces</a:t>
                      </a:r>
                      <a:endParaRPr/>
                    </a:p>
                  </a:txBody>
                  <a:tcPr marT="91425" marB="91425" marR="91425" marL="91425"/>
                </a:tc>
                <a:tc>
                  <a:txBody>
                    <a:bodyPr/>
                    <a:lstStyle/>
                    <a:p>
                      <a:pPr indent="0" lvl="0" marL="0" rtl="0" algn="l">
                        <a:lnSpc>
                          <a:spcPct val="115000"/>
                        </a:lnSpc>
                        <a:spcBef>
                          <a:spcPts val="0"/>
                        </a:spcBef>
                        <a:spcAft>
                          <a:spcPts val="0"/>
                        </a:spcAft>
                        <a:buNone/>
                      </a:pPr>
                      <a:r>
                        <a:rPr lang="en-US" sz="1700" u="sng">
                          <a:solidFill>
                            <a:schemeClr val="hlink"/>
                          </a:solidFill>
                          <a:hlinkClick r:id="rId5"/>
                        </a:rPr>
                        <a:t>https://www.kaggle.com/datasets/uditsharma72/real-vs-fake-faces</a:t>
                      </a:r>
                      <a:endParaRPr/>
                    </a:p>
                  </a:txBody>
                  <a:tcPr marT="91425" marB="91425" marR="91425" marL="91425"/>
                </a:tc>
              </a:tr>
              <a:tr h="680350">
                <a:tc>
                  <a:txBody>
                    <a:bodyPr/>
                    <a:lstStyle/>
                    <a:p>
                      <a:pPr indent="0" lvl="0" marL="0" rtl="0" algn="ctr">
                        <a:lnSpc>
                          <a:spcPct val="115000"/>
                        </a:lnSpc>
                        <a:spcBef>
                          <a:spcPts val="0"/>
                        </a:spcBef>
                        <a:spcAft>
                          <a:spcPts val="0"/>
                        </a:spcAft>
                        <a:buNone/>
                      </a:pPr>
                      <a:r>
                        <a:rPr lang="en-US" sz="1700">
                          <a:solidFill>
                            <a:schemeClr val="dk1"/>
                          </a:solidFill>
                        </a:rPr>
                        <a:t>Deepfake and real images</a:t>
                      </a:r>
                      <a:endParaRPr/>
                    </a:p>
                  </a:txBody>
                  <a:tcPr marT="91425" marB="91425" marR="91425" marL="91425"/>
                </a:tc>
                <a:tc>
                  <a:txBody>
                    <a:bodyPr/>
                    <a:lstStyle/>
                    <a:p>
                      <a:pPr indent="0" lvl="0" marL="0" rtl="0" algn="l">
                        <a:lnSpc>
                          <a:spcPct val="115000"/>
                        </a:lnSpc>
                        <a:spcBef>
                          <a:spcPts val="0"/>
                        </a:spcBef>
                        <a:spcAft>
                          <a:spcPts val="0"/>
                        </a:spcAft>
                        <a:buNone/>
                      </a:pPr>
                      <a:r>
                        <a:rPr lang="en-US" sz="1700" u="sng">
                          <a:solidFill>
                            <a:schemeClr val="hlink"/>
                          </a:solidFill>
                          <a:hlinkClick r:id="rId6"/>
                        </a:rPr>
                        <a:t>https://www.kaggle.com/datasets/manjilkarki/deepfake-and-real-images</a:t>
                      </a:r>
                      <a:r>
                        <a:rPr lang="en-US" sz="1700">
                          <a:solidFill>
                            <a:schemeClr val="dk1"/>
                          </a:solidFill>
                        </a:rPr>
                        <a:t>?</a:t>
                      </a:r>
                      <a:endParaRPr/>
                    </a:p>
                  </a:txBody>
                  <a:tcPr marT="91425" marB="91425" marR="91425" marL="91425"/>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5" name="Shape 75"/>
        <p:cNvGrpSpPr/>
        <p:nvPr/>
      </p:nvGrpSpPr>
      <p:grpSpPr>
        <a:xfrm>
          <a:off x="0" y="0"/>
          <a:ext cx="0" cy="0"/>
          <a:chOff x="0" y="0"/>
          <a:chExt cx="0" cy="0"/>
        </a:xfrm>
      </p:grpSpPr>
      <p:sp>
        <p:nvSpPr>
          <p:cNvPr id="76" name="Google Shape;76;g39f43ad522c_3_12"/>
          <p:cNvSpPr txBox="1"/>
          <p:nvPr/>
        </p:nvSpPr>
        <p:spPr>
          <a:xfrm>
            <a:off x="168450" y="314479"/>
            <a:ext cx="8877000" cy="785100"/>
          </a:xfrm>
          <a:prstGeom prst="rect">
            <a:avLst/>
          </a:prstGeom>
          <a:noFill/>
          <a:ln>
            <a:noFill/>
          </a:ln>
        </p:spPr>
        <p:txBody>
          <a:bodyPr anchorCtr="0" anchor="t" bIns="45700" lIns="91425" spcFirstLastPara="1" rIns="91425" wrap="square" tIns="45700">
            <a:spAutoFit/>
          </a:bodyPr>
          <a:lstStyle/>
          <a:p>
            <a:pPr indent="-514350" lvl="0" marL="914400" marR="0" rtl="0" algn="l">
              <a:lnSpc>
                <a:spcPct val="100000"/>
              </a:lnSpc>
              <a:spcBef>
                <a:spcPts val="0"/>
              </a:spcBef>
              <a:spcAft>
                <a:spcPts val="0"/>
              </a:spcAft>
              <a:buClr>
                <a:srgbClr val="1B786F"/>
              </a:buClr>
              <a:buSzPts val="4500"/>
              <a:buFont typeface="EB Garamond"/>
              <a:buChar char="❏"/>
            </a:pPr>
            <a:r>
              <a:rPr b="1" i="0" lang="en-US" sz="4500" u="sng" cap="none" strike="noStrike">
                <a:solidFill>
                  <a:srgbClr val="1B786F"/>
                </a:solidFill>
                <a:latin typeface="EB Garamond"/>
                <a:ea typeface="EB Garamond"/>
                <a:cs typeface="EB Garamond"/>
                <a:sym typeface="EB Garamond"/>
              </a:rPr>
              <a:t>Image Preprocessing Steps</a:t>
            </a:r>
            <a:r>
              <a:rPr b="1" i="0" lang="en-US" sz="4500" u="none" cap="none" strike="noStrike">
                <a:solidFill>
                  <a:srgbClr val="1B786F"/>
                </a:solidFill>
                <a:latin typeface="EB Garamond"/>
                <a:ea typeface="EB Garamond"/>
                <a:cs typeface="EB Garamond"/>
                <a:sym typeface="EB Garamond"/>
              </a:rPr>
              <a:t> :- </a:t>
            </a:r>
            <a:endParaRPr b="1" i="0" sz="4500" u="none" cap="none" strike="noStrike">
              <a:solidFill>
                <a:srgbClr val="1B786F"/>
              </a:solidFill>
              <a:latin typeface="EB Garamond"/>
              <a:ea typeface="EB Garamond"/>
              <a:cs typeface="EB Garamond"/>
              <a:sym typeface="EB Garamond"/>
            </a:endParaRPr>
          </a:p>
        </p:txBody>
      </p:sp>
      <p:pic>
        <p:nvPicPr>
          <p:cNvPr id="77" name="Google Shape;77;g39f43ad522c_3_12" title="download.jpeg"/>
          <p:cNvPicPr preferRelativeResize="0"/>
          <p:nvPr/>
        </p:nvPicPr>
        <p:blipFill rotWithShape="1">
          <a:blip r:embed="rId3">
            <a:alphaModFix/>
          </a:blip>
          <a:srcRect b="16791" l="14315" r="14358" t="6497"/>
          <a:stretch/>
        </p:blipFill>
        <p:spPr>
          <a:xfrm>
            <a:off x="11290059" y="109862"/>
            <a:ext cx="840225" cy="903625"/>
          </a:xfrm>
          <a:prstGeom prst="rect">
            <a:avLst/>
          </a:prstGeom>
          <a:noFill/>
          <a:ln>
            <a:noFill/>
          </a:ln>
        </p:spPr>
      </p:pic>
      <p:sp>
        <p:nvSpPr>
          <p:cNvPr id="78" name="Google Shape;78;g39f43ad522c_3_12"/>
          <p:cNvSpPr/>
          <p:nvPr/>
        </p:nvSpPr>
        <p:spPr>
          <a:xfrm>
            <a:off x="0" y="25"/>
            <a:ext cx="360300" cy="6858000"/>
          </a:xfrm>
          <a:prstGeom prst="rect">
            <a:avLst/>
          </a:prstGeom>
          <a:solidFill>
            <a:srgbClr val="1B786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B786F"/>
              </a:solidFill>
              <a:latin typeface="Calibri"/>
              <a:ea typeface="Calibri"/>
              <a:cs typeface="Calibri"/>
              <a:sym typeface="Calibri"/>
            </a:endParaRPr>
          </a:p>
        </p:txBody>
      </p:sp>
      <p:sp>
        <p:nvSpPr>
          <p:cNvPr id="79" name="Google Shape;79;g39f43ad522c_3_12"/>
          <p:cNvSpPr txBox="1"/>
          <p:nvPr/>
        </p:nvSpPr>
        <p:spPr>
          <a:xfrm>
            <a:off x="568500" y="1224625"/>
            <a:ext cx="11055000" cy="5139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US" sz="2000">
                <a:solidFill>
                  <a:schemeClr val="dk1"/>
                </a:solidFill>
              </a:rPr>
              <a:t>Data Cleaning</a:t>
            </a:r>
            <a:endParaRPr b="1" sz="2000">
              <a:solidFill>
                <a:schemeClr val="dk1"/>
              </a:solidFill>
            </a:endParaRPr>
          </a:p>
          <a:p>
            <a:pPr indent="-342900" lvl="0" marL="457200" rtl="0" algn="l">
              <a:lnSpc>
                <a:spcPct val="115000"/>
              </a:lnSpc>
              <a:spcBef>
                <a:spcPts val="1200"/>
              </a:spcBef>
              <a:spcAft>
                <a:spcPts val="0"/>
              </a:spcAft>
              <a:buClr>
                <a:schemeClr val="dk1"/>
              </a:buClr>
              <a:buSzPts val="1800"/>
              <a:buChar char="●"/>
            </a:pPr>
            <a:r>
              <a:rPr lang="en-US" sz="1800">
                <a:solidFill>
                  <a:schemeClr val="dk1"/>
                </a:solidFill>
              </a:rPr>
              <a:t>Removed corrupted images using the </a:t>
            </a:r>
            <a:r>
              <a:rPr b="1" lang="en-US" sz="1800">
                <a:solidFill>
                  <a:schemeClr val="dk1"/>
                </a:solidFill>
              </a:rPr>
              <a:t>PIL</a:t>
            </a:r>
            <a:r>
              <a:rPr lang="en-US" sz="1800">
                <a:solidFill>
                  <a:schemeClr val="dk1"/>
                </a:solidFill>
              </a:rPr>
              <a:t> library and eliminated duplicate images via </a:t>
            </a:r>
            <a:r>
              <a:rPr b="1" lang="en-US" sz="1800">
                <a:solidFill>
                  <a:schemeClr val="dk1"/>
                </a:solidFill>
              </a:rPr>
              <a:t>MD5 hash-based comparison</a:t>
            </a:r>
            <a:endParaRPr b="1" sz="18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2000">
                <a:solidFill>
                  <a:schemeClr val="dk1"/>
                </a:solidFill>
              </a:rPr>
              <a:t>Image Organization</a:t>
            </a:r>
            <a:endParaRPr b="1" sz="2000">
              <a:solidFill>
                <a:schemeClr val="dk1"/>
              </a:solidFill>
            </a:endParaRPr>
          </a:p>
          <a:p>
            <a:pPr indent="-342900" lvl="0" marL="457200" rtl="0" algn="l">
              <a:lnSpc>
                <a:spcPct val="115000"/>
              </a:lnSpc>
              <a:spcBef>
                <a:spcPts val="1200"/>
              </a:spcBef>
              <a:spcAft>
                <a:spcPts val="0"/>
              </a:spcAft>
              <a:buClr>
                <a:schemeClr val="dk1"/>
              </a:buClr>
              <a:buSzPts val="1800"/>
              <a:buChar char="●"/>
            </a:pPr>
            <a:r>
              <a:rPr lang="en-US" sz="1800">
                <a:solidFill>
                  <a:schemeClr val="dk1"/>
                </a:solidFill>
              </a:rPr>
              <a:t>Structured images into separate </a:t>
            </a:r>
            <a:r>
              <a:rPr b="1" lang="en-US" sz="1800">
                <a:solidFill>
                  <a:schemeClr val="dk1"/>
                </a:solidFill>
              </a:rPr>
              <a:t>Real</a:t>
            </a:r>
            <a:r>
              <a:rPr lang="en-US" sz="1800">
                <a:solidFill>
                  <a:schemeClr val="dk1"/>
                </a:solidFill>
              </a:rPr>
              <a:t> and </a:t>
            </a:r>
            <a:r>
              <a:rPr b="1" lang="en-US" sz="1800">
                <a:solidFill>
                  <a:schemeClr val="dk1"/>
                </a:solidFill>
              </a:rPr>
              <a:t>Fake</a:t>
            </a:r>
            <a:r>
              <a:rPr lang="en-US" sz="1800">
                <a:solidFill>
                  <a:schemeClr val="dk1"/>
                </a:solidFill>
              </a:rPr>
              <a:t> directories</a:t>
            </a:r>
            <a:endParaRPr sz="18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2000">
                <a:solidFill>
                  <a:schemeClr val="dk1"/>
                </a:solidFill>
              </a:rPr>
              <a:t>Image Augmentation &amp; Normalization</a:t>
            </a:r>
            <a:endParaRPr b="1" sz="2000">
              <a:solidFill>
                <a:schemeClr val="dk1"/>
              </a:solidFill>
            </a:endParaRPr>
          </a:p>
          <a:p>
            <a:pPr indent="-336550" lvl="0" marL="457200" rtl="0" algn="l">
              <a:lnSpc>
                <a:spcPct val="115000"/>
              </a:lnSpc>
              <a:spcBef>
                <a:spcPts val="1200"/>
              </a:spcBef>
              <a:spcAft>
                <a:spcPts val="0"/>
              </a:spcAft>
              <a:buClr>
                <a:schemeClr val="dk1"/>
              </a:buClr>
              <a:buSzPts val="1700"/>
              <a:buChar char="●"/>
            </a:pPr>
            <a:r>
              <a:rPr lang="en-US" sz="1700">
                <a:solidFill>
                  <a:schemeClr val="dk1"/>
                </a:solidFill>
              </a:rPr>
              <a:t>Resized images to </a:t>
            </a:r>
            <a:r>
              <a:rPr b="1" lang="en-US" sz="1700">
                <a:solidFill>
                  <a:schemeClr val="dk1"/>
                </a:solidFill>
              </a:rPr>
              <a:t>224 × 224</a:t>
            </a:r>
            <a:endParaRPr b="1"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US" sz="1700">
                <a:solidFill>
                  <a:schemeClr val="dk1"/>
                </a:solidFill>
              </a:rPr>
              <a:t>Applied random flips and rotations</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US" sz="1700">
                <a:solidFill>
                  <a:schemeClr val="dk1"/>
                </a:solidFill>
              </a:rPr>
              <a:t>Adjusted brightness and contrast using </a:t>
            </a:r>
            <a:r>
              <a:rPr b="1" lang="en-US" sz="1700">
                <a:solidFill>
                  <a:schemeClr val="dk1"/>
                </a:solidFill>
              </a:rPr>
              <a:t>ColorJitter</a:t>
            </a:r>
            <a:endParaRPr b="1"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US" sz="1700">
                <a:solidFill>
                  <a:schemeClr val="dk1"/>
                </a:solidFill>
              </a:rPr>
              <a:t>Converted to tensors and normalized (</a:t>
            </a:r>
            <a:r>
              <a:rPr b="1" lang="en-US" sz="1700">
                <a:solidFill>
                  <a:schemeClr val="dk1"/>
                </a:solidFill>
              </a:rPr>
              <a:t>mean = 0.5, std = 0.5</a:t>
            </a:r>
            <a:r>
              <a:rPr lang="en-US" sz="1700">
                <a:solidFill>
                  <a:schemeClr val="dk1"/>
                </a:solidFill>
              </a:rPr>
              <a:t>)</a:t>
            </a:r>
            <a:endParaRPr sz="17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2000">
                <a:solidFill>
                  <a:schemeClr val="dk1"/>
                </a:solidFill>
              </a:rPr>
              <a:t>Final Dataset Creation</a:t>
            </a:r>
            <a:endParaRPr b="1" sz="2000">
              <a:solidFill>
                <a:schemeClr val="dk1"/>
              </a:solidFill>
            </a:endParaRPr>
          </a:p>
          <a:p>
            <a:pPr indent="-336550" lvl="0" marL="457200" rtl="0" algn="l">
              <a:lnSpc>
                <a:spcPct val="115000"/>
              </a:lnSpc>
              <a:spcBef>
                <a:spcPts val="1200"/>
              </a:spcBef>
              <a:spcAft>
                <a:spcPts val="0"/>
              </a:spcAft>
              <a:buClr>
                <a:schemeClr val="dk1"/>
              </a:buClr>
              <a:buSzPts val="1700"/>
              <a:buChar char="●"/>
            </a:pPr>
            <a:r>
              <a:rPr lang="en-US" sz="1700">
                <a:solidFill>
                  <a:schemeClr val="dk1"/>
                </a:solidFill>
              </a:rPr>
              <a:t>Consolidated all processed images into a single dataset and Exported the dataset as a </a:t>
            </a:r>
            <a:r>
              <a:rPr b="1" lang="en-US" sz="1700">
                <a:solidFill>
                  <a:schemeClr val="dk1"/>
                </a:solidFill>
              </a:rPr>
              <a:t>compressed ZIP file</a:t>
            </a:r>
            <a:endParaRPr b="1" sz="1700">
              <a:solidFill>
                <a:schemeClr val="dk1"/>
              </a:solidFill>
            </a:endParaRPr>
          </a:p>
          <a:p>
            <a:pPr indent="0" lvl="0" marL="457200" marR="0" rtl="0" algn="l">
              <a:lnSpc>
                <a:spcPct val="115000"/>
              </a:lnSpc>
              <a:spcBef>
                <a:spcPts val="1200"/>
              </a:spcBef>
              <a:spcAft>
                <a:spcPts val="0"/>
              </a:spcAft>
              <a:buClr>
                <a:srgbClr val="000000"/>
              </a:buClr>
              <a:buSzPts val="1700"/>
              <a:buFont typeface="Arial"/>
              <a:buNone/>
            </a:pPr>
            <a:r>
              <a:t/>
            </a:r>
            <a:endParaRPr b="1" sz="1100">
              <a:solidFill>
                <a:schemeClr val="dk1"/>
              </a:solidFill>
            </a:endParaRPr>
          </a:p>
        </p:txBody>
      </p:sp>
      <p:sp>
        <p:nvSpPr>
          <p:cNvPr id="80" name="Google Shape;80;g39f43ad522c_3_12"/>
          <p:cNvSpPr txBox="1"/>
          <p:nvPr/>
        </p:nvSpPr>
        <p:spPr>
          <a:xfrm>
            <a:off x="7938000" y="2897675"/>
            <a:ext cx="2806200" cy="595200"/>
          </a:xfrm>
          <a:prstGeom prst="rect">
            <a:avLst/>
          </a:prstGeom>
          <a:solidFill>
            <a:schemeClr val="lt1"/>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rPr b="1" i="0" lang="en-US" sz="3100" u="none" cap="none" strike="noStrike">
                <a:solidFill>
                  <a:schemeClr val="dk1"/>
                </a:solidFill>
                <a:latin typeface="Calibri"/>
                <a:ea typeface="Calibri"/>
                <a:cs typeface="Calibri"/>
                <a:sym typeface="Calibri"/>
              </a:rPr>
              <a:t>Workflow</a:t>
            </a:r>
            <a:endParaRPr b="1" i="0" sz="3100" u="none" cap="none" strike="noStrike">
              <a:solidFill>
                <a:schemeClr val="dk1"/>
              </a:solidFill>
              <a:latin typeface="Calibri"/>
              <a:ea typeface="Calibri"/>
              <a:cs typeface="Calibri"/>
              <a:sym typeface="Calibri"/>
            </a:endParaRPr>
          </a:p>
        </p:txBody>
      </p:sp>
      <p:pic>
        <p:nvPicPr>
          <p:cNvPr id="81" name="Google Shape;81;g39f43ad522c_3_12"/>
          <p:cNvPicPr preferRelativeResize="0"/>
          <p:nvPr/>
        </p:nvPicPr>
        <p:blipFill rotWithShape="1">
          <a:blip r:embed="rId4">
            <a:alphaModFix/>
          </a:blip>
          <a:srcRect b="0" l="0" r="0" t="0"/>
          <a:stretch/>
        </p:blipFill>
        <p:spPr>
          <a:xfrm>
            <a:off x="7729000" y="3911538"/>
            <a:ext cx="3561050" cy="13209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g3809cb993a8_0_0"/>
          <p:cNvSpPr txBox="1"/>
          <p:nvPr>
            <p:ph type="title"/>
          </p:nvPr>
        </p:nvSpPr>
        <p:spPr>
          <a:xfrm>
            <a:off x="454525" y="313687"/>
            <a:ext cx="4900500" cy="692700"/>
          </a:xfrm>
          <a:prstGeom prst="rect">
            <a:avLst/>
          </a:prstGeom>
          <a:noFill/>
          <a:ln>
            <a:noFill/>
          </a:ln>
        </p:spPr>
        <p:txBody>
          <a:bodyPr anchorCtr="0" anchor="t" bIns="0" lIns="0" spcFirstLastPara="1" rIns="0" wrap="square" tIns="0">
            <a:spAutoFit/>
          </a:bodyPr>
          <a:lstStyle/>
          <a:p>
            <a:pPr indent="-514350" lvl="0" marL="914400" rtl="0" algn="l">
              <a:lnSpc>
                <a:spcPct val="100000"/>
              </a:lnSpc>
              <a:spcBef>
                <a:spcPts val="0"/>
              </a:spcBef>
              <a:spcAft>
                <a:spcPts val="0"/>
              </a:spcAft>
              <a:buClr>
                <a:srgbClr val="1B786F"/>
              </a:buClr>
              <a:buSzPts val="4500"/>
              <a:buFont typeface="EB Garamond"/>
              <a:buChar char="❏"/>
            </a:pPr>
            <a:r>
              <a:rPr b="1" lang="en-US" sz="4500" u="sng">
                <a:solidFill>
                  <a:srgbClr val="1B786F"/>
                </a:solidFill>
                <a:latin typeface="EB Garamond"/>
                <a:ea typeface="EB Garamond"/>
                <a:cs typeface="EB Garamond"/>
                <a:sym typeface="EB Garamond"/>
              </a:rPr>
              <a:t>Methodology</a:t>
            </a:r>
            <a:r>
              <a:rPr b="1" lang="en-US" sz="4500">
                <a:solidFill>
                  <a:srgbClr val="1B786F"/>
                </a:solidFill>
                <a:latin typeface="EB Garamond"/>
                <a:ea typeface="EB Garamond"/>
                <a:cs typeface="EB Garamond"/>
                <a:sym typeface="EB Garamond"/>
              </a:rPr>
              <a:t> :-</a:t>
            </a:r>
            <a:endParaRPr>
              <a:solidFill>
                <a:srgbClr val="1B786F"/>
              </a:solidFill>
            </a:endParaRPr>
          </a:p>
        </p:txBody>
      </p:sp>
      <p:pic>
        <p:nvPicPr>
          <p:cNvPr id="88" name="Google Shape;88;g3809cb993a8_0_0" title="download.jpeg"/>
          <p:cNvPicPr preferRelativeResize="0"/>
          <p:nvPr/>
        </p:nvPicPr>
        <p:blipFill rotWithShape="1">
          <a:blip r:embed="rId3">
            <a:alphaModFix/>
          </a:blip>
          <a:srcRect b="16791" l="14315" r="14358" t="6497"/>
          <a:stretch/>
        </p:blipFill>
        <p:spPr>
          <a:xfrm>
            <a:off x="11290059" y="109862"/>
            <a:ext cx="840225" cy="903625"/>
          </a:xfrm>
          <a:prstGeom prst="rect">
            <a:avLst/>
          </a:prstGeom>
          <a:noFill/>
          <a:ln>
            <a:noFill/>
          </a:ln>
        </p:spPr>
      </p:pic>
      <p:sp>
        <p:nvSpPr>
          <p:cNvPr id="89" name="Google Shape;89;g3809cb993a8_0_0"/>
          <p:cNvSpPr/>
          <p:nvPr/>
        </p:nvSpPr>
        <p:spPr>
          <a:xfrm>
            <a:off x="0" y="25"/>
            <a:ext cx="360300" cy="6858000"/>
          </a:xfrm>
          <a:prstGeom prst="rect">
            <a:avLst/>
          </a:prstGeom>
          <a:solidFill>
            <a:srgbClr val="1B786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B786F"/>
              </a:solidFill>
              <a:latin typeface="Calibri"/>
              <a:ea typeface="Calibri"/>
              <a:cs typeface="Calibri"/>
              <a:sym typeface="Calibri"/>
            </a:endParaRPr>
          </a:p>
        </p:txBody>
      </p:sp>
      <p:sp>
        <p:nvSpPr>
          <p:cNvPr id="90" name="Google Shape;90;g3809cb993a8_0_0"/>
          <p:cNvSpPr txBox="1"/>
          <p:nvPr/>
        </p:nvSpPr>
        <p:spPr>
          <a:xfrm>
            <a:off x="778650" y="1130775"/>
            <a:ext cx="10428600" cy="5233500"/>
          </a:xfrm>
          <a:prstGeom prst="rect">
            <a:avLst/>
          </a:prstGeom>
          <a:noFill/>
          <a:ln>
            <a:noFill/>
          </a:ln>
        </p:spPr>
        <p:txBody>
          <a:bodyPr anchorCtr="0" anchor="t" bIns="91425" lIns="91425" spcFirstLastPara="1" rIns="91425" wrap="square" tIns="91425">
            <a:spAutoFit/>
          </a:bodyPr>
          <a:lstStyle/>
          <a:p>
            <a:pPr indent="-361950" lvl="0" marL="457200" marR="0" rtl="0" algn="l">
              <a:lnSpc>
                <a:spcPct val="100000"/>
              </a:lnSpc>
              <a:spcBef>
                <a:spcPts val="1200"/>
              </a:spcBef>
              <a:spcAft>
                <a:spcPts val="0"/>
              </a:spcAft>
              <a:buClr>
                <a:schemeClr val="dk1"/>
              </a:buClr>
              <a:buSzPts val="2100"/>
              <a:buFont typeface="Arial"/>
              <a:buChar char="●"/>
            </a:pPr>
            <a:r>
              <a:rPr b="1" i="0" lang="en-US" sz="2100" u="none" cap="none" strike="noStrike">
                <a:solidFill>
                  <a:schemeClr val="dk1"/>
                </a:solidFill>
                <a:latin typeface="Arial"/>
                <a:ea typeface="Arial"/>
                <a:cs typeface="Arial"/>
                <a:sym typeface="Arial"/>
              </a:rPr>
              <a:t>Data Collection &amp; Cleaning</a:t>
            </a:r>
            <a:br>
              <a:rPr b="1" i="0" lang="en-US" sz="2100" u="none" cap="none" strike="noStrike">
                <a:solidFill>
                  <a:schemeClr val="dk1"/>
                </a:solidFill>
                <a:latin typeface="Arial"/>
                <a:ea typeface="Arial"/>
                <a:cs typeface="Arial"/>
                <a:sym typeface="Arial"/>
              </a:rPr>
            </a:br>
            <a:r>
              <a:rPr b="1" i="0" lang="en-US" sz="2100" u="none" cap="none" strike="noStrike">
                <a:solidFill>
                  <a:schemeClr val="dk1"/>
                </a:solidFill>
                <a:latin typeface="Arial"/>
                <a:ea typeface="Arial"/>
                <a:cs typeface="Arial"/>
                <a:sym typeface="Arial"/>
              </a:rPr>
              <a:t>  </a:t>
            </a:r>
            <a:r>
              <a:rPr b="0" i="0" lang="en-US" sz="2100" u="none" cap="none" strike="noStrike">
                <a:solidFill>
                  <a:schemeClr val="dk1"/>
                </a:solidFill>
                <a:latin typeface="Arial"/>
                <a:ea typeface="Arial"/>
                <a:cs typeface="Arial"/>
                <a:sym typeface="Arial"/>
              </a:rPr>
              <a:t> Imported real and fake face images and preprocessed them for uniformity.</a:t>
            </a:r>
            <a:endParaRPr b="0" i="0" sz="2100" u="none" cap="none" strike="noStrike">
              <a:solidFill>
                <a:schemeClr val="dk1"/>
              </a:solidFill>
              <a:latin typeface="Arial"/>
              <a:ea typeface="Arial"/>
              <a:cs typeface="Arial"/>
              <a:sym typeface="Arial"/>
            </a:endParaRPr>
          </a:p>
          <a:p>
            <a:pPr indent="-361950" lvl="0" marL="457200" marR="0" rtl="0" algn="l">
              <a:lnSpc>
                <a:spcPct val="100000"/>
              </a:lnSpc>
              <a:spcBef>
                <a:spcPts val="1000"/>
              </a:spcBef>
              <a:spcAft>
                <a:spcPts val="0"/>
              </a:spcAft>
              <a:buClr>
                <a:schemeClr val="dk1"/>
              </a:buClr>
              <a:buSzPts val="2100"/>
              <a:buFont typeface="Arial"/>
              <a:buChar char="●"/>
            </a:pPr>
            <a:r>
              <a:rPr b="1" i="0" lang="en-US" sz="2100" u="none" cap="none" strike="noStrike">
                <a:solidFill>
                  <a:schemeClr val="dk1"/>
                </a:solidFill>
                <a:latin typeface="Arial"/>
                <a:ea typeface="Arial"/>
                <a:cs typeface="Arial"/>
                <a:sym typeface="Arial"/>
              </a:rPr>
              <a:t>Feature Extraction</a:t>
            </a:r>
            <a:br>
              <a:rPr b="1" i="0" lang="en-US" sz="2100" u="none" cap="none" strike="noStrike">
                <a:solidFill>
                  <a:schemeClr val="dk1"/>
                </a:solidFill>
                <a:latin typeface="Arial"/>
                <a:ea typeface="Arial"/>
                <a:cs typeface="Arial"/>
                <a:sym typeface="Arial"/>
              </a:rPr>
            </a:br>
            <a:r>
              <a:rPr b="0" i="0" lang="en-US" sz="2100" u="none" cap="none" strike="noStrike">
                <a:solidFill>
                  <a:schemeClr val="dk1"/>
                </a:solidFill>
                <a:latin typeface="Arial"/>
                <a:ea typeface="Arial"/>
                <a:cs typeface="Arial"/>
                <a:sym typeface="Arial"/>
              </a:rPr>
              <a:t>   Generated image embeddings using </a:t>
            </a:r>
            <a:r>
              <a:rPr b="1" i="0" lang="en-US" sz="2100" u="none" cap="none" strike="noStrike">
                <a:solidFill>
                  <a:schemeClr val="dk1"/>
                </a:solidFill>
                <a:latin typeface="Arial"/>
                <a:ea typeface="Arial"/>
                <a:cs typeface="Arial"/>
                <a:sym typeface="Arial"/>
              </a:rPr>
              <a:t>ResNet50</a:t>
            </a:r>
            <a:r>
              <a:rPr b="0" i="0" lang="en-US" sz="2100" u="none" cap="none" strike="noStrike">
                <a:solidFill>
                  <a:schemeClr val="dk1"/>
                </a:solidFill>
                <a:latin typeface="Arial"/>
                <a:ea typeface="Arial"/>
                <a:cs typeface="Arial"/>
                <a:sym typeface="Arial"/>
              </a:rPr>
              <a:t> and </a:t>
            </a:r>
            <a:r>
              <a:rPr b="1" i="0" lang="en-US" sz="2100" u="none" cap="none" strike="noStrike">
                <a:solidFill>
                  <a:schemeClr val="dk1"/>
                </a:solidFill>
                <a:latin typeface="Arial"/>
                <a:ea typeface="Arial"/>
                <a:cs typeface="Arial"/>
                <a:sym typeface="Arial"/>
              </a:rPr>
              <a:t>ViT</a:t>
            </a:r>
            <a:r>
              <a:rPr b="0" i="0" lang="en-US" sz="2100" u="none" cap="none" strike="noStrike">
                <a:solidFill>
                  <a:schemeClr val="dk1"/>
                </a:solidFill>
                <a:latin typeface="Arial"/>
                <a:ea typeface="Arial"/>
                <a:cs typeface="Arial"/>
                <a:sym typeface="Arial"/>
              </a:rPr>
              <a:t> pretrained models.</a:t>
            </a:r>
            <a:endParaRPr b="0" i="0" sz="2100" u="none" cap="none" strike="noStrike">
              <a:solidFill>
                <a:schemeClr val="dk1"/>
              </a:solidFill>
              <a:latin typeface="Arial"/>
              <a:ea typeface="Arial"/>
              <a:cs typeface="Arial"/>
              <a:sym typeface="Arial"/>
            </a:endParaRPr>
          </a:p>
          <a:p>
            <a:pPr indent="-361950" lvl="0" marL="457200" marR="0" rtl="0" algn="l">
              <a:lnSpc>
                <a:spcPct val="100000"/>
              </a:lnSpc>
              <a:spcBef>
                <a:spcPts val="1000"/>
              </a:spcBef>
              <a:spcAft>
                <a:spcPts val="0"/>
              </a:spcAft>
              <a:buClr>
                <a:schemeClr val="dk1"/>
              </a:buClr>
              <a:buSzPts val="2100"/>
              <a:buFont typeface="Arial"/>
              <a:buChar char="●"/>
            </a:pPr>
            <a:r>
              <a:rPr b="1" i="0" lang="en-US" sz="2100" u="none" cap="none" strike="noStrike">
                <a:solidFill>
                  <a:schemeClr val="dk1"/>
                </a:solidFill>
                <a:latin typeface="Arial"/>
                <a:ea typeface="Arial"/>
                <a:cs typeface="Arial"/>
                <a:sym typeface="Arial"/>
              </a:rPr>
              <a:t>Model Training</a:t>
            </a:r>
            <a:br>
              <a:rPr b="1" i="0" lang="en-US" sz="2100" u="none" cap="none" strike="noStrike">
                <a:solidFill>
                  <a:schemeClr val="dk1"/>
                </a:solidFill>
                <a:latin typeface="Arial"/>
                <a:ea typeface="Arial"/>
                <a:cs typeface="Arial"/>
                <a:sym typeface="Arial"/>
              </a:rPr>
            </a:br>
            <a:r>
              <a:rPr b="1" i="0" lang="en-US" sz="2100" u="none" cap="none" strike="noStrike">
                <a:solidFill>
                  <a:schemeClr val="dk1"/>
                </a:solidFill>
                <a:latin typeface="Arial"/>
                <a:ea typeface="Arial"/>
                <a:cs typeface="Arial"/>
                <a:sym typeface="Arial"/>
              </a:rPr>
              <a:t>  </a:t>
            </a:r>
            <a:r>
              <a:rPr b="0" i="0" lang="en-US" sz="2100" u="none" cap="none" strike="noStrike">
                <a:solidFill>
                  <a:schemeClr val="dk1"/>
                </a:solidFill>
                <a:latin typeface="Arial"/>
                <a:ea typeface="Arial"/>
                <a:cs typeface="Arial"/>
                <a:sym typeface="Arial"/>
              </a:rPr>
              <a:t> Fed embeddings into an </a:t>
            </a:r>
            <a:r>
              <a:rPr b="1" i="0" lang="en-US" sz="2100" u="none" cap="none" strike="noStrike">
                <a:solidFill>
                  <a:schemeClr val="dk1"/>
                </a:solidFill>
                <a:latin typeface="Arial"/>
                <a:ea typeface="Arial"/>
                <a:cs typeface="Arial"/>
                <a:sym typeface="Arial"/>
              </a:rPr>
              <a:t>Artificial Neural Network (ANN)</a:t>
            </a:r>
            <a:r>
              <a:rPr b="0" i="0" lang="en-US" sz="2100" u="none" cap="none" strike="noStrike">
                <a:solidFill>
                  <a:schemeClr val="dk1"/>
                </a:solidFill>
                <a:latin typeface="Arial"/>
                <a:ea typeface="Arial"/>
                <a:cs typeface="Arial"/>
                <a:sym typeface="Arial"/>
              </a:rPr>
              <a:t> for binary    classification.</a:t>
            </a:r>
            <a:endParaRPr b="0" i="0" sz="2100" u="none" cap="none" strike="noStrike">
              <a:solidFill>
                <a:schemeClr val="dk1"/>
              </a:solidFill>
              <a:latin typeface="Arial"/>
              <a:ea typeface="Arial"/>
              <a:cs typeface="Arial"/>
              <a:sym typeface="Arial"/>
            </a:endParaRPr>
          </a:p>
          <a:p>
            <a:pPr indent="-361950" lvl="0" marL="457200" marR="0" rtl="0" algn="l">
              <a:lnSpc>
                <a:spcPct val="100000"/>
              </a:lnSpc>
              <a:spcBef>
                <a:spcPts val="1000"/>
              </a:spcBef>
              <a:spcAft>
                <a:spcPts val="0"/>
              </a:spcAft>
              <a:buClr>
                <a:schemeClr val="dk1"/>
              </a:buClr>
              <a:buSzPts val="2100"/>
              <a:buFont typeface="Arial"/>
              <a:buChar char="●"/>
            </a:pPr>
            <a:r>
              <a:rPr b="1" i="0" lang="en-US" sz="2100" u="none" cap="none" strike="noStrike">
                <a:solidFill>
                  <a:schemeClr val="dk1"/>
                </a:solidFill>
                <a:latin typeface="Arial"/>
                <a:ea typeface="Arial"/>
                <a:cs typeface="Arial"/>
                <a:sym typeface="Arial"/>
              </a:rPr>
              <a:t>Evaluation</a:t>
            </a:r>
            <a:br>
              <a:rPr b="1" i="0" lang="en-US" sz="2100" u="none" cap="none" strike="noStrike">
                <a:solidFill>
                  <a:schemeClr val="dk1"/>
                </a:solidFill>
                <a:latin typeface="Arial"/>
                <a:ea typeface="Arial"/>
                <a:cs typeface="Arial"/>
                <a:sym typeface="Arial"/>
              </a:rPr>
            </a:br>
            <a:r>
              <a:rPr b="1" i="0" lang="en-US" sz="2100" u="none" cap="none" strike="noStrike">
                <a:solidFill>
                  <a:schemeClr val="dk1"/>
                </a:solidFill>
                <a:latin typeface="Arial"/>
                <a:ea typeface="Arial"/>
                <a:cs typeface="Arial"/>
                <a:sym typeface="Arial"/>
              </a:rPr>
              <a:t>  </a:t>
            </a:r>
            <a:r>
              <a:rPr b="0" i="0" lang="en-US" sz="2100" u="none" cap="none" strike="noStrike">
                <a:solidFill>
                  <a:schemeClr val="dk1"/>
                </a:solidFill>
                <a:latin typeface="Arial"/>
                <a:ea typeface="Arial"/>
                <a:cs typeface="Arial"/>
                <a:sym typeface="Arial"/>
              </a:rPr>
              <a:t> Compared model accuracy, loss, and performance on test data.</a:t>
            </a:r>
            <a:endParaRPr b="0" i="0" sz="2100" u="none" cap="none" strike="noStrike">
              <a:solidFill>
                <a:schemeClr val="dk1"/>
              </a:solidFill>
              <a:latin typeface="Arial"/>
              <a:ea typeface="Arial"/>
              <a:cs typeface="Arial"/>
              <a:sym typeface="Arial"/>
            </a:endParaRPr>
          </a:p>
          <a:p>
            <a:pPr indent="-361950" lvl="0" marL="457200" marR="0" rtl="0" algn="l">
              <a:lnSpc>
                <a:spcPct val="100000"/>
              </a:lnSpc>
              <a:spcBef>
                <a:spcPts val="1200"/>
              </a:spcBef>
              <a:spcAft>
                <a:spcPts val="0"/>
              </a:spcAft>
              <a:buClr>
                <a:schemeClr val="dk1"/>
              </a:buClr>
              <a:buSzPts val="2100"/>
              <a:buFont typeface="Arial"/>
              <a:buChar char="●"/>
            </a:pPr>
            <a:r>
              <a:rPr b="1" i="0" lang="en-US" sz="2100" u="none" cap="none" strike="noStrike">
                <a:solidFill>
                  <a:schemeClr val="dk1"/>
                </a:solidFill>
                <a:latin typeface="Arial"/>
                <a:ea typeface="Arial"/>
                <a:cs typeface="Arial"/>
                <a:sym typeface="Arial"/>
              </a:rPr>
              <a:t>Visualization &amp; Analysis</a:t>
            </a:r>
            <a:br>
              <a:rPr b="1" i="0" lang="en-US" sz="2100" u="none" cap="none" strike="noStrike">
                <a:solidFill>
                  <a:schemeClr val="dk1"/>
                </a:solidFill>
                <a:latin typeface="Arial"/>
                <a:ea typeface="Arial"/>
                <a:cs typeface="Arial"/>
                <a:sym typeface="Arial"/>
              </a:rPr>
            </a:br>
            <a:r>
              <a:rPr b="1" i="0" lang="en-US" sz="2100" u="none" cap="none" strike="noStrike">
                <a:solidFill>
                  <a:schemeClr val="dk1"/>
                </a:solidFill>
                <a:latin typeface="Arial"/>
                <a:ea typeface="Arial"/>
                <a:cs typeface="Arial"/>
                <a:sym typeface="Arial"/>
              </a:rPr>
              <a:t>  </a:t>
            </a:r>
            <a:r>
              <a:rPr b="0" i="0" lang="en-US" sz="2100" u="none" cap="none" strike="noStrike">
                <a:solidFill>
                  <a:schemeClr val="dk1"/>
                </a:solidFill>
                <a:latin typeface="Arial"/>
                <a:ea typeface="Arial"/>
                <a:cs typeface="Arial"/>
                <a:sym typeface="Arial"/>
              </a:rPr>
              <a:t> Analyzed confusion matrix and accuracy curves to understand model  behavior.</a:t>
            </a:r>
            <a:endParaRPr b="0" i="0" sz="2100" u="none" cap="none" strike="noStrike">
              <a:solidFill>
                <a:schemeClr val="dk1"/>
              </a:solidFill>
              <a:latin typeface="Arial"/>
              <a:ea typeface="Arial"/>
              <a:cs typeface="Arial"/>
              <a:sym typeface="Arial"/>
            </a:endParaRPr>
          </a:p>
          <a:p>
            <a:pPr indent="-361950" lvl="0" marL="457200" marR="0" rtl="0" algn="l">
              <a:lnSpc>
                <a:spcPct val="100000"/>
              </a:lnSpc>
              <a:spcBef>
                <a:spcPts val="1200"/>
              </a:spcBef>
              <a:spcAft>
                <a:spcPts val="0"/>
              </a:spcAft>
              <a:buClr>
                <a:schemeClr val="dk1"/>
              </a:buClr>
              <a:buSzPts val="2100"/>
              <a:buChar char="●"/>
            </a:pPr>
            <a:r>
              <a:rPr b="1" lang="en-US" sz="2100">
                <a:solidFill>
                  <a:schemeClr val="dk1"/>
                </a:solidFill>
              </a:rPr>
              <a:t>UI &amp; </a:t>
            </a:r>
            <a:r>
              <a:rPr b="1" lang="en-US" sz="2100">
                <a:solidFill>
                  <a:schemeClr val="dk1"/>
                </a:solidFill>
              </a:rPr>
              <a:t>Deployment</a:t>
            </a:r>
            <a:endParaRPr b="1" sz="2100">
              <a:solidFill>
                <a:schemeClr val="dk1"/>
              </a:solidFill>
            </a:endParaRPr>
          </a:p>
          <a:p>
            <a:pPr indent="0" lvl="0" marL="0" marR="0" rtl="0" algn="l">
              <a:lnSpc>
                <a:spcPct val="100000"/>
              </a:lnSpc>
              <a:spcBef>
                <a:spcPts val="1200"/>
              </a:spcBef>
              <a:spcAft>
                <a:spcPts val="1000"/>
              </a:spcAft>
              <a:buNone/>
            </a:pPr>
            <a:r>
              <a:rPr lang="en-US" sz="2100">
                <a:solidFill>
                  <a:schemeClr val="dk1"/>
                </a:solidFill>
              </a:rPr>
              <a:t>        Created a Gradio based UI &amp; deployed on Hugging Face </a:t>
            </a:r>
            <a:endParaRPr sz="21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g3b0c1419701_0_52"/>
          <p:cNvSpPr txBox="1"/>
          <p:nvPr>
            <p:ph type="title"/>
          </p:nvPr>
        </p:nvSpPr>
        <p:spPr>
          <a:xfrm>
            <a:off x="454525" y="313675"/>
            <a:ext cx="7524000" cy="692700"/>
          </a:xfrm>
          <a:prstGeom prst="rect">
            <a:avLst/>
          </a:prstGeom>
          <a:noFill/>
          <a:ln>
            <a:noFill/>
          </a:ln>
        </p:spPr>
        <p:txBody>
          <a:bodyPr anchorCtr="0" anchor="t" bIns="0" lIns="0" spcFirstLastPara="1" rIns="0" wrap="square" tIns="0">
            <a:spAutoFit/>
          </a:bodyPr>
          <a:lstStyle/>
          <a:p>
            <a:pPr indent="-514350" lvl="0" marL="914400" rtl="0" algn="l">
              <a:lnSpc>
                <a:spcPct val="100000"/>
              </a:lnSpc>
              <a:spcBef>
                <a:spcPts val="0"/>
              </a:spcBef>
              <a:spcAft>
                <a:spcPts val="0"/>
              </a:spcAft>
              <a:buClr>
                <a:srgbClr val="1B786F"/>
              </a:buClr>
              <a:buSzPts val="4500"/>
              <a:buFont typeface="EB Garamond"/>
              <a:buChar char="❏"/>
            </a:pPr>
            <a:r>
              <a:rPr b="1" lang="en-US" sz="4500" u="sng">
                <a:solidFill>
                  <a:srgbClr val="1B786F"/>
                </a:solidFill>
                <a:latin typeface="EB Garamond"/>
                <a:ea typeface="EB Garamond"/>
                <a:cs typeface="EB Garamond"/>
                <a:sym typeface="EB Garamond"/>
              </a:rPr>
              <a:t>Methodology Flowchart</a:t>
            </a:r>
            <a:r>
              <a:rPr b="1" lang="en-US" sz="4500">
                <a:solidFill>
                  <a:srgbClr val="1B786F"/>
                </a:solidFill>
                <a:latin typeface="EB Garamond"/>
                <a:ea typeface="EB Garamond"/>
                <a:cs typeface="EB Garamond"/>
                <a:sym typeface="EB Garamond"/>
              </a:rPr>
              <a:t> :-</a:t>
            </a:r>
            <a:endParaRPr>
              <a:solidFill>
                <a:srgbClr val="1B786F"/>
              </a:solidFill>
            </a:endParaRPr>
          </a:p>
        </p:txBody>
      </p:sp>
      <p:pic>
        <p:nvPicPr>
          <p:cNvPr id="97" name="Google Shape;97;g3b0c1419701_0_52" title="download.jpeg"/>
          <p:cNvPicPr preferRelativeResize="0"/>
          <p:nvPr/>
        </p:nvPicPr>
        <p:blipFill rotWithShape="1">
          <a:blip r:embed="rId3">
            <a:alphaModFix/>
          </a:blip>
          <a:srcRect b="16791" l="14315" r="14358" t="6497"/>
          <a:stretch/>
        </p:blipFill>
        <p:spPr>
          <a:xfrm>
            <a:off x="11290059" y="109862"/>
            <a:ext cx="840225" cy="903625"/>
          </a:xfrm>
          <a:prstGeom prst="rect">
            <a:avLst/>
          </a:prstGeom>
          <a:noFill/>
          <a:ln>
            <a:noFill/>
          </a:ln>
        </p:spPr>
      </p:pic>
      <p:sp>
        <p:nvSpPr>
          <p:cNvPr id="98" name="Google Shape;98;g3b0c1419701_0_52"/>
          <p:cNvSpPr/>
          <p:nvPr/>
        </p:nvSpPr>
        <p:spPr>
          <a:xfrm>
            <a:off x="0" y="25"/>
            <a:ext cx="360300" cy="6858000"/>
          </a:xfrm>
          <a:prstGeom prst="rect">
            <a:avLst/>
          </a:prstGeom>
          <a:solidFill>
            <a:srgbClr val="1B786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B786F"/>
              </a:solidFill>
              <a:latin typeface="Calibri"/>
              <a:ea typeface="Calibri"/>
              <a:cs typeface="Calibri"/>
              <a:sym typeface="Calibri"/>
            </a:endParaRPr>
          </a:p>
        </p:txBody>
      </p:sp>
      <p:sp>
        <p:nvSpPr>
          <p:cNvPr id="99" name="Google Shape;99;g3b0c1419701_0_52"/>
          <p:cNvSpPr/>
          <p:nvPr/>
        </p:nvSpPr>
        <p:spPr>
          <a:xfrm>
            <a:off x="874975" y="1304567"/>
            <a:ext cx="1693800" cy="552900"/>
          </a:xfrm>
          <a:prstGeom prst="rect">
            <a:avLst/>
          </a:prstGeom>
          <a:solidFill>
            <a:schemeClr val="lt2"/>
          </a:solidFill>
          <a:ln cap="flat" cmpd="sng" w="10200">
            <a:solidFill>
              <a:schemeClr val="dk2"/>
            </a:solidFill>
            <a:prstDash val="solid"/>
            <a:round/>
            <a:headEnd len="sm" w="sm" type="none"/>
            <a:tailEnd len="sm" w="sm" type="none"/>
          </a:ln>
        </p:spPr>
        <p:txBody>
          <a:bodyPr anchorCtr="0" anchor="ctr" bIns="97875" lIns="97875" spcFirstLastPara="1" rIns="97875" wrap="square" tIns="97875">
            <a:noAutofit/>
          </a:bodyPr>
          <a:lstStyle/>
          <a:p>
            <a:pPr indent="0" lvl="0" marL="0" rtl="0" algn="ctr">
              <a:spcBef>
                <a:spcPts val="0"/>
              </a:spcBef>
              <a:spcAft>
                <a:spcPts val="0"/>
              </a:spcAft>
              <a:buNone/>
            </a:pPr>
            <a:r>
              <a:t/>
            </a:r>
            <a:endParaRPr sz="1498">
              <a:latin typeface="Calibri"/>
              <a:ea typeface="Calibri"/>
              <a:cs typeface="Calibri"/>
              <a:sym typeface="Calibri"/>
            </a:endParaRPr>
          </a:p>
        </p:txBody>
      </p:sp>
      <p:sp>
        <p:nvSpPr>
          <p:cNvPr id="100" name="Google Shape;100;g3b0c1419701_0_52"/>
          <p:cNvSpPr/>
          <p:nvPr/>
        </p:nvSpPr>
        <p:spPr>
          <a:xfrm>
            <a:off x="1523138" y="2113071"/>
            <a:ext cx="1953000" cy="741600"/>
          </a:xfrm>
          <a:prstGeom prst="rect">
            <a:avLst/>
          </a:prstGeom>
          <a:solidFill>
            <a:schemeClr val="lt2"/>
          </a:solidFill>
          <a:ln cap="flat" cmpd="sng" w="10200">
            <a:solidFill>
              <a:schemeClr val="dk2"/>
            </a:solidFill>
            <a:prstDash val="solid"/>
            <a:round/>
            <a:headEnd len="sm" w="sm" type="none"/>
            <a:tailEnd len="sm" w="sm" type="none"/>
          </a:ln>
        </p:spPr>
        <p:txBody>
          <a:bodyPr anchorCtr="0" anchor="ctr" bIns="97875" lIns="97875" spcFirstLastPara="1" rIns="97875" wrap="square" tIns="97875">
            <a:noAutofit/>
          </a:bodyPr>
          <a:lstStyle/>
          <a:p>
            <a:pPr indent="0" lvl="0" marL="0" rtl="0" algn="ctr">
              <a:spcBef>
                <a:spcPts val="0"/>
              </a:spcBef>
              <a:spcAft>
                <a:spcPts val="0"/>
              </a:spcAft>
              <a:buNone/>
            </a:pPr>
            <a:r>
              <a:t/>
            </a:r>
            <a:endParaRPr sz="1498">
              <a:latin typeface="Calibri"/>
              <a:ea typeface="Calibri"/>
              <a:cs typeface="Calibri"/>
              <a:sym typeface="Calibri"/>
            </a:endParaRPr>
          </a:p>
        </p:txBody>
      </p:sp>
      <p:sp>
        <p:nvSpPr>
          <p:cNvPr id="101" name="Google Shape;101;g3b0c1419701_0_52"/>
          <p:cNvSpPr/>
          <p:nvPr/>
        </p:nvSpPr>
        <p:spPr>
          <a:xfrm>
            <a:off x="2966198" y="3119275"/>
            <a:ext cx="1831800" cy="741600"/>
          </a:xfrm>
          <a:prstGeom prst="rect">
            <a:avLst/>
          </a:prstGeom>
          <a:solidFill>
            <a:schemeClr val="lt2"/>
          </a:solidFill>
          <a:ln cap="flat" cmpd="sng" w="10200">
            <a:solidFill>
              <a:schemeClr val="dk2"/>
            </a:solidFill>
            <a:prstDash val="solid"/>
            <a:round/>
            <a:headEnd len="sm" w="sm" type="none"/>
            <a:tailEnd len="sm" w="sm" type="none"/>
          </a:ln>
        </p:spPr>
        <p:txBody>
          <a:bodyPr anchorCtr="0" anchor="ctr" bIns="97875" lIns="97875" spcFirstLastPara="1" rIns="97875" wrap="square" tIns="97875">
            <a:noAutofit/>
          </a:bodyPr>
          <a:lstStyle/>
          <a:p>
            <a:pPr indent="0" lvl="0" marL="0" rtl="0" algn="ctr">
              <a:spcBef>
                <a:spcPts val="0"/>
              </a:spcBef>
              <a:spcAft>
                <a:spcPts val="0"/>
              </a:spcAft>
              <a:buNone/>
            </a:pPr>
            <a:r>
              <a:t/>
            </a:r>
            <a:endParaRPr sz="1498">
              <a:latin typeface="Calibri"/>
              <a:ea typeface="Calibri"/>
              <a:cs typeface="Calibri"/>
              <a:sym typeface="Calibri"/>
            </a:endParaRPr>
          </a:p>
        </p:txBody>
      </p:sp>
      <p:sp>
        <p:nvSpPr>
          <p:cNvPr id="102" name="Google Shape;102;g3b0c1419701_0_52"/>
          <p:cNvSpPr/>
          <p:nvPr/>
        </p:nvSpPr>
        <p:spPr>
          <a:xfrm>
            <a:off x="4210586" y="4329077"/>
            <a:ext cx="1469100" cy="741600"/>
          </a:xfrm>
          <a:prstGeom prst="rect">
            <a:avLst/>
          </a:prstGeom>
          <a:solidFill>
            <a:schemeClr val="lt2"/>
          </a:solidFill>
          <a:ln cap="flat" cmpd="sng" w="10200">
            <a:solidFill>
              <a:schemeClr val="dk2"/>
            </a:solidFill>
            <a:prstDash val="solid"/>
            <a:round/>
            <a:headEnd len="sm" w="sm" type="none"/>
            <a:tailEnd len="sm" w="sm" type="none"/>
          </a:ln>
        </p:spPr>
        <p:txBody>
          <a:bodyPr anchorCtr="0" anchor="ctr" bIns="97875" lIns="97875" spcFirstLastPara="1" rIns="97875" wrap="square" tIns="97875">
            <a:noAutofit/>
          </a:bodyPr>
          <a:lstStyle/>
          <a:p>
            <a:pPr indent="0" lvl="0" marL="0" rtl="0" algn="ctr">
              <a:spcBef>
                <a:spcPts val="0"/>
              </a:spcBef>
              <a:spcAft>
                <a:spcPts val="0"/>
              </a:spcAft>
              <a:buNone/>
            </a:pPr>
            <a:r>
              <a:t/>
            </a:r>
            <a:endParaRPr sz="1498">
              <a:latin typeface="Calibri"/>
              <a:ea typeface="Calibri"/>
              <a:cs typeface="Calibri"/>
              <a:sym typeface="Calibri"/>
            </a:endParaRPr>
          </a:p>
        </p:txBody>
      </p:sp>
      <p:sp>
        <p:nvSpPr>
          <p:cNvPr id="103" name="Google Shape;103;g3b0c1419701_0_52"/>
          <p:cNvSpPr txBox="1"/>
          <p:nvPr/>
        </p:nvSpPr>
        <p:spPr>
          <a:xfrm>
            <a:off x="874975" y="1295373"/>
            <a:ext cx="1693800" cy="552900"/>
          </a:xfrm>
          <a:prstGeom prst="rect">
            <a:avLst/>
          </a:prstGeom>
          <a:noFill/>
          <a:ln>
            <a:noFill/>
          </a:ln>
        </p:spPr>
        <p:txBody>
          <a:bodyPr anchorCtr="0" anchor="t" bIns="97875" lIns="97875" spcFirstLastPara="1" rIns="97875" wrap="square" tIns="97875">
            <a:noAutofit/>
          </a:bodyPr>
          <a:lstStyle/>
          <a:p>
            <a:pPr indent="0" lvl="0" marL="0" rtl="0" algn="ctr">
              <a:lnSpc>
                <a:spcPct val="80000"/>
              </a:lnSpc>
              <a:spcBef>
                <a:spcPts val="0"/>
              </a:spcBef>
              <a:spcAft>
                <a:spcPts val="0"/>
              </a:spcAft>
              <a:buSzPts val="824"/>
              <a:buNone/>
            </a:pPr>
            <a:r>
              <a:rPr lang="en-US" sz="1884">
                <a:solidFill>
                  <a:schemeClr val="dk1"/>
                </a:solidFill>
                <a:latin typeface="Calibri"/>
                <a:ea typeface="Calibri"/>
                <a:cs typeface="Calibri"/>
                <a:sym typeface="Calibri"/>
              </a:rPr>
              <a:t>Image Dataset( Real/ Fake)</a:t>
            </a:r>
            <a:endParaRPr sz="1884">
              <a:solidFill>
                <a:schemeClr val="dk1"/>
              </a:solidFill>
              <a:latin typeface="Calibri"/>
              <a:ea typeface="Calibri"/>
              <a:cs typeface="Calibri"/>
              <a:sym typeface="Calibri"/>
            </a:endParaRPr>
          </a:p>
        </p:txBody>
      </p:sp>
      <p:sp>
        <p:nvSpPr>
          <p:cNvPr id="104" name="Google Shape;104;g3b0c1419701_0_52"/>
          <p:cNvSpPr txBox="1"/>
          <p:nvPr/>
        </p:nvSpPr>
        <p:spPr>
          <a:xfrm>
            <a:off x="1462598" y="2014259"/>
            <a:ext cx="2074200" cy="570300"/>
          </a:xfrm>
          <a:prstGeom prst="rect">
            <a:avLst/>
          </a:prstGeom>
          <a:noFill/>
          <a:ln>
            <a:noFill/>
          </a:ln>
        </p:spPr>
        <p:txBody>
          <a:bodyPr anchorCtr="0" anchor="t" bIns="97875" lIns="97875" spcFirstLastPara="1" rIns="97875" wrap="square" tIns="97875">
            <a:noAutofit/>
          </a:bodyPr>
          <a:lstStyle/>
          <a:p>
            <a:pPr indent="0" lvl="0" marL="0" rtl="0" algn="ctr">
              <a:spcBef>
                <a:spcPts val="0"/>
              </a:spcBef>
              <a:spcAft>
                <a:spcPts val="0"/>
              </a:spcAft>
              <a:buSzPts val="559"/>
              <a:buNone/>
            </a:pPr>
            <a:r>
              <a:rPr lang="en-US" sz="1557">
                <a:solidFill>
                  <a:schemeClr val="dk1"/>
                </a:solidFill>
                <a:latin typeface="Calibri"/>
                <a:ea typeface="Calibri"/>
                <a:cs typeface="Calibri"/>
                <a:sym typeface="Calibri"/>
              </a:rPr>
              <a:t>Data PreProcessing( Resize, Normalize, label encoding)</a:t>
            </a:r>
            <a:endParaRPr sz="1557">
              <a:solidFill>
                <a:schemeClr val="dk1"/>
              </a:solidFill>
              <a:latin typeface="Calibri"/>
              <a:ea typeface="Calibri"/>
              <a:cs typeface="Calibri"/>
              <a:sym typeface="Calibri"/>
            </a:endParaRPr>
          </a:p>
        </p:txBody>
      </p:sp>
      <p:sp>
        <p:nvSpPr>
          <p:cNvPr id="105" name="Google Shape;105;g3b0c1419701_0_52"/>
          <p:cNvSpPr/>
          <p:nvPr/>
        </p:nvSpPr>
        <p:spPr>
          <a:xfrm rot="5400000">
            <a:off x="877127" y="2096096"/>
            <a:ext cx="846900" cy="406800"/>
          </a:xfrm>
          <a:prstGeom prst="bentUpArrow">
            <a:avLst>
              <a:gd fmla="val 25389" name="adj1"/>
              <a:gd fmla="val 25000" name="adj2"/>
              <a:gd fmla="val 25000" name="adj3"/>
            </a:avLst>
          </a:prstGeom>
          <a:solidFill>
            <a:schemeClr val="lt2"/>
          </a:solidFill>
          <a:ln cap="flat" cmpd="sng" w="10200">
            <a:solidFill>
              <a:schemeClr val="dk2"/>
            </a:solidFill>
            <a:prstDash val="solid"/>
            <a:round/>
            <a:headEnd len="sm" w="sm" type="none"/>
            <a:tailEnd len="sm" w="sm" type="none"/>
          </a:ln>
        </p:spPr>
        <p:txBody>
          <a:bodyPr anchorCtr="0" anchor="ctr" bIns="97875" lIns="97875" spcFirstLastPara="1" rIns="97875" wrap="square" tIns="97875">
            <a:noAutofit/>
          </a:bodyPr>
          <a:lstStyle/>
          <a:p>
            <a:pPr indent="0" lvl="0" marL="0" rtl="0" algn="ctr">
              <a:spcBef>
                <a:spcPts val="0"/>
              </a:spcBef>
              <a:spcAft>
                <a:spcPts val="0"/>
              </a:spcAft>
              <a:buNone/>
            </a:pPr>
            <a:r>
              <a:t/>
            </a:r>
            <a:endParaRPr sz="1498">
              <a:latin typeface="Calibri"/>
              <a:ea typeface="Calibri"/>
              <a:cs typeface="Calibri"/>
              <a:sym typeface="Calibri"/>
            </a:endParaRPr>
          </a:p>
        </p:txBody>
      </p:sp>
      <p:sp>
        <p:nvSpPr>
          <p:cNvPr id="106" name="Google Shape;106;g3b0c1419701_0_52"/>
          <p:cNvSpPr txBox="1"/>
          <p:nvPr/>
        </p:nvSpPr>
        <p:spPr>
          <a:xfrm>
            <a:off x="2966200" y="3103300"/>
            <a:ext cx="1831800" cy="741600"/>
          </a:xfrm>
          <a:prstGeom prst="rect">
            <a:avLst/>
          </a:prstGeom>
          <a:noFill/>
          <a:ln>
            <a:noFill/>
          </a:ln>
        </p:spPr>
        <p:txBody>
          <a:bodyPr anchorCtr="0" anchor="t" bIns="97875" lIns="97875" spcFirstLastPara="1" rIns="97875" wrap="square" tIns="97875">
            <a:noAutofit/>
          </a:bodyPr>
          <a:lstStyle/>
          <a:p>
            <a:pPr indent="0" lvl="0" marL="0" rtl="0" algn="ctr">
              <a:lnSpc>
                <a:spcPct val="60000"/>
              </a:lnSpc>
              <a:spcBef>
                <a:spcPts val="0"/>
              </a:spcBef>
              <a:spcAft>
                <a:spcPts val="0"/>
              </a:spcAft>
              <a:buSzPts val="701"/>
              <a:buNone/>
            </a:pPr>
            <a:r>
              <a:rPr lang="en-US" sz="1733">
                <a:solidFill>
                  <a:schemeClr val="dk1"/>
                </a:solidFill>
                <a:latin typeface="Calibri"/>
                <a:ea typeface="Calibri"/>
                <a:cs typeface="Calibri"/>
                <a:sym typeface="Calibri"/>
              </a:rPr>
              <a:t>Feature Extraction Models (Resnet, Vit)</a:t>
            </a:r>
            <a:endParaRPr sz="1733">
              <a:solidFill>
                <a:schemeClr val="dk1"/>
              </a:solidFill>
              <a:latin typeface="Calibri"/>
              <a:ea typeface="Calibri"/>
              <a:cs typeface="Calibri"/>
              <a:sym typeface="Calibri"/>
            </a:endParaRPr>
          </a:p>
        </p:txBody>
      </p:sp>
      <p:sp>
        <p:nvSpPr>
          <p:cNvPr id="107" name="Google Shape;107;g3b0c1419701_0_52"/>
          <p:cNvSpPr/>
          <p:nvPr/>
        </p:nvSpPr>
        <p:spPr>
          <a:xfrm rot="5400000">
            <a:off x="2313454" y="3074696"/>
            <a:ext cx="846900" cy="406800"/>
          </a:xfrm>
          <a:prstGeom prst="bentUpArrow">
            <a:avLst>
              <a:gd fmla="val 25389" name="adj1"/>
              <a:gd fmla="val 25000" name="adj2"/>
              <a:gd fmla="val 25000" name="adj3"/>
            </a:avLst>
          </a:prstGeom>
          <a:solidFill>
            <a:schemeClr val="lt2"/>
          </a:solidFill>
          <a:ln cap="flat" cmpd="sng" w="10200">
            <a:solidFill>
              <a:schemeClr val="dk2"/>
            </a:solidFill>
            <a:prstDash val="solid"/>
            <a:round/>
            <a:headEnd len="sm" w="sm" type="none"/>
            <a:tailEnd len="sm" w="sm" type="none"/>
          </a:ln>
        </p:spPr>
        <p:txBody>
          <a:bodyPr anchorCtr="0" anchor="ctr" bIns="97875" lIns="97875" spcFirstLastPara="1" rIns="97875" wrap="square" tIns="97875">
            <a:noAutofit/>
          </a:bodyPr>
          <a:lstStyle/>
          <a:p>
            <a:pPr indent="0" lvl="0" marL="0" rtl="0" algn="ctr">
              <a:spcBef>
                <a:spcPts val="0"/>
              </a:spcBef>
              <a:spcAft>
                <a:spcPts val="0"/>
              </a:spcAft>
              <a:buNone/>
            </a:pPr>
            <a:r>
              <a:t/>
            </a:r>
            <a:endParaRPr sz="1498">
              <a:latin typeface="Calibri"/>
              <a:ea typeface="Calibri"/>
              <a:cs typeface="Calibri"/>
              <a:sym typeface="Calibri"/>
            </a:endParaRPr>
          </a:p>
        </p:txBody>
      </p:sp>
      <p:sp>
        <p:nvSpPr>
          <p:cNvPr id="108" name="Google Shape;108;g3b0c1419701_0_52"/>
          <p:cNvSpPr/>
          <p:nvPr/>
        </p:nvSpPr>
        <p:spPr>
          <a:xfrm rot="5400000">
            <a:off x="3583738" y="4098153"/>
            <a:ext cx="846900" cy="406800"/>
          </a:xfrm>
          <a:prstGeom prst="bentUpArrow">
            <a:avLst>
              <a:gd fmla="val 25389" name="adj1"/>
              <a:gd fmla="val 25000" name="adj2"/>
              <a:gd fmla="val 25000" name="adj3"/>
            </a:avLst>
          </a:prstGeom>
          <a:solidFill>
            <a:schemeClr val="lt2"/>
          </a:solidFill>
          <a:ln cap="flat" cmpd="sng" w="10200">
            <a:solidFill>
              <a:schemeClr val="dk2"/>
            </a:solidFill>
            <a:prstDash val="solid"/>
            <a:round/>
            <a:headEnd len="sm" w="sm" type="none"/>
            <a:tailEnd len="sm" w="sm" type="none"/>
          </a:ln>
        </p:spPr>
        <p:txBody>
          <a:bodyPr anchorCtr="0" anchor="ctr" bIns="97875" lIns="97875" spcFirstLastPara="1" rIns="97875" wrap="square" tIns="97875">
            <a:noAutofit/>
          </a:bodyPr>
          <a:lstStyle/>
          <a:p>
            <a:pPr indent="0" lvl="0" marL="0" rtl="0" algn="ctr">
              <a:spcBef>
                <a:spcPts val="0"/>
              </a:spcBef>
              <a:spcAft>
                <a:spcPts val="0"/>
              </a:spcAft>
              <a:buNone/>
            </a:pPr>
            <a:r>
              <a:t/>
            </a:r>
            <a:endParaRPr sz="1498">
              <a:latin typeface="Calibri"/>
              <a:ea typeface="Calibri"/>
              <a:cs typeface="Calibri"/>
              <a:sym typeface="Calibri"/>
            </a:endParaRPr>
          </a:p>
        </p:txBody>
      </p:sp>
      <p:sp>
        <p:nvSpPr>
          <p:cNvPr id="109" name="Google Shape;109;g3b0c1419701_0_52"/>
          <p:cNvSpPr txBox="1"/>
          <p:nvPr/>
        </p:nvSpPr>
        <p:spPr>
          <a:xfrm>
            <a:off x="4227876" y="4363656"/>
            <a:ext cx="1549800" cy="741600"/>
          </a:xfrm>
          <a:prstGeom prst="rect">
            <a:avLst/>
          </a:prstGeom>
          <a:noFill/>
          <a:ln>
            <a:noFill/>
          </a:ln>
        </p:spPr>
        <p:txBody>
          <a:bodyPr anchorCtr="0" anchor="t" bIns="97875" lIns="97875" spcFirstLastPara="1" rIns="97875" wrap="square" tIns="97875">
            <a:noAutofit/>
          </a:bodyPr>
          <a:lstStyle/>
          <a:p>
            <a:pPr indent="0" lvl="0" marL="0" rtl="0" algn="l">
              <a:spcBef>
                <a:spcPts val="0"/>
              </a:spcBef>
              <a:spcAft>
                <a:spcPts val="0"/>
              </a:spcAft>
              <a:buNone/>
            </a:pPr>
            <a:r>
              <a:rPr lang="en-US" sz="1926">
                <a:solidFill>
                  <a:schemeClr val="dk1"/>
                </a:solidFill>
                <a:latin typeface="Calibri"/>
                <a:ea typeface="Calibri"/>
                <a:cs typeface="Calibri"/>
                <a:sym typeface="Calibri"/>
              </a:rPr>
              <a:t>Embeddings</a:t>
            </a:r>
            <a:endParaRPr sz="1926">
              <a:solidFill>
                <a:schemeClr val="dk1"/>
              </a:solidFill>
              <a:latin typeface="Calibri"/>
              <a:ea typeface="Calibri"/>
              <a:cs typeface="Calibri"/>
              <a:sym typeface="Calibri"/>
            </a:endParaRPr>
          </a:p>
        </p:txBody>
      </p:sp>
      <p:sp>
        <p:nvSpPr>
          <p:cNvPr id="110" name="Google Shape;110;g3b0c1419701_0_52"/>
          <p:cNvSpPr/>
          <p:nvPr/>
        </p:nvSpPr>
        <p:spPr>
          <a:xfrm>
            <a:off x="8588563" y="2014286"/>
            <a:ext cx="2074200" cy="741600"/>
          </a:xfrm>
          <a:prstGeom prst="rect">
            <a:avLst/>
          </a:prstGeom>
          <a:solidFill>
            <a:schemeClr val="lt2"/>
          </a:solidFill>
          <a:ln cap="flat" cmpd="sng" w="10200">
            <a:solidFill>
              <a:schemeClr val="dk2"/>
            </a:solidFill>
            <a:prstDash val="solid"/>
            <a:round/>
            <a:headEnd len="sm" w="sm" type="none"/>
            <a:tailEnd len="sm" w="sm" type="none"/>
          </a:ln>
        </p:spPr>
        <p:txBody>
          <a:bodyPr anchorCtr="0" anchor="ctr" bIns="97875" lIns="97875" spcFirstLastPara="1" rIns="97875" wrap="square" tIns="97875">
            <a:noAutofit/>
          </a:bodyPr>
          <a:lstStyle/>
          <a:p>
            <a:pPr indent="0" lvl="0" marL="0" rtl="0" algn="ctr">
              <a:spcBef>
                <a:spcPts val="0"/>
              </a:spcBef>
              <a:spcAft>
                <a:spcPts val="0"/>
              </a:spcAft>
              <a:buNone/>
            </a:pPr>
            <a:r>
              <a:t/>
            </a:r>
            <a:endParaRPr sz="1498">
              <a:latin typeface="Calibri"/>
              <a:ea typeface="Calibri"/>
              <a:cs typeface="Calibri"/>
              <a:sym typeface="Calibri"/>
            </a:endParaRPr>
          </a:p>
        </p:txBody>
      </p:sp>
      <p:sp>
        <p:nvSpPr>
          <p:cNvPr id="111" name="Google Shape;111;g3b0c1419701_0_52"/>
          <p:cNvSpPr/>
          <p:nvPr/>
        </p:nvSpPr>
        <p:spPr>
          <a:xfrm>
            <a:off x="8089608" y="3171668"/>
            <a:ext cx="2074200" cy="741600"/>
          </a:xfrm>
          <a:prstGeom prst="rect">
            <a:avLst/>
          </a:prstGeom>
          <a:solidFill>
            <a:schemeClr val="lt2"/>
          </a:solidFill>
          <a:ln cap="flat" cmpd="sng" w="10200">
            <a:solidFill>
              <a:schemeClr val="dk2"/>
            </a:solidFill>
            <a:prstDash val="solid"/>
            <a:round/>
            <a:headEnd len="sm" w="sm" type="none"/>
            <a:tailEnd len="sm" w="sm" type="none"/>
          </a:ln>
        </p:spPr>
        <p:txBody>
          <a:bodyPr anchorCtr="0" anchor="ctr" bIns="97875" lIns="97875" spcFirstLastPara="1" rIns="97875" wrap="square" tIns="97875">
            <a:noAutofit/>
          </a:bodyPr>
          <a:lstStyle/>
          <a:p>
            <a:pPr indent="0" lvl="0" marL="0" rtl="0" algn="ctr">
              <a:spcBef>
                <a:spcPts val="0"/>
              </a:spcBef>
              <a:spcAft>
                <a:spcPts val="0"/>
              </a:spcAft>
              <a:buNone/>
            </a:pPr>
            <a:r>
              <a:t/>
            </a:r>
            <a:endParaRPr sz="1498">
              <a:latin typeface="Calibri"/>
              <a:ea typeface="Calibri"/>
              <a:cs typeface="Calibri"/>
              <a:sym typeface="Calibri"/>
            </a:endParaRPr>
          </a:p>
        </p:txBody>
      </p:sp>
      <p:sp>
        <p:nvSpPr>
          <p:cNvPr id="112" name="Google Shape;112;g3b0c1419701_0_52"/>
          <p:cNvSpPr/>
          <p:nvPr/>
        </p:nvSpPr>
        <p:spPr>
          <a:xfrm>
            <a:off x="6904672" y="4329077"/>
            <a:ext cx="2074200" cy="741600"/>
          </a:xfrm>
          <a:prstGeom prst="rect">
            <a:avLst/>
          </a:prstGeom>
          <a:solidFill>
            <a:schemeClr val="lt2"/>
          </a:solidFill>
          <a:ln cap="flat" cmpd="sng" w="10200">
            <a:solidFill>
              <a:schemeClr val="dk2"/>
            </a:solidFill>
            <a:prstDash val="solid"/>
            <a:round/>
            <a:headEnd len="sm" w="sm" type="none"/>
            <a:tailEnd len="sm" w="sm" type="none"/>
          </a:ln>
        </p:spPr>
        <p:txBody>
          <a:bodyPr anchorCtr="0" anchor="ctr" bIns="97875" lIns="97875" spcFirstLastPara="1" rIns="97875" wrap="square" tIns="97875">
            <a:noAutofit/>
          </a:bodyPr>
          <a:lstStyle/>
          <a:p>
            <a:pPr indent="0" lvl="0" marL="0" rtl="0" algn="ctr">
              <a:spcBef>
                <a:spcPts val="0"/>
              </a:spcBef>
              <a:spcAft>
                <a:spcPts val="0"/>
              </a:spcAft>
              <a:buNone/>
            </a:pPr>
            <a:r>
              <a:t/>
            </a:r>
            <a:endParaRPr sz="1498">
              <a:latin typeface="Calibri"/>
              <a:ea typeface="Calibri"/>
              <a:cs typeface="Calibri"/>
              <a:sym typeface="Calibri"/>
            </a:endParaRPr>
          </a:p>
        </p:txBody>
      </p:sp>
      <p:sp>
        <p:nvSpPr>
          <p:cNvPr id="113" name="Google Shape;113;g3b0c1419701_0_52"/>
          <p:cNvSpPr/>
          <p:nvPr/>
        </p:nvSpPr>
        <p:spPr>
          <a:xfrm>
            <a:off x="5529608" y="5590771"/>
            <a:ext cx="2074200" cy="741600"/>
          </a:xfrm>
          <a:prstGeom prst="rect">
            <a:avLst/>
          </a:prstGeom>
          <a:solidFill>
            <a:schemeClr val="lt2"/>
          </a:solidFill>
          <a:ln cap="flat" cmpd="sng" w="10200">
            <a:solidFill>
              <a:schemeClr val="dk2"/>
            </a:solidFill>
            <a:prstDash val="solid"/>
            <a:round/>
            <a:headEnd len="sm" w="sm" type="none"/>
            <a:tailEnd len="sm" w="sm" type="none"/>
          </a:ln>
        </p:spPr>
        <p:txBody>
          <a:bodyPr anchorCtr="0" anchor="ctr" bIns="97875" lIns="97875" spcFirstLastPara="1" rIns="97875" wrap="square" tIns="97875">
            <a:noAutofit/>
          </a:bodyPr>
          <a:lstStyle/>
          <a:p>
            <a:pPr indent="0" lvl="0" marL="0" rtl="0" algn="ctr">
              <a:spcBef>
                <a:spcPts val="0"/>
              </a:spcBef>
              <a:spcAft>
                <a:spcPts val="0"/>
              </a:spcAft>
              <a:buNone/>
            </a:pPr>
            <a:r>
              <a:t/>
            </a:r>
            <a:endParaRPr sz="1498">
              <a:latin typeface="Calibri"/>
              <a:ea typeface="Calibri"/>
              <a:cs typeface="Calibri"/>
              <a:sym typeface="Calibri"/>
            </a:endParaRPr>
          </a:p>
        </p:txBody>
      </p:sp>
      <p:sp>
        <p:nvSpPr>
          <p:cNvPr id="114" name="Google Shape;114;g3b0c1419701_0_52"/>
          <p:cNvSpPr/>
          <p:nvPr/>
        </p:nvSpPr>
        <p:spPr>
          <a:xfrm>
            <a:off x="9339472" y="1201125"/>
            <a:ext cx="2074200" cy="552900"/>
          </a:xfrm>
          <a:prstGeom prst="rect">
            <a:avLst/>
          </a:prstGeom>
          <a:solidFill>
            <a:schemeClr val="lt2"/>
          </a:solidFill>
          <a:ln cap="flat" cmpd="sng" w="10200">
            <a:solidFill>
              <a:schemeClr val="dk2"/>
            </a:solidFill>
            <a:prstDash val="solid"/>
            <a:round/>
            <a:headEnd len="sm" w="sm" type="none"/>
            <a:tailEnd len="sm" w="sm" type="none"/>
          </a:ln>
        </p:spPr>
        <p:txBody>
          <a:bodyPr anchorCtr="0" anchor="ctr" bIns="97875" lIns="97875" spcFirstLastPara="1" rIns="97875" wrap="square" tIns="97875">
            <a:noAutofit/>
          </a:bodyPr>
          <a:lstStyle/>
          <a:p>
            <a:pPr indent="0" lvl="0" marL="0" rtl="0" algn="ctr">
              <a:spcBef>
                <a:spcPts val="0"/>
              </a:spcBef>
              <a:spcAft>
                <a:spcPts val="0"/>
              </a:spcAft>
              <a:buNone/>
            </a:pPr>
            <a:r>
              <a:t/>
            </a:r>
            <a:endParaRPr sz="1498">
              <a:latin typeface="Calibri"/>
              <a:ea typeface="Calibri"/>
              <a:cs typeface="Calibri"/>
              <a:sym typeface="Calibri"/>
            </a:endParaRPr>
          </a:p>
        </p:txBody>
      </p:sp>
      <p:sp>
        <p:nvSpPr>
          <p:cNvPr id="115" name="Google Shape;115;g3b0c1419701_0_52"/>
          <p:cNvSpPr/>
          <p:nvPr/>
        </p:nvSpPr>
        <p:spPr>
          <a:xfrm flipH="1" rot="-5400000">
            <a:off x="10512791" y="1904019"/>
            <a:ext cx="760800" cy="461100"/>
          </a:xfrm>
          <a:prstGeom prst="bentUpArrow">
            <a:avLst>
              <a:gd fmla="val 25389" name="adj1"/>
              <a:gd fmla="val 25000" name="adj2"/>
              <a:gd fmla="val 25000" name="adj3"/>
            </a:avLst>
          </a:prstGeom>
          <a:solidFill>
            <a:schemeClr val="lt2"/>
          </a:solidFill>
          <a:ln cap="flat" cmpd="sng" w="10200">
            <a:solidFill>
              <a:schemeClr val="dk2"/>
            </a:solidFill>
            <a:prstDash val="solid"/>
            <a:round/>
            <a:headEnd len="sm" w="sm" type="none"/>
            <a:tailEnd len="sm" w="sm" type="none"/>
          </a:ln>
        </p:spPr>
        <p:txBody>
          <a:bodyPr anchorCtr="0" anchor="ctr" bIns="97875" lIns="97875" spcFirstLastPara="1" rIns="97875" wrap="square" tIns="97875">
            <a:noAutofit/>
          </a:bodyPr>
          <a:lstStyle/>
          <a:p>
            <a:pPr indent="0" lvl="0" marL="0" rtl="0" algn="ctr">
              <a:spcBef>
                <a:spcPts val="0"/>
              </a:spcBef>
              <a:spcAft>
                <a:spcPts val="0"/>
              </a:spcAft>
              <a:buNone/>
            </a:pPr>
            <a:r>
              <a:t/>
            </a:r>
            <a:endParaRPr sz="1498">
              <a:latin typeface="Calibri"/>
              <a:ea typeface="Calibri"/>
              <a:cs typeface="Calibri"/>
              <a:sym typeface="Calibri"/>
            </a:endParaRPr>
          </a:p>
        </p:txBody>
      </p:sp>
      <p:sp>
        <p:nvSpPr>
          <p:cNvPr id="116" name="Google Shape;116;g3b0c1419701_0_52"/>
          <p:cNvSpPr/>
          <p:nvPr/>
        </p:nvSpPr>
        <p:spPr>
          <a:xfrm flipH="1" rot="-5400000">
            <a:off x="9996065" y="2905703"/>
            <a:ext cx="760800" cy="461100"/>
          </a:xfrm>
          <a:prstGeom prst="bentUpArrow">
            <a:avLst>
              <a:gd fmla="val 25389" name="adj1"/>
              <a:gd fmla="val 25000" name="adj2"/>
              <a:gd fmla="val 25000" name="adj3"/>
            </a:avLst>
          </a:prstGeom>
          <a:solidFill>
            <a:schemeClr val="lt2"/>
          </a:solidFill>
          <a:ln cap="flat" cmpd="sng" w="10200">
            <a:solidFill>
              <a:schemeClr val="dk2"/>
            </a:solidFill>
            <a:prstDash val="solid"/>
            <a:round/>
            <a:headEnd len="sm" w="sm" type="none"/>
            <a:tailEnd len="sm" w="sm" type="none"/>
          </a:ln>
        </p:spPr>
        <p:txBody>
          <a:bodyPr anchorCtr="0" anchor="ctr" bIns="97875" lIns="97875" spcFirstLastPara="1" rIns="97875" wrap="square" tIns="97875">
            <a:noAutofit/>
          </a:bodyPr>
          <a:lstStyle/>
          <a:p>
            <a:pPr indent="0" lvl="0" marL="0" rtl="0" algn="ctr">
              <a:spcBef>
                <a:spcPts val="0"/>
              </a:spcBef>
              <a:spcAft>
                <a:spcPts val="0"/>
              </a:spcAft>
              <a:buNone/>
            </a:pPr>
            <a:r>
              <a:t/>
            </a:r>
            <a:endParaRPr sz="1498">
              <a:latin typeface="Calibri"/>
              <a:ea typeface="Calibri"/>
              <a:cs typeface="Calibri"/>
              <a:sym typeface="Calibri"/>
            </a:endParaRPr>
          </a:p>
        </p:txBody>
      </p:sp>
      <p:sp>
        <p:nvSpPr>
          <p:cNvPr id="117" name="Google Shape;117;g3b0c1419701_0_52"/>
          <p:cNvSpPr/>
          <p:nvPr/>
        </p:nvSpPr>
        <p:spPr>
          <a:xfrm flipH="1" rot="-5400000">
            <a:off x="8828901" y="4070994"/>
            <a:ext cx="760800" cy="461100"/>
          </a:xfrm>
          <a:prstGeom prst="bentUpArrow">
            <a:avLst>
              <a:gd fmla="val 25389" name="adj1"/>
              <a:gd fmla="val 25000" name="adj2"/>
              <a:gd fmla="val 25000" name="adj3"/>
            </a:avLst>
          </a:prstGeom>
          <a:solidFill>
            <a:schemeClr val="lt2"/>
          </a:solidFill>
          <a:ln cap="flat" cmpd="sng" w="10200">
            <a:solidFill>
              <a:schemeClr val="dk2"/>
            </a:solidFill>
            <a:prstDash val="solid"/>
            <a:round/>
            <a:headEnd len="sm" w="sm" type="none"/>
            <a:tailEnd len="sm" w="sm" type="none"/>
          </a:ln>
        </p:spPr>
        <p:txBody>
          <a:bodyPr anchorCtr="0" anchor="ctr" bIns="97875" lIns="97875" spcFirstLastPara="1" rIns="97875" wrap="square" tIns="97875">
            <a:noAutofit/>
          </a:bodyPr>
          <a:lstStyle/>
          <a:p>
            <a:pPr indent="0" lvl="0" marL="0" rtl="0" algn="ctr">
              <a:spcBef>
                <a:spcPts val="0"/>
              </a:spcBef>
              <a:spcAft>
                <a:spcPts val="0"/>
              </a:spcAft>
              <a:buNone/>
            </a:pPr>
            <a:r>
              <a:t/>
            </a:r>
            <a:endParaRPr sz="1498">
              <a:latin typeface="Calibri"/>
              <a:ea typeface="Calibri"/>
              <a:cs typeface="Calibri"/>
              <a:sym typeface="Calibri"/>
            </a:endParaRPr>
          </a:p>
        </p:txBody>
      </p:sp>
      <p:sp>
        <p:nvSpPr>
          <p:cNvPr id="118" name="Google Shape;118;g3b0c1419701_0_52"/>
          <p:cNvSpPr/>
          <p:nvPr/>
        </p:nvSpPr>
        <p:spPr>
          <a:xfrm flipH="1" rot="-5400000">
            <a:off x="7453836" y="5255073"/>
            <a:ext cx="760800" cy="461100"/>
          </a:xfrm>
          <a:prstGeom prst="bentUpArrow">
            <a:avLst>
              <a:gd fmla="val 25389" name="adj1"/>
              <a:gd fmla="val 25000" name="adj2"/>
              <a:gd fmla="val 25000" name="adj3"/>
            </a:avLst>
          </a:prstGeom>
          <a:solidFill>
            <a:schemeClr val="lt2"/>
          </a:solidFill>
          <a:ln cap="flat" cmpd="sng" w="10200">
            <a:solidFill>
              <a:schemeClr val="dk2"/>
            </a:solidFill>
            <a:prstDash val="solid"/>
            <a:round/>
            <a:headEnd len="sm" w="sm" type="none"/>
            <a:tailEnd len="sm" w="sm" type="none"/>
          </a:ln>
        </p:spPr>
        <p:txBody>
          <a:bodyPr anchorCtr="0" anchor="ctr" bIns="97875" lIns="97875" spcFirstLastPara="1" rIns="97875" wrap="square" tIns="97875">
            <a:noAutofit/>
          </a:bodyPr>
          <a:lstStyle/>
          <a:p>
            <a:pPr indent="0" lvl="0" marL="0" rtl="0" algn="ctr">
              <a:spcBef>
                <a:spcPts val="0"/>
              </a:spcBef>
              <a:spcAft>
                <a:spcPts val="0"/>
              </a:spcAft>
              <a:buNone/>
            </a:pPr>
            <a:r>
              <a:t/>
            </a:r>
            <a:endParaRPr sz="1498">
              <a:latin typeface="Calibri"/>
              <a:ea typeface="Calibri"/>
              <a:cs typeface="Calibri"/>
              <a:sym typeface="Calibri"/>
            </a:endParaRPr>
          </a:p>
        </p:txBody>
      </p:sp>
      <p:sp>
        <p:nvSpPr>
          <p:cNvPr id="119" name="Google Shape;119;g3b0c1419701_0_52"/>
          <p:cNvSpPr/>
          <p:nvPr/>
        </p:nvSpPr>
        <p:spPr>
          <a:xfrm rot="5400000">
            <a:off x="4902760" y="5282232"/>
            <a:ext cx="846900" cy="406800"/>
          </a:xfrm>
          <a:prstGeom prst="bentUpArrow">
            <a:avLst>
              <a:gd fmla="val 25389" name="adj1"/>
              <a:gd fmla="val 25000" name="adj2"/>
              <a:gd fmla="val 25000" name="adj3"/>
            </a:avLst>
          </a:prstGeom>
          <a:solidFill>
            <a:schemeClr val="lt2"/>
          </a:solidFill>
          <a:ln cap="flat" cmpd="sng" w="10200">
            <a:solidFill>
              <a:schemeClr val="dk2"/>
            </a:solidFill>
            <a:prstDash val="solid"/>
            <a:round/>
            <a:headEnd len="sm" w="sm" type="none"/>
            <a:tailEnd len="sm" w="sm" type="none"/>
          </a:ln>
        </p:spPr>
        <p:txBody>
          <a:bodyPr anchorCtr="0" anchor="ctr" bIns="97875" lIns="97875" spcFirstLastPara="1" rIns="97875" wrap="square" tIns="97875">
            <a:noAutofit/>
          </a:bodyPr>
          <a:lstStyle/>
          <a:p>
            <a:pPr indent="0" lvl="0" marL="0" rtl="0" algn="ctr">
              <a:spcBef>
                <a:spcPts val="0"/>
              </a:spcBef>
              <a:spcAft>
                <a:spcPts val="0"/>
              </a:spcAft>
              <a:buNone/>
            </a:pPr>
            <a:r>
              <a:t/>
            </a:r>
            <a:endParaRPr sz="1498">
              <a:latin typeface="Calibri"/>
              <a:ea typeface="Calibri"/>
              <a:cs typeface="Calibri"/>
              <a:sym typeface="Calibri"/>
            </a:endParaRPr>
          </a:p>
        </p:txBody>
      </p:sp>
      <p:sp>
        <p:nvSpPr>
          <p:cNvPr id="120" name="Google Shape;120;g3b0c1419701_0_52"/>
          <p:cNvSpPr txBox="1"/>
          <p:nvPr/>
        </p:nvSpPr>
        <p:spPr>
          <a:xfrm>
            <a:off x="9257227" y="1235436"/>
            <a:ext cx="2074200" cy="449400"/>
          </a:xfrm>
          <a:prstGeom prst="rect">
            <a:avLst/>
          </a:prstGeom>
          <a:noFill/>
          <a:ln>
            <a:noFill/>
          </a:ln>
        </p:spPr>
        <p:txBody>
          <a:bodyPr anchorCtr="0" anchor="t" bIns="97875" lIns="97875" spcFirstLastPara="1" rIns="97875" wrap="square" tIns="97875">
            <a:noAutofit/>
          </a:bodyPr>
          <a:lstStyle/>
          <a:p>
            <a:pPr indent="0" lvl="0" marL="0" rtl="0" algn="l">
              <a:spcBef>
                <a:spcPts val="0"/>
              </a:spcBef>
              <a:spcAft>
                <a:spcPts val="0"/>
              </a:spcAft>
              <a:buNone/>
            </a:pPr>
            <a:r>
              <a:rPr lang="en-US" sz="1926">
                <a:solidFill>
                  <a:schemeClr val="dk1"/>
                </a:solidFill>
                <a:latin typeface="Calibri"/>
                <a:ea typeface="Calibri"/>
                <a:cs typeface="Calibri"/>
                <a:sym typeface="Calibri"/>
              </a:rPr>
              <a:t>User image upload</a:t>
            </a:r>
            <a:endParaRPr sz="1926">
              <a:solidFill>
                <a:schemeClr val="dk1"/>
              </a:solidFill>
              <a:latin typeface="Calibri"/>
              <a:ea typeface="Calibri"/>
              <a:cs typeface="Calibri"/>
              <a:sym typeface="Calibri"/>
            </a:endParaRPr>
          </a:p>
        </p:txBody>
      </p:sp>
      <p:sp>
        <p:nvSpPr>
          <p:cNvPr id="121" name="Google Shape;121;g3b0c1419701_0_52"/>
          <p:cNvSpPr txBox="1"/>
          <p:nvPr/>
        </p:nvSpPr>
        <p:spPr>
          <a:xfrm>
            <a:off x="8437908" y="2014278"/>
            <a:ext cx="2074200" cy="741600"/>
          </a:xfrm>
          <a:prstGeom prst="rect">
            <a:avLst/>
          </a:prstGeom>
          <a:noFill/>
          <a:ln>
            <a:noFill/>
          </a:ln>
        </p:spPr>
        <p:txBody>
          <a:bodyPr anchorCtr="0" anchor="t" bIns="97875" lIns="97875" spcFirstLastPara="1" rIns="97875" wrap="square" tIns="97875">
            <a:noAutofit/>
          </a:bodyPr>
          <a:lstStyle/>
          <a:p>
            <a:pPr indent="0" lvl="0" marL="0" rtl="0" algn="ctr">
              <a:spcBef>
                <a:spcPts val="0"/>
              </a:spcBef>
              <a:spcAft>
                <a:spcPts val="0"/>
              </a:spcAft>
              <a:buNone/>
            </a:pPr>
            <a:r>
              <a:rPr lang="en-US" sz="1926">
                <a:solidFill>
                  <a:schemeClr val="dk1"/>
                </a:solidFill>
                <a:latin typeface="Calibri"/>
                <a:ea typeface="Calibri"/>
                <a:cs typeface="Calibri"/>
                <a:sym typeface="Calibri"/>
              </a:rPr>
              <a:t>   Image Post       Processing</a:t>
            </a:r>
            <a:endParaRPr sz="1926">
              <a:solidFill>
                <a:schemeClr val="dk1"/>
              </a:solidFill>
              <a:latin typeface="Calibri"/>
              <a:ea typeface="Calibri"/>
              <a:cs typeface="Calibri"/>
              <a:sym typeface="Calibri"/>
            </a:endParaRPr>
          </a:p>
        </p:txBody>
      </p:sp>
      <p:sp>
        <p:nvSpPr>
          <p:cNvPr id="122" name="Google Shape;122;g3b0c1419701_0_52"/>
          <p:cNvSpPr txBox="1"/>
          <p:nvPr/>
        </p:nvSpPr>
        <p:spPr>
          <a:xfrm>
            <a:off x="8081980" y="3188409"/>
            <a:ext cx="2074200" cy="741600"/>
          </a:xfrm>
          <a:prstGeom prst="rect">
            <a:avLst/>
          </a:prstGeom>
          <a:noFill/>
          <a:ln>
            <a:noFill/>
          </a:ln>
        </p:spPr>
        <p:txBody>
          <a:bodyPr anchorCtr="0" anchor="t" bIns="97875" lIns="97875" spcFirstLastPara="1" rIns="97875" wrap="square" tIns="97875">
            <a:noAutofit/>
          </a:bodyPr>
          <a:lstStyle/>
          <a:p>
            <a:pPr indent="0" lvl="0" marL="0" rtl="0" algn="ctr">
              <a:spcBef>
                <a:spcPts val="0"/>
              </a:spcBef>
              <a:spcAft>
                <a:spcPts val="0"/>
              </a:spcAft>
              <a:buNone/>
            </a:pPr>
            <a:r>
              <a:rPr lang="en-US" sz="1926">
                <a:solidFill>
                  <a:schemeClr val="dk1"/>
                </a:solidFill>
                <a:latin typeface="Calibri"/>
                <a:ea typeface="Calibri"/>
                <a:cs typeface="Calibri"/>
                <a:sym typeface="Calibri"/>
              </a:rPr>
              <a:t>Pre Trained AI Model</a:t>
            </a:r>
            <a:endParaRPr sz="1926">
              <a:solidFill>
                <a:schemeClr val="dk1"/>
              </a:solidFill>
              <a:latin typeface="Calibri"/>
              <a:ea typeface="Calibri"/>
              <a:cs typeface="Calibri"/>
              <a:sym typeface="Calibri"/>
            </a:endParaRPr>
          </a:p>
        </p:txBody>
      </p:sp>
      <p:sp>
        <p:nvSpPr>
          <p:cNvPr id="123" name="Google Shape;123;g3b0c1419701_0_52"/>
          <p:cNvSpPr txBox="1"/>
          <p:nvPr/>
        </p:nvSpPr>
        <p:spPr>
          <a:xfrm>
            <a:off x="7025878" y="4329083"/>
            <a:ext cx="1831800" cy="741600"/>
          </a:xfrm>
          <a:prstGeom prst="rect">
            <a:avLst/>
          </a:prstGeom>
          <a:noFill/>
          <a:ln>
            <a:noFill/>
          </a:ln>
        </p:spPr>
        <p:txBody>
          <a:bodyPr anchorCtr="0" anchor="t" bIns="97875" lIns="97875" spcFirstLastPara="1" rIns="97875" wrap="square" tIns="97875">
            <a:noAutofit/>
          </a:bodyPr>
          <a:lstStyle/>
          <a:p>
            <a:pPr indent="0" lvl="0" marL="0" rtl="0" algn="ctr">
              <a:spcBef>
                <a:spcPts val="0"/>
              </a:spcBef>
              <a:spcAft>
                <a:spcPts val="0"/>
              </a:spcAft>
              <a:buNone/>
            </a:pPr>
            <a:r>
              <a:rPr lang="en-US" sz="1926">
                <a:solidFill>
                  <a:schemeClr val="dk1"/>
                </a:solidFill>
                <a:latin typeface="Calibri"/>
                <a:ea typeface="Calibri"/>
                <a:cs typeface="Calibri"/>
                <a:sym typeface="Calibri"/>
              </a:rPr>
              <a:t>Prediction Output</a:t>
            </a:r>
            <a:endParaRPr sz="1926">
              <a:solidFill>
                <a:schemeClr val="dk1"/>
              </a:solidFill>
              <a:latin typeface="Calibri"/>
              <a:ea typeface="Calibri"/>
              <a:cs typeface="Calibri"/>
              <a:sym typeface="Calibri"/>
            </a:endParaRPr>
          </a:p>
        </p:txBody>
      </p:sp>
      <p:sp>
        <p:nvSpPr>
          <p:cNvPr id="124" name="Google Shape;124;g3b0c1419701_0_52"/>
          <p:cNvSpPr txBox="1"/>
          <p:nvPr/>
        </p:nvSpPr>
        <p:spPr>
          <a:xfrm>
            <a:off x="5593225" y="5608007"/>
            <a:ext cx="1953000" cy="741600"/>
          </a:xfrm>
          <a:prstGeom prst="rect">
            <a:avLst/>
          </a:prstGeom>
          <a:noFill/>
          <a:ln>
            <a:noFill/>
          </a:ln>
        </p:spPr>
        <p:txBody>
          <a:bodyPr anchorCtr="0" anchor="t" bIns="97875" lIns="97875" spcFirstLastPara="1" rIns="97875" wrap="square" tIns="97875">
            <a:noAutofit/>
          </a:bodyPr>
          <a:lstStyle/>
          <a:p>
            <a:pPr indent="0" lvl="0" marL="0" rtl="0" algn="l">
              <a:spcBef>
                <a:spcPts val="0"/>
              </a:spcBef>
              <a:spcAft>
                <a:spcPts val="0"/>
              </a:spcAft>
              <a:buNone/>
            </a:pPr>
            <a:r>
              <a:rPr lang="en-US" sz="1926">
                <a:solidFill>
                  <a:schemeClr val="dk1"/>
                </a:solidFill>
                <a:latin typeface="Calibri"/>
                <a:ea typeface="Calibri"/>
                <a:cs typeface="Calibri"/>
                <a:sym typeface="Calibri"/>
              </a:rPr>
              <a:t>Output (Sigmoid) Real(1)/ Fake(0)</a:t>
            </a:r>
            <a:endParaRPr sz="1926">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8"/>
          <p:cNvSpPr/>
          <p:nvPr/>
        </p:nvSpPr>
        <p:spPr>
          <a:xfrm>
            <a:off x="6107625" y="1202375"/>
            <a:ext cx="5320200" cy="5001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31" name="Google Shape;131;p8"/>
          <p:cNvSpPr/>
          <p:nvPr/>
        </p:nvSpPr>
        <p:spPr>
          <a:xfrm>
            <a:off x="741150" y="1236275"/>
            <a:ext cx="4797600" cy="4967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32" name="Google Shape;132;p8"/>
          <p:cNvSpPr txBox="1"/>
          <p:nvPr/>
        </p:nvSpPr>
        <p:spPr>
          <a:xfrm>
            <a:off x="10808708" y="6388401"/>
            <a:ext cx="1383300" cy="323400"/>
          </a:xfrm>
          <a:prstGeom prst="rect">
            <a:avLst/>
          </a:prstGeom>
          <a:noFill/>
          <a:ln>
            <a:noFill/>
          </a:ln>
        </p:spPr>
        <p:txBody>
          <a:bodyPr anchorCtr="0" anchor="t" bIns="43675" lIns="87350" spcFirstLastPara="1" rIns="87350" wrap="square" tIns="43675">
            <a:spAutoFit/>
          </a:bodyPr>
          <a:lstStyle/>
          <a:p>
            <a:pPr indent="0" lvl="0" marL="873640" marR="0" rtl="0" algn="l">
              <a:lnSpc>
                <a:spcPct val="100000"/>
              </a:lnSpc>
              <a:spcBef>
                <a:spcPts val="0"/>
              </a:spcBef>
              <a:spcAft>
                <a:spcPts val="0"/>
              </a:spcAft>
              <a:buClr>
                <a:srgbClr val="000000"/>
              </a:buClr>
              <a:buSzPts val="1720"/>
              <a:buFont typeface="Arial"/>
              <a:buNone/>
            </a:pPr>
            <a:r>
              <a:rPr b="0" i="0" lang="en-US" sz="1528" u="none" cap="none" strike="noStrike">
                <a:solidFill>
                  <a:schemeClr val="lt1"/>
                </a:solidFill>
                <a:latin typeface="EB Garamond"/>
                <a:ea typeface="EB Garamond"/>
                <a:cs typeface="EB Garamond"/>
                <a:sym typeface="EB Garamond"/>
              </a:rPr>
              <a:t>08</a:t>
            </a:r>
            <a:endParaRPr b="0" i="0" sz="1528" u="none" cap="none" strike="noStrike">
              <a:solidFill>
                <a:schemeClr val="lt1"/>
              </a:solidFill>
              <a:latin typeface="EB Garamond"/>
              <a:ea typeface="EB Garamond"/>
              <a:cs typeface="EB Garamond"/>
              <a:sym typeface="EB Garamond"/>
            </a:endParaRPr>
          </a:p>
        </p:txBody>
      </p:sp>
      <p:sp>
        <p:nvSpPr>
          <p:cNvPr id="133" name="Google Shape;133;p8"/>
          <p:cNvSpPr txBox="1"/>
          <p:nvPr/>
        </p:nvSpPr>
        <p:spPr>
          <a:xfrm>
            <a:off x="360300" y="297327"/>
            <a:ext cx="9634800" cy="785100"/>
          </a:xfrm>
          <a:prstGeom prst="rect">
            <a:avLst/>
          </a:prstGeom>
          <a:noFill/>
          <a:ln>
            <a:noFill/>
          </a:ln>
        </p:spPr>
        <p:txBody>
          <a:bodyPr anchorCtr="0" anchor="t" bIns="45700" lIns="91425" spcFirstLastPara="1" rIns="91425" wrap="square" tIns="45700">
            <a:spAutoFit/>
          </a:bodyPr>
          <a:lstStyle/>
          <a:p>
            <a:pPr indent="-514350" lvl="0" marL="914400" marR="0" rtl="0" algn="l">
              <a:lnSpc>
                <a:spcPct val="100000"/>
              </a:lnSpc>
              <a:spcBef>
                <a:spcPts val="0"/>
              </a:spcBef>
              <a:spcAft>
                <a:spcPts val="0"/>
              </a:spcAft>
              <a:buClr>
                <a:srgbClr val="1B786F"/>
              </a:buClr>
              <a:buSzPts val="4500"/>
              <a:buFont typeface="EB Garamond"/>
              <a:buChar char="❏"/>
            </a:pPr>
            <a:r>
              <a:rPr b="1" lang="en-US" sz="4500" u="sng">
                <a:solidFill>
                  <a:srgbClr val="1B786F"/>
                </a:solidFill>
                <a:latin typeface="EB Garamond"/>
                <a:ea typeface="EB Garamond"/>
                <a:cs typeface="EB Garamond"/>
                <a:sym typeface="EB Garamond"/>
              </a:rPr>
              <a:t>Model Performance</a:t>
            </a:r>
            <a:r>
              <a:rPr b="1" i="0" lang="en-US" sz="4500" u="sng" cap="none" strike="noStrike">
                <a:solidFill>
                  <a:srgbClr val="1B786F"/>
                </a:solidFill>
                <a:latin typeface="EB Garamond"/>
                <a:ea typeface="EB Garamond"/>
                <a:cs typeface="EB Garamond"/>
                <a:sym typeface="EB Garamond"/>
              </a:rPr>
              <a:t> </a:t>
            </a:r>
            <a:r>
              <a:rPr b="1" i="0" lang="en-US" sz="4500" u="none" cap="none" strike="noStrike">
                <a:solidFill>
                  <a:srgbClr val="1B786F"/>
                </a:solidFill>
                <a:latin typeface="EB Garamond"/>
                <a:ea typeface="EB Garamond"/>
                <a:cs typeface="EB Garamond"/>
                <a:sym typeface="EB Garamond"/>
              </a:rPr>
              <a:t>:- </a:t>
            </a:r>
            <a:endParaRPr b="1" i="0" sz="4500" u="none" cap="none" strike="noStrike">
              <a:solidFill>
                <a:srgbClr val="1B786F"/>
              </a:solidFill>
              <a:latin typeface="EB Garamond"/>
              <a:ea typeface="EB Garamond"/>
              <a:cs typeface="EB Garamond"/>
              <a:sym typeface="EB Garamond"/>
            </a:endParaRPr>
          </a:p>
        </p:txBody>
      </p:sp>
      <p:pic>
        <p:nvPicPr>
          <p:cNvPr id="134" name="Google Shape;134;p8" title="download.jpeg"/>
          <p:cNvPicPr preferRelativeResize="0"/>
          <p:nvPr/>
        </p:nvPicPr>
        <p:blipFill rotWithShape="1">
          <a:blip r:embed="rId3">
            <a:alphaModFix/>
          </a:blip>
          <a:srcRect b="16791" l="14315" r="14358" t="6497"/>
          <a:stretch/>
        </p:blipFill>
        <p:spPr>
          <a:xfrm>
            <a:off x="11290059" y="109862"/>
            <a:ext cx="840225" cy="903625"/>
          </a:xfrm>
          <a:prstGeom prst="rect">
            <a:avLst/>
          </a:prstGeom>
          <a:noFill/>
          <a:ln>
            <a:noFill/>
          </a:ln>
        </p:spPr>
      </p:pic>
      <p:sp>
        <p:nvSpPr>
          <p:cNvPr id="135" name="Google Shape;135;p8"/>
          <p:cNvSpPr txBox="1"/>
          <p:nvPr/>
        </p:nvSpPr>
        <p:spPr>
          <a:xfrm>
            <a:off x="722350" y="1207800"/>
            <a:ext cx="4754700" cy="50010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1200"/>
              </a:spcBef>
              <a:spcAft>
                <a:spcPts val="0"/>
              </a:spcAft>
              <a:buClr>
                <a:srgbClr val="000000"/>
              </a:buClr>
              <a:buSzPts val="1500"/>
              <a:buFont typeface="Arial"/>
              <a:buNone/>
            </a:pPr>
            <a:r>
              <a:rPr b="1" lang="en-US" sz="1900">
                <a:solidFill>
                  <a:schemeClr val="dk1"/>
                </a:solidFill>
              </a:rPr>
              <a:t>RESNET MODEL</a:t>
            </a:r>
            <a:endParaRPr b="1" sz="1900">
              <a:solidFill>
                <a:schemeClr val="dk1"/>
              </a:solidFill>
            </a:endParaRPr>
          </a:p>
          <a:p>
            <a:pPr indent="-336550" lvl="0" marL="457200" marR="0" rtl="0" algn="l">
              <a:lnSpc>
                <a:spcPct val="150000"/>
              </a:lnSpc>
              <a:spcBef>
                <a:spcPts val="1200"/>
              </a:spcBef>
              <a:spcAft>
                <a:spcPts val="0"/>
              </a:spcAft>
              <a:buClr>
                <a:schemeClr val="dk1"/>
              </a:buClr>
              <a:buSzPts val="1700"/>
              <a:buChar char="●"/>
            </a:pPr>
            <a:r>
              <a:rPr lang="en-US" sz="1700">
                <a:solidFill>
                  <a:schemeClr val="dk1"/>
                </a:solidFill>
              </a:rPr>
              <a:t>Achieved 81.64% Test accuracy.</a:t>
            </a:r>
            <a:endParaRPr sz="1700">
              <a:solidFill>
                <a:schemeClr val="dk1"/>
              </a:solidFill>
            </a:endParaRPr>
          </a:p>
          <a:p>
            <a:pPr indent="-336550" lvl="0" marL="457200" marR="0" rtl="0" algn="l">
              <a:lnSpc>
                <a:spcPct val="150000"/>
              </a:lnSpc>
              <a:spcBef>
                <a:spcPts val="0"/>
              </a:spcBef>
              <a:spcAft>
                <a:spcPts val="0"/>
              </a:spcAft>
              <a:buClr>
                <a:schemeClr val="dk1"/>
              </a:buClr>
              <a:buSzPts val="1700"/>
              <a:buChar char="●"/>
            </a:pPr>
            <a:r>
              <a:rPr lang="en-US" sz="1700">
                <a:solidFill>
                  <a:schemeClr val="dk1"/>
                </a:solidFill>
              </a:rPr>
              <a:t>Achieved F1 score of 0.82</a:t>
            </a:r>
            <a:endParaRPr sz="1700">
              <a:solidFill>
                <a:schemeClr val="dk1"/>
              </a:solidFill>
            </a:endParaRPr>
          </a:p>
          <a:p>
            <a:pPr indent="-336550" lvl="0" marL="457200" marR="0" rtl="0" algn="l">
              <a:lnSpc>
                <a:spcPct val="150000"/>
              </a:lnSpc>
              <a:spcBef>
                <a:spcPts val="0"/>
              </a:spcBef>
              <a:spcAft>
                <a:spcPts val="0"/>
              </a:spcAft>
              <a:buClr>
                <a:schemeClr val="dk1"/>
              </a:buClr>
              <a:buSzPts val="1700"/>
              <a:buChar char="●"/>
            </a:pPr>
            <a:r>
              <a:rPr lang="en-US" sz="1700">
                <a:solidFill>
                  <a:schemeClr val="dk1"/>
                </a:solidFill>
              </a:rPr>
              <a:t>Works very good when focus is on local features like pixel level boundaries, color bleeding, blending artifacts, small noise patterns.</a:t>
            </a:r>
            <a:endParaRPr sz="1700">
              <a:solidFill>
                <a:schemeClr val="dk1"/>
              </a:solidFill>
            </a:endParaRPr>
          </a:p>
          <a:p>
            <a:pPr indent="-336550" lvl="0" marL="457200" marR="0" rtl="0" algn="l">
              <a:lnSpc>
                <a:spcPct val="150000"/>
              </a:lnSpc>
              <a:spcBef>
                <a:spcPts val="0"/>
              </a:spcBef>
              <a:spcAft>
                <a:spcPts val="0"/>
              </a:spcAft>
              <a:buClr>
                <a:schemeClr val="dk1"/>
              </a:buClr>
              <a:buSzPts val="1700"/>
              <a:buChar char="●"/>
            </a:pPr>
            <a:r>
              <a:rPr lang="en-US" sz="1700">
                <a:solidFill>
                  <a:schemeClr val="dk1"/>
                </a:solidFill>
              </a:rPr>
              <a:t>Works comparatively good on low quality images.</a:t>
            </a:r>
            <a:endParaRPr sz="1700">
              <a:solidFill>
                <a:schemeClr val="dk1"/>
              </a:solidFill>
            </a:endParaRPr>
          </a:p>
          <a:p>
            <a:pPr indent="-336550" lvl="0" marL="457200" marR="0" rtl="0" algn="l">
              <a:lnSpc>
                <a:spcPct val="150000"/>
              </a:lnSpc>
              <a:spcBef>
                <a:spcPts val="0"/>
              </a:spcBef>
              <a:spcAft>
                <a:spcPts val="0"/>
              </a:spcAft>
              <a:buClr>
                <a:schemeClr val="dk1"/>
              </a:buClr>
              <a:buSzPts val="1700"/>
              <a:buChar char="●"/>
            </a:pPr>
            <a:r>
              <a:rPr lang="en-US" sz="1700">
                <a:solidFill>
                  <a:schemeClr val="dk1"/>
                </a:solidFill>
              </a:rPr>
              <a:t>Detects texture level artifacts very well.</a:t>
            </a:r>
            <a:endParaRPr sz="1700">
              <a:solidFill>
                <a:schemeClr val="dk1"/>
              </a:solidFill>
            </a:endParaRPr>
          </a:p>
          <a:p>
            <a:pPr indent="-336550" lvl="0" marL="457200" marR="0" rtl="0" algn="l">
              <a:lnSpc>
                <a:spcPct val="150000"/>
              </a:lnSpc>
              <a:spcBef>
                <a:spcPts val="0"/>
              </a:spcBef>
              <a:spcAft>
                <a:spcPts val="0"/>
              </a:spcAft>
              <a:buClr>
                <a:schemeClr val="dk1"/>
              </a:buClr>
              <a:buSzPts val="1700"/>
              <a:buChar char="●"/>
            </a:pPr>
            <a:r>
              <a:rPr lang="en-US" sz="1700">
                <a:solidFill>
                  <a:schemeClr val="dk1"/>
                </a:solidFill>
              </a:rPr>
              <a:t>Lightweight model, fast inference.</a:t>
            </a:r>
            <a:endParaRPr sz="1700">
              <a:solidFill>
                <a:schemeClr val="dk1"/>
              </a:solidFill>
            </a:endParaRPr>
          </a:p>
        </p:txBody>
      </p:sp>
      <p:sp>
        <p:nvSpPr>
          <p:cNvPr id="136" name="Google Shape;136;p8"/>
          <p:cNvSpPr/>
          <p:nvPr/>
        </p:nvSpPr>
        <p:spPr>
          <a:xfrm>
            <a:off x="0" y="25"/>
            <a:ext cx="360300" cy="6858000"/>
          </a:xfrm>
          <a:prstGeom prst="rect">
            <a:avLst/>
          </a:prstGeom>
          <a:solidFill>
            <a:srgbClr val="1B786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B786F"/>
              </a:solidFill>
              <a:latin typeface="Calibri"/>
              <a:ea typeface="Calibri"/>
              <a:cs typeface="Calibri"/>
              <a:sym typeface="Calibri"/>
            </a:endParaRPr>
          </a:p>
        </p:txBody>
      </p:sp>
      <p:sp>
        <p:nvSpPr>
          <p:cNvPr id="137" name="Google Shape;137;p8"/>
          <p:cNvSpPr txBox="1"/>
          <p:nvPr/>
        </p:nvSpPr>
        <p:spPr>
          <a:xfrm>
            <a:off x="6061500" y="1202425"/>
            <a:ext cx="5320200" cy="50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900">
                <a:solidFill>
                  <a:schemeClr val="dk1"/>
                </a:solidFill>
              </a:rPr>
              <a:t>VIT MODEL</a:t>
            </a:r>
            <a:endParaRPr b="1" sz="1900">
              <a:solidFill>
                <a:schemeClr val="dk1"/>
              </a:solidFill>
            </a:endParaRPr>
          </a:p>
          <a:p>
            <a:pPr indent="0" lvl="0" marL="0" rtl="0" algn="l">
              <a:spcBef>
                <a:spcPts val="0"/>
              </a:spcBef>
              <a:spcAft>
                <a:spcPts val="0"/>
              </a:spcAft>
              <a:buNone/>
            </a:pPr>
            <a:r>
              <a:t/>
            </a:r>
            <a:endParaRPr b="1" sz="2000">
              <a:solidFill>
                <a:schemeClr val="dk1"/>
              </a:solidFill>
              <a:latin typeface="Calibri"/>
              <a:ea typeface="Calibri"/>
              <a:cs typeface="Calibri"/>
              <a:sym typeface="Calibri"/>
            </a:endParaRPr>
          </a:p>
          <a:p>
            <a:pPr indent="-336550" lvl="0" marL="457200" rtl="0" algn="l">
              <a:lnSpc>
                <a:spcPct val="150000"/>
              </a:lnSpc>
              <a:spcBef>
                <a:spcPts val="0"/>
              </a:spcBef>
              <a:spcAft>
                <a:spcPts val="0"/>
              </a:spcAft>
              <a:buClr>
                <a:schemeClr val="dk1"/>
              </a:buClr>
              <a:buSzPts val="1700"/>
              <a:buChar char="●"/>
            </a:pPr>
            <a:r>
              <a:rPr lang="en-US" sz="1700">
                <a:solidFill>
                  <a:schemeClr val="dk1"/>
                </a:solidFill>
              </a:rPr>
              <a:t>Achieved 88.41% Test Accuracy.</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lang="en-US" sz="1700">
                <a:solidFill>
                  <a:schemeClr val="dk1"/>
                </a:solidFill>
              </a:rPr>
              <a:t>Achieved 0.89 F1 score.</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lang="en-US" sz="1700">
                <a:solidFill>
                  <a:schemeClr val="dk1"/>
                </a:solidFill>
              </a:rPr>
              <a:t>Performs very well detecting inconsistencies like mismatched lighting, unnatural </a:t>
            </a:r>
            <a:r>
              <a:rPr lang="en-US" sz="1700">
                <a:solidFill>
                  <a:schemeClr val="dk1"/>
                </a:solidFill>
              </a:rPr>
              <a:t>face proportion, global smoothing etc.</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lang="en-US" sz="1700">
                <a:solidFill>
                  <a:schemeClr val="dk1"/>
                </a:solidFill>
              </a:rPr>
              <a:t>High global awareness. Robustness high.</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lang="en-US" sz="1700">
                <a:solidFill>
                  <a:schemeClr val="dk1"/>
                </a:solidFill>
              </a:rPr>
              <a:t>Works very good in high quality images, noisy backgrounds.</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lang="en-US" sz="1700">
                <a:solidFill>
                  <a:schemeClr val="dk1"/>
                </a:solidFill>
              </a:rPr>
              <a:t>Heavy model, little bit slow.</a:t>
            </a:r>
            <a:endParaRPr sz="17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1" name="Shape 141"/>
        <p:cNvGrpSpPr/>
        <p:nvPr/>
      </p:nvGrpSpPr>
      <p:grpSpPr>
        <a:xfrm>
          <a:off x="0" y="0"/>
          <a:ext cx="0" cy="0"/>
          <a:chOff x="0" y="0"/>
          <a:chExt cx="0" cy="0"/>
        </a:xfrm>
      </p:grpSpPr>
      <p:sp>
        <p:nvSpPr>
          <p:cNvPr id="142" name="Google Shape;142;p6"/>
          <p:cNvSpPr txBox="1"/>
          <p:nvPr/>
        </p:nvSpPr>
        <p:spPr>
          <a:xfrm>
            <a:off x="208852" y="300200"/>
            <a:ext cx="8977200" cy="785100"/>
          </a:xfrm>
          <a:prstGeom prst="rect">
            <a:avLst/>
          </a:prstGeom>
          <a:noFill/>
          <a:ln>
            <a:noFill/>
          </a:ln>
        </p:spPr>
        <p:txBody>
          <a:bodyPr anchorCtr="0" anchor="t" bIns="45700" lIns="91425" spcFirstLastPara="1" rIns="91425" wrap="square" tIns="45700">
            <a:spAutoFit/>
          </a:bodyPr>
          <a:lstStyle/>
          <a:p>
            <a:pPr indent="-514350" lvl="0" marL="914400" marR="0" rtl="0" algn="l">
              <a:lnSpc>
                <a:spcPct val="100000"/>
              </a:lnSpc>
              <a:spcBef>
                <a:spcPts val="0"/>
              </a:spcBef>
              <a:spcAft>
                <a:spcPts val="0"/>
              </a:spcAft>
              <a:buClr>
                <a:srgbClr val="1B786F"/>
              </a:buClr>
              <a:buSzPts val="4500"/>
              <a:buFont typeface="EB Garamond"/>
              <a:buChar char="❏"/>
            </a:pPr>
            <a:r>
              <a:rPr b="1" lang="en-US" sz="4500" u="sng">
                <a:solidFill>
                  <a:srgbClr val="1B786F"/>
                </a:solidFill>
                <a:latin typeface="EB Garamond"/>
                <a:ea typeface="EB Garamond"/>
                <a:cs typeface="EB Garamond"/>
                <a:sym typeface="EB Garamond"/>
              </a:rPr>
              <a:t>Working overview</a:t>
            </a:r>
            <a:r>
              <a:rPr b="1" i="0" lang="en-US" sz="4500" u="none" cap="none" strike="noStrike">
                <a:solidFill>
                  <a:srgbClr val="1B786F"/>
                </a:solidFill>
                <a:latin typeface="EB Garamond"/>
                <a:ea typeface="EB Garamond"/>
                <a:cs typeface="EB Garamond"/>
                <a:sym typeface="EB Garamond"/>
              </a:rPr>
              <a:t> :- </a:t>
            </a:r>
            <a:endParaRPr b="1" i="0" sz="4500" u="none" cap="none" strike="noStrike">
              <a:solidFill>
                <a:srgbClr val="1B786F"/>
              </a:solidFill>
              <a:latin typeface="EB Garamond"/>
              <a:ea typeface="EB Garamond"/>
              <a:cs typeface="EB Garamond"/>
              <a:sym typeface="EB Garamond"/>
            </a:endParaRPr>
          </a:p>
        </p:txBody>
      </p:sp>
      <p:pic>
        <p:nvPicPr>
          <p:cNvPr id="143" name="Google Shape;143;p6" title="download.jpeg"/>
          <p:cNvPicPr preferRelativeResize="0"/>
          <p:nvPr/>
        </p:nvPicPr>
        <p:blipFill rotWithShape="1">
          <a:blip r:embed="rId3">
            <a:alphaModFix/>
          </a:blip>
          <a:srcRect b="16791" l="14315" r="14358" t="6497"/>
          <a:stretch/>
        </p:blipFill>
        <p:spPr>
          <a:xfrm>
            <a:off x="11290059" y="109862"/>
            <a:ext cx="840225" cy="903625"/>
          </a:xfrm>
          <a:prstGeom prst="rect">
            <a:avLst/>
          </a:prstGeom>
          <a:noFill/>
          <a:ln>
            <a:noFill/>
          </a:ln>
        </p:spPr>
      </p:pic>
      <p:sp>
        <p:nvSpPr>
          <p:cNvPr id="144" name="Google Shape;144;p6"/>
          <p:cNvSpPr/>
          <p:nvPr/>
        </p:nvSpPr>
        <p:spPr>
          <a:xfrm>
            <a:off x="0" y="14283"/>
            <a:ext cx="360300" cy="6858000"/>
          </a:xfrm>
          <a:prstGeom prst="rect">
            <a:avLst/>
          </a:prstGeom>
          <a:solidFill>
            <a:srgbClr val="1B786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B786F"/>
              </a:solidFill>
              <a:latin typeface="Calibri"/>
              <a:ea typeface="Calibri"/>
              <a:cs typeface="Calibri"/>
              <a:sym typeface="Calibri"/>
            </a:endParaRPr>
          </a:p>
        </p:txBody>
      </p:sp>
      <p:sp>
        <p:nvSpPr>
          <p:cNvPr id="145" name="Google Shape;145;p6"/>
          <p:cNvSpPr txBox="1"/>
          <p:nvPr/>
        </p:nvSpPr>
        <p:spPr>
          <a:xfrm>
            <a:off x="897425" y="1284450"/>
            <a:ext cx="9186000" cy="1503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900"/>
              <a:buFont typeface="Arial"/>
              <a:buNone/>
            </a:pPr>
            <a:r>
              <a:rPr b="1" lang="en-US" sz="2000" u="sng">
                <a:solidFill>
                  <a:srgbClr val="06080A"/>
                </a:solidFill>
              </a:rPr>
              <a:t>Image Upload and model selection</a:t>
            </a:r>
            <a:r>
              <a:rPr b="1" i="0" lang="en-US" sz="2000" u="sng" cap="none" strike="noStrike">
                <a:solidFill>
                  <a:srgbClr val="06080A"/>
                </a:solidFill>
                <a:latin typeface="Arial"/>
                <a:ea typeface="Arial"/>
                <a:cs typeface="Arial"/>
                <a:sym typeface="Arial"/>
              </a:rPr>
              <a:t>: </a:t>
            </a:r>
            <a:endParaRPr b="1" i="0" sz="2000" u="sng" cap="none" strike="noStrike">
              <a:solidFill>
                <a:srgbClr val="06080A"/>
              </a:solidFill>
              <a:latin typeface="Arial"/>
              <a:ea typeface="Arial"/>
              <a:cs typeface="Arial"/>
              <a:sym typeface="Arial"/>
            </a:endParaRPr>
          </a:p>
          <a:p>
            <a:pPr indent="-349250" lvl="0" marL="457200" marR="0" rtl="0" algn="l">
              <a:lnSpc>
                <a:spcPct val="115000"/>
              </a:lnSpc>
              <a:spcBef>
                <a:spcPts val="0"/>
              </a:spcBef>
              <a:spcAft>
                <a:spcPts val="0"/>
              </a:spcAft>
              <a:buClr>
                <a:schemeClr val="dk1"/>
              </a:buClr>
              <a:buSzPts val="1900"/>
              <a:buFont typeface="Arial"/>
              <a:buChar char="●"/>
            </a:pPr>
            <a:r>
              <a:rPr lang="en-US" sz="1900">
                <a:solidFill>
                  <a:schemeClr val="dk1"/>
                </a:solidFill>
              </a:rPr>
              <a:t>Our gradio based UI gives an option to the user to upload the desired image</a:t>
            </a:r>
            <a:endParaRPr b="0" i="0" sz="1900" u="none" cap="none" strike="noStrike">
              <a:solidFill>
                <a:schemeClr val="dk1"/>
              </a:solidFill>
              <a:latin typeface="Arial"/>
              <a:ea typeface="Arial"/>
              <a:cs typeface="Arial"/>
              <a:sym typeface="Arial"/>
            </a:endParaRPr>
          </a:p>
          <a:p>
            <a:pPr indent="-349250" lvl="0" marL="457200" marR="0" rtl="0" algn="l">
              <a:lnSpc>
                <a:spcPct val="115000"/>
              </a:lnSpc>
              <a:spcBef>
                <a:spcPts val="0"/>
              </a:spcBef>
              <a:spcAft>
                <a:spcPts val="0"/>
              </a:spcAft>
              <a:buClr>
                <a:schemeClr val="dk1"/>
              </a:buClr>
              <a:buSzPts val="1900"/>
              <a:buFont typeface="Arial"/>
              <a:buChar char="●"/>
            </a:pPr>
            <a:r>
              <a:rPr lang="en-US" sz="1900">
                <a:solidFill>
                  <a:schemeClr val="dk1"/>
                </a:solidFill>
              </a:rPr>
              <a:t>Thereafter, user can select the preferred model. VIT model and Resnet model are the 2 available options.</a:t>
            </a:r>
            <a:endParaRPr b="0" i="0" sz="2200" u="none" cap="none" strike="noStrike">
              <a:solidFill>
                <a:srgbClr val="000000"/>
              </a:solidFill>
              <a:latin typeface="Arial"/>
              <a:ea typeface="Arial"/>
              <a:cs typeface="Arial"/>
              <a:sym typeface="Arial"/>
            </a:endParaRPr>
          </a:p>
        </p:txBody>
      </p:sp>
      <p:sp>
        <p:nvSpPr>
          <p:cNvPr id="146" name="Google Shape;146;p6"/>
          <p:cNvSpPr txBox="1"/>
          <p:nvPr/>
        </p:nvSpPr>
        <p:spPr>
          <a:xfrm>
            <a:off x="901025" y="2735250"/>
            <a:ext cx="9178800" cy="3673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sz="2000" u="sng">
                <a:solidFill>
                  <a:schemeClr val="dk1"/>
                </a:solidFill>
              </a:rPr>
              <a:t>Model call:</a:t>
            </a:r>
            <a:endParaRPr b="1" sz="2000" u="sng">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We have deployed our models on Hugging Face. On selection of the model and image upload, the pipeline comes into act. DeepFake identification takes place detecting the faces.</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lnSpc>
                <a:spcPct val="115000"/>
              </a:lnSpc>
              <a:spcBef>
                <a:spcPts val="0"/>
              </a:spcBef>
              <a:spcAft>
                <a:spcPts val="0"/>
              </a:spcAft>
              <a:buNone/>
            </a:pPr>
            <a:r>
              <a:rPr b="1" lang="en-US" sz="2000" u="sng">
                <a:solidFill>
                  <a:schemeClr val="dk1"/>
                </a:solidFill>
              </a:rPr>
              <a:t>Output Generation: </a:t>
            </a:r>
            <a:endParaRPr b="1" sz="2000" u="sng">
              <a:solidFill>
                <a:schemeClr val="dk1"/>
              </a:solidFill>
            </a:endParaRPr>
          </a:p>
          <a:p>
            <a:pPr indent="-349250" lvl="0" marL="457200" rtl="0" algn="l">
              <a:lnSpc>
                <a:spcPct val="115000"/>
              </a:lnSpc>
              <a:spcBef>
                <a:spcPts val="0"/>
              </a:spcBef>
              <a:spcAft>
                <a:spcPts val="0"/>
              </a:spcAft>
              <a:buClr>
                <a:schemeClr val="dk1"/>
              </a:buClr>
              <a:buSzPts val="1900"/>
              <a:buChar char="●"/>
            </a:pPr>
            <a:r>
              <a:rPr lang="en-US" sz="1900">
                <a:solidFill>
                  <a:schemeClr val="dk1"/>
                </a:solidFill>
              </a:rPr>
              <a:t>The output is shown on the UI along with the detected faces  as “Real” or “Fake”.</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lang="en-US" sz="1900">
                <a:solidFill>
                  <a:schemeClr val="dk1"/>
                </a:solidFill>
              </a:rPr>
              <a:t>Confidence of detection is also shown,  if user has doubt,  user can switch  models.</a:t>
            </a:r>
            <a:endParaRPr sz="19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50" name="Shape 150"/>
        <p:cNvGrpSpPr/>
        <p:nvPr/>
      </p:nvGrpSpPr>
      <p:grpSpPr>
        <a:xfrm>
          <a:off x="0" y="0"/>
          <a:ext cx="0" cy="0"/>
          <a:chOff x="0" y="0"/>
          <a:chExt cx="0" cy="0"/>
        </a:xfrm>
      </p:grpSpPr>
      <p:sp>
        <p:nvSpPr>
          <p:cNvPr id="151" name="Google Shape;151;g3b0c1419701_0_10"/>
          <p:cNvSpPr/>
          <p:nvPr/>
        </p:nvSpPr>
        <p:spPr>
          <a:xfrm>
            <a:off x="5600200" y="3865400"/>
            <a:ext cx="1353300" cy="33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2" name="Google Shape;152;g3b0c1419701_0_10"/>
          <p:cNvSpPr txBox="1"/>
          <p:nvPr/>
        </p:nvSpPr>
        <p:spPr>
          <a:xfrm>
            <a:off x="5646325" y="3896450"/>
            <a:ext cx="1353300" cy="33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dk1"/>
                </a:solidFill>
                <a:latin typeface="Calibri"/>
                <a:ea typeface="Calibri"/>
                <a:cs typeface="Calibri"/>
                <a:sym typeface="Calibri"/>
              </a:rPr>
              <a:t>Hugging Face</a:t>
            </a:r>
            <a:endParaRPr sz="1800">
              <a:solidFill>
                <a:schemeClr val="dk1"/>
              </a:solidFill>
              <a:latin typeface="Calibri"/>
              <a:ea typeface="Calibri"/>
              <a:cs typeface="Calibri"/>
              <a:sym typeface="Calibri"/>
            </a:endParaRPr>
          </a:p>
        </p:txBody>
      </p:sp>
      <p:pic>
        <p:nvPicPr>
          <p:cNvPr id="153" name="Google Shape;153;g3b0c1419701_0_10" title="download.jpeg"/>
          <p:cNvPicPr preferRelativeResize="0"/>
          <p:nvPr/>
        </p:nvPicPr>
        <p:blipFill rotWithShape="1">
          <a:blip r:embed="rId3">
            <a:alphaModFix/>
          </a:blip>
          <a:srcRect b="16791" l="14315" r="14358" t="6497"/>
          <a:stretch/>
        </p:blipFill>
        <p:spPr>
          <a:xfrm>
            <a:off x="11290059" y="109862"/>
            <a:ext cx="840225" cy="903625"/>
          </a:xfrm>
          <a:prstGeom prst="rect">
            <a:avLst/>
          </a:prstGeom>
          <a:noFill/>
          <a:ln>
            <a:noFill/>
          </a:ln>
        </p:spPr>
      </p:pic>
      <p:sp>
        <p:nvSpPr>
          <p:cNvPr id="154" name="Google Shape;154;g3b0c1419701_0_10"/>
          <p:cNvSpPr/>
          <p:nvPr/>
        </p:nvSpPr>
        <p:spPr>
          <a:xfrm>
            <a:off x="0" y="14283"/>
            <a:ext cx="360300" cy="6858000"/>
          </a:xfrm>
          <a:prstGeom prst="rect">
            <a:avLst/>
          </a:prstGeom>
          <a:solidFill>
            <a:srgbClr val="1B786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B786F"/>
              </a:solidFill>
              <a:latin typeface="Calibri"/>
              <a:ea typeface="Calibri"/>
              <a:cs typeface="Calibri"/>
              <a:sym typeface="Calibri"/>
            </a:endParaRPr>
          </a:p>
        </p:txBody>
      </p:sp>
      <p:pic>
        <p:nvPicPr>
          <p:cNvPr id="155" name="Google Shape;155;g3b0c1419701_0_10" title="Gemini_Generated_Image_glpk1yglpk1yglpk.png"/>
          <p:cNvPicPr preferRelativeResize="0"/>
          <p:nvPr/>
        </p:nvPicPr>
        <p:blipFill rotWithShape="1">
          <a:blip r:embed="rId4">
            <a:alphaModFix/>
          </a:blip>
          <a:srcRect b="0" l="4177" r="20276" t="0"/>
          <a:stretch/>
        </p:blipFill>
        <p:spPr>
          <a:xfrm>
            <a:off x="525875" y="135988"/>
            <a:ext cx="9518175" cy="6586024"/>
          </a:xfrm>
          <a:prstGeom prst="rect">
            <a:avLst/>
          </a:prstGeom>
          <a:noFill/>
          <a:ln>
            <a:noFill/>
          </a:ln>
        </p:spPr>
      </p:pic>
      <p:sp>
        <p:nvSpPr>
          <p:cNvPr id="156" name="Google Shape;156;g3b0c1419701_0_10"/>
          <p:cNvSpPr/>
          <p:nvPr/>
        </p:nvSpPr>
        <p:spPr>
          <a:xfrm>
            <a:off x="5552950" y="3896450"/>
            <a:ext cx="1447800" cy="33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7" name="Google Shape;157;g3b0c1419701_0_10"/>
          <p:cNvSpPr txBox="1"/>
          <p:nvPr/>
        </p:nvSpPr>
        <p:spPr>
          <a:xfrm>
            <a:off x="5552950" y="3865400"/>
            <a:ext cx="1699200" cy="338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770"/>
              <a:buNone/>
            </a:pPr>
            <a:r>
              <a:rPr lang="en-US" sz="2060">
                <a:solidFill>
                  <a:schemeClr val="dk1"/>
                </a:solidFill>
                <a:latin typeface="Calibri"/>
                <a:ea typeface="Calibri"/>
                <a:cs typeface="Calibri"/>
                <a:sym typeface="Calibri"/>
              </a:rPr>
              <a:t>Hugging Face</a:t>
            </a:r>
            <a:endParaRPr sz="206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1" name="Shape 161"/>
        <p:cNvGrpSpPr/>
        <p:nvPr/>
      </p:nvGrpSpPr>
      <p:grpSpPr>
        <a:xfrm>
          <a:off x="0" y="0"/>
          <a:ext cx="0" cy="0"/>
          <a:chOff x="0" y="0"/>
          <a:chExt cx="0" cy="0"/>
        </a:xfrm>
      </p:grpSpPr>
      <p:sp>
        <p:nvSpPr>
          <p:cNvPr id="162" name="Google Shape;162;g3b0c1419701_0_21"/>
          <p:cNvSpPr txBox="1"/>
          <p:nvPr/>
        </p:nvSpPr>
        <p:spPr>
          <a:xfrm>
            <a:off x="208852" y="300200"/>
            <a:ext cx="8977200" cy="785100"/>
          </a:xfrm>
          <a:prstGeom prst="rect">
            <a:avLst/>
          </a:prstGeom>
          <a:noFill/>
          <a:ln>
            <a:noFill/>
          </a:ln>
        </p:spPr>
        <p:txBody>
          <a:bodyPr anchorCtr="0" anchor="t" bIns="45700" lIns="91425" spcFirstLastPara="1" rIns="91425" wrap="square" tIns="45700">
            <a:spAutoFit/>
          </a:bodyPr>
          <a:lstStyle/>
          <a:p>
            <a:pPr indent="-514350" lvl="0" marL="914400" marR="0" rtl="0" algn="l">
              <a:lnSpc>
                <a:spcPct val="100000"/>
              </a:lnSpc>
              <a:spcBef>
                <a:spcPts val="0"/>
              </a:spcBef>
              <a:spcAft>
                <a:spcPts val="0"/>
              </a:spcAft>
              <a:buClr>
                <a:srgbClr val="1B786F"/>
              </a:buClr>
              <a:buSzPts val="4500"/>
              <a:buFont typeface="EB Garamond"/>
              <a:buChar char="❏"/>
            </a:pPr>
            <a:r>
              <a:rPr b="1" lang="en-US" sz="4500" u="sng">
                <a:solidFill>
                  <a:srgbClr val="1B786F"/>
                </a:solidFill>
                <a:latin typeface="EB Garamond"/>
                <a:ea typeface="EB Garamond"/>
                <a:cs typeface="EB Garamond"/>
                <a:sym typeface="EB Garamond"/>
              </a:rPr>
              <a:t>User Interface Demonstration</a:t>
            </a:r>
            <a:r>
              <a:rPr b="1" i="0" lang="en-US" sz="4500" u="none" cap="none" strike="noStrike">
                <a:solidFill>
                  <a:srgbClr val="1B786F"/>
                </a:solidFill>
                <a:latin typeface="EB Garamond"/>
                <a:ea typeface="EB Garamond"/>
                <a:cs typeface="EB Garamond"/>
                <a:sym typeface="EB Garamond"/>
              </a:rPr>
              <a:t>:- </a:t>
            </a:r>
            <a:endParaRPr b="1" i="0" sz="4500" u="none" cap="none" strike="noStrike">
              <a:solidFill>
                <a:srgbClr val="1B786F"/>
              </a:solidFill>
              <a:latin typeface="EB Garamond"/>
              <a:ea typeface="EB Garamond"/>
              <a:cs typeface="EB Garamond"/>
              <a:sym typeface="EB Garamond"/>
            </a:endParaRPr>
          </a:p>
        </p:txBody>
      </p:sp>
      <p:pic>
        <p:nvPicPr>
          <p:cNvPr id="163" name="Google Shape;163;g3b0c1419701_0_21" title="download.jpeg"/>
          <p:cNvPicPr preferRelativeResize="0"/>
          <p:nvPr/>
        </p:nvPicPr>
        <p:blipFill rotWithShape="1">
          <a:blip r:embed="rId3">
            <a:alphaModFix/>
          </a:blip>
          <a:srcRect b="16791" l="14315" r="14358" t="6497"/>
          <a:stretch/>
        </p:blipFill>
        <p:spPr>
          <a:xfrm>
            <a:off x="11290059" y="109862"/>
            <a:ext cx="840225" cy="903625"/>
          </a:xfrm>
          <a:prstGeom prst="rect">
            <a:avLst/>
          </a:prstGeom>
          <a:noFill/>
          <a:ln>
            <a:noFill/>
          </a:ln>
        </p:spPr>
      </p:pic>
      <p:sp>
        <p:nvSpPr>
          <p:cNvPr id="164" name="Google Shape;164;g3b0c1419701_0_21"/>
          <p:cNvSpPr/>
          <p:nvPr/>
        </p:nvSpPr>
        <p:spPr>
          <a:xfrm>
            <a:off x="0" y="14283"/>
            <a:ext cx="360300" cy="6858000"/>
          </a:xfrm>
          <a:prstGeom prst="rect">
            <a:avLst/>
          </a:prstGeom>
          <a:solidFill>
            <a:srgbClr val="1B786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B786F"/>
              </a:solidFill>
              <a:latin typeface="Calibri"/>
              <a:ea typeface="Calibri"/>
              <a:cs typeface="Calibri"/>
              <a:sym typeface="Calibri"/>
            </a:endParaRPr>
          </a:p>
        </p:txBody>
      </p:sp>
      <p:pic>
        <p:nvPicPr>
          <p:cNvPr id="165" name="Google Shape;165;g3b0c1419701_0_21" title="WhatsApp Image 2025-12-16 at 12.33.49.jpeg"/>
          <p:cNvPicPr preferRelativeResize="0"/>
          <p:nvPr/>
        </p:nvPicPr>
        <p:blipFill rotWithShape="1">
          <a:blip r:embed="rId4">
            <a:alphaModFix/>
          </a:blip>
          <a:srcRect b="0" l="0" r="0" t="3372"/>
          <a:stretch/>
        </p:blipFill>
        <p:spPr>
          <a:xfrm>
            <a:off x="1492775" y="1205125"/>
            <a:ext cx="4360250" cy="5283549"/>
          </a:xfrm>
          <a:prstGeom prst="rect">
            <a:avLst/>
          </a:prstGeom>
          <a:noFill/>
          <a:ln>
            <a:noFill/>
          </a:ln>
        </p:spPr>
      </p:pic>
      <p:pic>
        <p:nvPicPr>
          <p:cNvPr id="166" name="Google Shape;166;g3b0c1419701_0_21" title="WhatsApp Image 2025-12-16 at 12.33.48.jpeg"/>
          <p:cNvPicPr preferRelativeResize="0"/>
          <p:nvPr/>
        </p:nvPicPr>
        <p:blipFill rotWithShape="1">
          <a:blip r:embed="rId5">
            <a:alphaModFix/>
          </a:blip>
          <a:srcRect b="0" l="0" r="0" t="3372"/>
          <a:stretch/>
        </p:blipFill>
        <p:spPr>
          <a:xfrm>
            <a:off x="6383950" y="1205125"/>
            <a:ext cx="4360250" cy="52835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0" name="Shape 170"/>
        <p:cNvGrpSpPr/>
        <p:nvPr/>
      </p:nvGrpSpPr>
      <p:grpSpPr>
        <a:xfrm>
          <a:off x="0" y="0"/>
          <a:ext cx="0" cy="0"/>
          <a:chOff x="0" y="0"/>
          <a:chExt cx="0" cy="0"/>
        </a:xfrm>
      </p:grpSpPr>
      <p:sp>
        <p:nvSpPr>
          <p:cNvPr id="171" name="Google Shape;171;g3b0c1419701_0_39"/>
          <p:cNvSpPr txBox="1"/>
          <p:nvPr/>
        </p:nvSpPr>
        <p:spPr>
          <a:xfrm>
            <a:off x="208852" y="300200"/>
            <a:ext cx="8977200" cy="785100"/>
          </a:xfrm>
          <a:prstGeom prst="rect">
            <a:avLst/>
          </a:prstGeom>
          <a:noFill/>
          <a:ln>
            <a:noFill/>
          </a:ln>
        </p:spPr>
        <p:txBody>
          <a:bodyPr anchorCtr="0" anchor="t" bIns="45700" lIns="91425" spcFirstLastPara="1" rIns="91425" wrap="square" tIns="45700">
            <a:spAutoFit/>
          </a:bodyPr>
          <a:lstStyle/>
          <a:p>
            <a:pPr indent="-514350" lvl="0" marL="914400" marR="0" rtl="0" algn="l">
              <a:lnSpc>
                <a:spcPct val="100000"/>
              </a:lnSpc>
              <a:spcBef>
                <a:spcPts val="0"/>
              </a:spcBef>
              <a:spcAft>
                <a:spcPts val="0"/>
              </a:spcAft>
              <a:buClr>
                <a:srgbClr val="1B786F"/>
              </a:buClr>
              <a:buSzPts val="4500"/>
              <a:buFont typeface="EB Garamond"/>
              <a:buChar char="❏"/>
            </a:pPr>
            <a:r>
              <a:rPr b="1" lang="en-US" sz="4500" u="sng">
                <a:solidFill>
                  <a:srgbClr val="1B786F"/>
                </a:solidFill>
                <a:latin typeface="EB Garamond"/>
                <a:ea typeface="EB Garamond"/>
                <a:cs typeface="EB Garamond"/>
                <a:sym typeface="EB Garamond"/>
              </a:rPr>
              <a:t>User Interface Demonstration</a:t>
            </a:r>
            <a:r>
              <a:rPr b="1" i="0" lang="en-US" sz="4500" u="none" cap="none" strike="noStrike">
                <a:solidFill>
                  <a:srgbClr val="1B786F"/>
                </a:solidFill>
                <a:latin typeface="EB Garamond"/>
                <a:ea typeface="EB Garamond"/>
                <a:cs typeface="EB Garamond"/>
                <a:sym typeface="EB Garamond"/>
              </a:rPr>
              <a:t>:- </a:t>
            </a:r>
            <a:endParaRPr b="1" i="0" sz="4500" u="none" cap="none" strike="noStrike">
              <a:solidFill>
                <a:srgbClr val="1B786F"/>
              </a:solidFill>
              <a:latin typeface="EB Garamond"/>
              <a:ea typeface="EB Garamond"/>
              <a:cs typeface="EB Garamond"/>
              <a:sym typeface="EB Garamond"/>
            </a:endParaRPr>
          </a:p>
        </p:txBody>
      </p:sp>
      <p:pic>
        <p:nvPicPr>
          <p:cNvPr id="172" name="Google Shape;172;g3b0c1419701_0_39" title="download.jpeg"/>
          <p:cNvPicPr preferRelativeResize="0"/>
          <p:nvPr/>
        </p:nvPicPr>
        <p:blipFill rotWithShape="1">
          <a:blip r:embed="rId3">
            <a:alphaModFix/>
          </a:blip>
          <a:srcRect b="16791" l="14315" r="14358" t="6497"/>
          <a:stretch/>
        </p:blipFill>
        <p:spPr>
          <a:xfrm>
            <a:off x="11290059" y="109862"/>
            <a:ext cx="840225" cy="903625"/>
          </a:xfrm>
          <a:prstGeom prst="rect">
            <a:avLst/>
          </a:prstGeom>
          <a:noFill/>
          <a:ln>
            <a:noFill/>
          </a:ln>
        </p:spPr>
      </p:pic>
      <p:sp>
        <p:nvSpPr>
          <p:cNvPr id="173" name="Google Shape;173;g3b0c1419701_0_39"/>
          <p:cNvSpPr/>
          <p:nvPr/>
        </p:nvSpPr>
        <p:spPr>
          <a:xfrm>
            <a:off x="0" y="14283"/>
            <a:ext cx="360300" cy="6858000"/>
          </a:xfrm>
          <a:prstGeom prst="rect">
            <a:avLst/>
          </a:prstGeom>
          <a:solidFill>
            <a:srgbClr val="1B786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B786F"/>
              </a:solidFill>
              <a:latin typeface="Calibri"/>
              <a:ea typeface="Calibri"/>
              <a:cs typeface="Calibri"/>
              <a:sym typeface="Calibri"/>
            </a:endParaRPr>
          </a:p>
        </p:txBody>
      </p:sp>
      <p:pic>
        <p:nvPicPr>
          <p:cNvPr id="174" name="Google Shape;174;g3b0c1419701_0_39" title="WhatsApp Image 2025-12-16 at 12.33.47.jpeg"/>
          <p:cNvPicPr preferRelativeResize="0"/>
          <p:nvPr/>
        </p:nvPicPr>
        <p:blipFill rotWithShape="1">
          <a:blip r:embed="rId4">
            <a:alphaModFix/>
          </a:blip>
          <a:srcRect b="0" l="0" r="0" t="3063"/>
          <a:stretch/>
        </p:blipFill>
        <p:spPr>
          <a:xfrm>
            <a:off x="1448475" y="1188500"/>
            <a:ext cx="4428825" cy="5300176"/>
          </a:xfrm>
          <a:prstGeom prst="rect">
            <a:avLst/>
          </a:prstGeom>
          <a:noFill/>
          <a:ln>
            <a:noFill/>
          </a:ln>
        </p:spPr>
      </p:pic>
      <p:pic>
        <p:nvPicPr>
          <p:cNvPr id="175" name="Google Shape;175;g3b0c1419701_0_39" title="WhatsApp Image 2025-12-16 at 12.33.46.jpeg"/>
          <p:cNvPicPr preferRelativeResize="0"/>
          <p:nvPr/>
        </p:nvPicPr>
        <p:blipFill rotWithShape="1">
          <a:blip r:embed="rId5">
            <a:alphaModFix/>
          </a:blip>
          <a:srcRect b="0" l="0" r="0" t="3063"/>
          <a:stretch/>
        </p:blipFill>
        <p:spPr>
          <a:xfrm>
            <a:off x="6645475" y="1188500"/>
            <a:ext cx="4428825" cy="53001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9" name="Shape 179"/>
        <p:cNvGrpSpPr/>
        <p:nvPr/>
      </p:nvGrpSpPr>
      <p:grpSpPr>
        <a:xfrm>
          <a:off x="0" y="0"/>
          <a:ext cx="0" cy="0"/>
          <a:chOff x="0" y="0"/>
          <a:chExt cx="0" cy="0"/>
        </a:xfrm>
      </p:grpSpPr>
      <p:sp>
        <p:nvSpPr>
          <p:cNvPr id="180" name="Google Shape;180;g39f43ad522c_1_46"/>
          <p:cNvSpPr txBox="1"/>
          <p:nvPr/>
        </p:nvSpPr>
        <p:spPr>
          <a:xfrm>
            <a:off x="208852" y="300200"/>
            <a:ext cx="8977200" cy="785100"/>
          </a:xfrm>
          <a:prstGeom prst="rect">
            <a:avLst/>
          </a:prstGeom>
          <a:noFill/>
          <a:ln>
            <a:noFill/>
          </a:ln>
        </p:spPr>
        <p:txBody>
          <a:bodyPr anchorCtr="0" anchor="t" bIns="45700" lIns="91425" spcFirstLastPara="1" rIns="91425" wrap="square" tIns="45700">
            <a:spAutoFit/>
          </a:bodyPr>
          <a:lstStyle/>
          <a:p>
            <a:pPr indent="-514350" lvl="0" marL="914400" marR="0" rtl="0" algn="l">
              <a:lnSpc>
                <a:spcPct val="100000"/>
              </a:lnSpc>
              <a:spcBef>
                <a:spcPts val="0"/>
              </a:spcBef>
              <a:spcAft>
                <a:spcPts val="0"/>
              </a:spcAft>
              <a:buClr>
                <a:srgbClr val="1B786F"/>
              </a:buClr>
              <a:buSzPts val="4500"/>
              <a:buFont typeface="EB Garamond"/>
              <a:buChar char="❏"/>
            </a:pPr>
            <a:r>
              <a:rPr b="1" lang="en-US" sz="4500" u="sng">
                <a:solidFill>
                  <a:srgbClr val="1B786F"/>
                </a:solidFill>
                <a:latin typeface="EB Garamond"/>
                <a:ea typeface="EB Garamond"/>
                <a:cs typeface="EB Garamond"/>
                <a:sym typeface="EB Garamond"/>
              </a:rPr>
              <a:t>Output Overview</a:t>
            </a:r>
            <a:r>
              <a:rPr b="1" i="0" lang="en-US" sz="4500" u="none" cap="none" strike="noStrike">
                <a:solidFill>
                  <a:srgbClr val="1B786F"/>
                </a:solidFill>
                <a:latin typeface="EB Garamond"/>
                <a:ea typeface="EB Garamond"/>
                <a:cs typeface="EB Garamond"/>
                <a:sym typeface="EB Garamond"/>
              </a:rPr>
              <a:t> :- </a:t>
            </a:r>
            <a:endParaRPr b="1" i="0" sz="4500" u="none" cap="none" strike="noStrike">
              <a:solidFill>
                <a:srgbClr val="1B786F"/>
              </a:solidFill>
              <a:latin typeface="EB Garamond"/>
              <a:ea typeface="EB Garamond"/>
              <a:cs typeface="EB Garamond"/>
              <a:sym typeface="EB Garamond"/>
            </a:endParaRPr>
          </a:p>
        </p:txBody>
      </p:sp>
      <p:pic>
        <p:nvPicPr>
          <p:cNvPr id="181" name="Google Shape;181;g39f43ad522c_1_46" title="download.jpeg"/>
          <p:cNvPicPr preferRelativeResize="0"/>
          <p:nvPr/>
        </p:nvPicPr>
        <p:blipFill rotWithShape="1">
          <a:blip r:embed="rId3">
            <a:alphaModFix/>
          </a:blip>
          <a:srcRect b="16791" l="14315" r="14358" t="6497"/>
          <a:stretch/>
        </p:blipFill>
        <p:spPr>
          <a:xfrm>
            <a:off x="11290059" y="109862"/>
            <a:ext cx="840225" cy="903625"/>
          </a:xfrm>
          <a:prstGeom prst="rect">
            <a:avLst/>
          </a:prstGeom>
          <a:noFill/>
          <a:ln>
            <a:noFill/>
          </a:ln>
        </p:spPr>
      </p:pic>
      <p:sp>
        <p:nvSpPr>
          <p:cNvPr id="182" name="Google Shape;182;g39f43ad522c_1_46"/>
          <p:cNvSpPr/>
          <p:nvPr/>
        </p:nvSpPr>
        <p:spPr>
          <a:xfrm>
            <a:off x="0" y="25"/>
            <a:ext cx="360300" cy="6858000"/>
          </a:xfrm>
          <a:prstGeom prst="rect">
            <a:avLst/>
          </a:prstGeom>
          <a:solidFill>
            <a:srgbClr val="1B786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B786F"/>
              </a:solidFill>
              <a:latin typeface="Calibri"/>
              <a:ea typeface="Calibri"/>
              <a:cs typeface="Calibri"/>
              <a:sym typeface="Calibri"/>
            </a:endParaRPr>
          </a:p>
        </p:txBody>
      </p:sp>
      <p:pic>
        <p:nvPicPr>
          <p:cNvPr id="183" name="Google Shape;183;g39f43ad522c_1_46"/>
          <p:cNvPicPr preferRelativeResize="0"/>
          <p:nvPr/>
        </p:nvPicPr>
        <p:blipFill rotWithShape="1">
          <a:blip r:embed="rId4">
            <a:alphaModFix/>
          </a:blip>
          <a:srcRect b="0" l="28062" r="0" t="0"/>
          <a:stretch/>
        </p:blipFill>
        <p:spPr>
          <a:xfrm>
            <a:off x="486825" y="1801352"/>
            <a:ext cx="5367351" cy="4921049"/>
          </a:xfrm>
          <a:prstGeom prst="rect">
            <a:avLst/>
          </a:prstGeom>
          <a:noFill/>
          <a:ln>
            <a:noFill/>
          </a:ln>
        </p:spPr>
      </p:pic>
      <p:sp>
        <p:nvSpPr>
          <p:cNvPr id="184" name="Google Shape;184;g39f43ad522c_1_46"/>
          <p:cNvSpPr txBox="1"/>
          <p:nvPr/>
        </p:nvSpPr>
        <p:spPr>
          <a:xfrm>
            <a:off x="713575" y="1168825"/>
            <a:ext cx="4875600" cy="54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00">
                <a:solidFill>
                  <a:schemeClr val="dk1"/>
                </a:solidFill>
                <a:latin typeface="Calibri"/>
                <a:ea typeface="Calibri"/>
                <a:cs typeface="Calibri"/>
                <a:sym typeface="Calibri"/>
              </a:rPr>
              <a:t>Example Output for single person image</a:t>
            </a:r>
            <a:endParaRPr b="1" sz="2200">
              <a:solidFill>
                <a:schemeClr val="dk1"/>
              </a:solidFill>
              <a:latin typeface="Calibri"/>
              <a:ea typeface="Calibri"/>
              <a:cs typeface="Calibri"/>
              <a:sym typeface="Calibri"/>
            </a:endParaRPr>
          </a:p>
        </p:txBody>
      </p:sp>
      <p:sp>
        <p:nvSpPr>
          <p:cNvPr id="185" name="Google Shape;185;g39f43ad522c_1_46"/>
          <p:cNvSpPr txBox="1"/>
          <p:nvPr/>
        </p:nvSpPr>
        <p:spPr>
          <a:xfrm>
            <a:off x="6363963" y="1216675"/>
            <a:ext cx="4649400" cy="42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300">
                <a:solidFill>
                  <a:schemeClr val="dk1"/>
                </a:solidFill>
                <a:latin typeface="Calibri"/>
                <a:ea typeface="Calibri"/>
                <a:cs typeface="Calibri"/>
                <a:sym typeface="Calibri"/>
              </a:rPr>
              <a:t>Example Output for multiple Faces</a:t>
            </a:r>
            <a:endParaRPr b="1" sz="2300">
              <a:solidFill>
                <a:schemeClr val="dk1"/>
              </a:solidFill>
              <a:latin typeface="Calibri"/>
              <a:ea typeface="Calibri"/>
              <a:cs typeface="Calibri"/>
              <a:sym typeface="Calibri"/>
            </a:endParaRPr>
          </a:p>
        </p:txBody>
      </p:sp>
      <p:pic>
        <p:nvPicPr>
          <p:cNvPr id="186" name="Google Shape;186;g39f43ad522c_1_46"/>
          <p:cNvPicPr preferRelativeResize="0"/>
          <p:nvPr/>
        </p:nvPicPr>
        <p:blipFill>
          <a:blip r:embed="rId5">
            <a:alphaModFix/>
          </a:blip>
          <a:stretch>
            <a:fillRect/>
          </a:stretch>
        </p:blipFill>
        <p:spPr>
          <a:xfrm>
            <a:off x="6283275" y="1768050"/>
            <a:ext cx="5001914" cy="49876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3b03e64b31b_0_10"/>
          <p:cNvSpPr txBox="1"/>
          <p:nvPr/>
        </p:nvSpPr>
        <p:spPr>
          <a:xfrm>
            <a:off x="10808708" y="6388401"/>
            <a:ext cx="1383300" cy="323400"/>
          </a:xfrm>
          <a:prstGeom prst="rect">
            <a:avLst/>
          </a:prstGeom>
          <a:noFill/>
          <a:ln>
            <a:noFill/>
          </a:ln>
        </p:spPr>
        <p:txBody>
          <a:bodyPr anchorCtr="0" anchor="t" bIns="43675" lIns="87350" spcFirstLastPara="1" rIns="87350" wrap="square" tIns="43675">
            <a:spAutoFit/>
          </a:bodyPr>
          <a:lstStyle/>
          <a:p>
            <a:pPr indent="0" lvl="0" marL="873640" marR="0" rtl="0" algn="l">
              <a:lnSpc>
                <a:spcPct val="100000"/>
              </a:lnSpc>
              <a:spcBef>
                <a:spcPts val="0"/>
              </a:spcBef>
              <a:spcAft>
                <a:spcPts val="0"/>
              </a:spcAft>
              <a:buClr>
                <a:srgbClr val="000000"/>
              </a:buClr>
              <a:buSzPts val="1720"/>
              <a:buFont typeface="Arial"/>
              <a:buNone/>
            </a:pPr>
            <a:r>
              <a:rPr b="0" i="0" lang="en-US" sz="1528" u="none" cap="none" strike="noStrike">
                <a:solidFill>
                  <a:schemeClr val="lt1"/>
                </a:solidFill>
                <a:latin typeface="EB Garamond"/>
                <a:ea typeface="EB Garamond"/>
                <a:cs typeface="EB Garamond"/>
                <a:sym typeface="EB Garamond"/>
              </a:rPr>
              <a:t>08</a:t>
            </a:r>
            <a:endParaRPr b="0" i="0" sz="1528" u="none" cap="none" strike="noStrike">
              <a:solidFill>
                <a:schemeClr val="lt1"/>
              </a:solidFill>
              <a:latin typeface="EB Garamond"/>
              <a:ea typeface="EB Garamond"/>
              <a:cs typeface="EB Garamond"/>
              <a:sym typeface="EB Garamond"/>
            </a:endParaRPr>
          </a:p>
        </p:txBody>
      </p:sp>
      <p:sp>
        <p:nvSpPr>
          <p:cNvPr id="193" name="Google Shape;193;g3b03e64b31b_0_10"/>
          <p:cNvSpPr txBox="1"/>
          <p:nvPr/>
        </p:nvSpPr>
        <p:spPr>
          <a:xfrm>
            <a:off x="360300" y="297327"/>
            <a:ext cx="9634800" cy="785100"/>
          </a:xfrm>
          <a:prstGeom prst="rect">
            <a:avLst/>
          </a:prstGeom>
          <a:noFill/>
          <a:ln>
            <a:noFill/>
          </a:ln>
        </p:spPr>
        <p:txBody>
          <a:bodyPr anchorCtr="0" anchor="t" bIns="45700" lIns="91425" spcFirstLastPara="1" rIns="91425" wrap="square" tIns="45700">
            <a:spAutoFit/>
          </a:bodyPr>
          <a:lstStyle/>
          <a:p>
            <a:pPr indent="-514350" lvl="0" marL="914400" marR="0" rtl="0" algn="l">
              <a:lnSpc>
                <a:spcPct val="100000"/>
              </a:lnSpc>
              <a:spcBef>
                <a:spcPts val="0"/>
              </a:spcBef>
              <a:spcAft>
                <a:spcPts val="0"/>
              </a:spcAft>
              <a:buClr>
                <a:srgbClr val="1B786F"/>
              </a:buClr>
              <a:buSzPts val="4500"/>
              <a:buFont typeface="EB Garamond"/>
              <a:buChar char="❏"/>
            </a:pPr>
            <a:r>
              <a:rPr b="1" lang="en-US" sz="4500" u="sng">
                <a:solidFill>
                  <a:srgbClr val="1B786F"/>
                </a:solidFill>
                <a:latin typeface="EB Garamond"/>
                <a:ea typeface="EB Garamond"/>
                <a:cs typeface="EB Garamond"/>
                <a:sym typeface="EB Garamond"/>
              </a:rPr>
              <a:t>Model Deployment Status</a:t>
            </a:r>
            <a:r>
              <a:rPr b="1" i="0" lang="en-US" sz="4500" u="sng" cap="none" strike="noStrike">
                <a:solidFill>
                  <a:srgbClr val="1B786F"/>
                </a:solidFill>
                <a:latin typeface="EB Garamond"/>
                <a:ea typeface="EB Garamond"/>
                <a:cs typeface="EB Garamond"/>
                <a:sym typeface="EB Garamond"/>
              </a:rPr>
              <a:t> </a:t>
            </a:r>
            <a:r>
              <a:rPr b="1" i="0" lang="en-US" sz="4500" u="none" cap="none" strike="noStrike">
                <a:solidFill>
                  <a:srgbClr val="1B786F"/>
                </a:solidFill>
                <a:latin typeface="EB Garamond"/>
                <a:ea typeface="EB Garamond"/>
                <a:cs typeface="EB Garamond"/>
                <a:sym typeface="EB Garamond"/>
              </a:rPr>
              <a:t>:- </a:t>
            </a:r>
            <a:endParaRPr b="1" i="0" sz="4500" u="none" cap="none" strike="noStrike">
              <a:solidFill>
                <a:srgbClr val="1B786F"/>
              </a:solidFill>
              <a:latin typeface="EB Garamond"/>
              <a:ea typeface="EB Garamond"/>
              <a:cs typeface="EB Garamond"/>
              <a:sym typeface="EB Garamond"/>
            </a:endParaRPr>
          </a:p>
        </p:txBody>
      </p:sp>
      <p:pic>
        <p:nvPicPr>
          <p:cNvPr id="194" name="Google Shape;194;g3b03e64b31b_0_10" title="download.jpeg"/>
          <p:cNvPicPr preferRelativeResize="0"/>
          <p:nvPr/>
        </p:nvPicPr>
        <p:blipFill rotWithShape="1">
          <a:blip r:embed="rId3">
            <a:alphaModFix/>
          </a:blip>
          <a:srcRect b="16791" l="14315" r="14358" t="6497"/>
          <a:stretch/>
        </p:blipFill>
        <p:spPr>
          <a:xfrm>
            <a:off x="11290059" y="109862"/>
            <a:ext cx="840225" cy="903625"/>
          </a:xfrm>
          <a:prstGeom prst="rect">
            <a:avLst/>
          </a:prstGeom>
          <a:noFill/>
          <a:ln>
            <a:noFill/>
          </a:ln>
        </p:spPr>
      </p:pic>
      <p:sp>
        <p:nvSpPr>
          <p:cNvPr id="195" name="Google Shape;195;g3b03e64b31b_0_10"/>
          <p:cNvSpPr/>
          <p:nvPr/>
        </p:nvSpPr>
        <p:spPr>
          <a:xfrm>
            <a:off x="0" y="25"/>
            <a:ext cx="360300" cy="6858000"/>
          </a:xfrm>
          <a:prstGeom prst="rect">
            <a:avLst/>
          </a:prstGeom>
          <a:solidFill>
            <a:srgbClr val="1B786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B786F"/>
              </a:solidFill>
              <a:latin typeface="Calibri"/>
              <a:ea typeface="Calibri"/>
              <a:cs typeface="Calibri"/>
              <a:sym typeface="Calibri"/>
            </a:endParaRPr>
          </a:p>
        </p:txBody>
      </p:sp>
      <p:sp>
        <p:nvSpPr>
          <p:cNvPr id="196" name="Google Shape;196;g3b03e64b31b_0_10"/>
          <p:cNvSpPr txBox="1"/>
          <p:nvPr/>
        </p:nvSpPr>
        <p:spPr>
          <a:xfrm>
            <a:off x="737350" y="1224750"/>
            <a:ext cx="11076000" cy="5057100"/>
          </a:xfrm>
          <a:prstGeom prst="rect">
            <a:avLst/>
          </a:prstGeom>
          <a:noFill/>
          <a:ln>
            <a:noFill/>
          </a:ln>
        </p:spPr>
        <p:txBody>
          <a:bodyPr anchorCtr="0" anchor="t" bIns="91425" lIns="91425" spcFirstLastPara="1" rIns="91425" wrap="square" tIns="91425">
            <a:noAutofit/>
          </a:bodyPr>
          <a:lstStyle/>
          <a:p>
            <a:pPr indent="-361950" lvl="0" marL="457200" rtl="0" algn="l">
              <a:lnSpc>
                <a:spcPct val="115000"/>
              </a:lnSpc>
              <a:spcBef>
                <a:spcPts val="0"/>
              </a:spcBef>
              <a:spcAft>
                <a:spcPts val="0"/>
              </a:spcAft>
              <a:buClr>
                <a:schemeClr val="dk1"/>
              </a:buClr>
              <a:buSzPts val="2100"/>
              <a:buFont typeface="Calibri"/>
              <a:buChar char="●"/>
            </a:pPr>
            <a:r>
              <a:rPr lang="en-US" sz="2100">
                <a:solidFill>
                  <a:schemeClr val="dk1"/>
                </a:solidFill>
                <a:latin typeface="Calibri"/>
                <a:ea typeface="Calibri"/>
                <a:cs typeface="Calibri"/>
                <a:sym typeface="Calibri"/>
              </a:rPr>
              <a:t>We have deployed both of our Resnet model an VIT model . </a:t>
            </a:r>
            <a:endParaRPr sz="2100">
              <a:solidFill>
                <a:schemeClr val="dk1"/>
              </a:solidFill>
              <a:latin typeface="Calibri"/>
              <a:ea typeface="Calibri"/>
              <a:cs typeface="Calibri"/>
              <a:sym typeface="Calibri"/>
            </a:endParaRPr>
          </a:p>
          <a:p>
            <a:pPr indent="-361950" lvl="0" marL="457200" rtl="0" algn="l">
              <a:lnSpc>
                <a:spcPct val="115000"/>
              </a:lnSpc>
              <a:spcBef>
                <a:spcPts val="0"/>
              </a:spcBef>
              <a:spcAft>
                <a:spcPts val="0"/>
              </a:spcAft>
              <a:buClr>
                <a:schemeClr val="dk1"/>
              </a:buClr>
              <a:buSzPts val="2100"/>
              <a:buFont typeface="Calibri"/>
              <a:buChar char="●"/>
            </a:pPr>
            <a:r>
              <a:rPr lang="en-US" sz="2100">
                <a:solidFill>
                  <a:schemeClr val="dk1"/>
                </a:solidFill>
                <a:latin typeface="Calibri"/>
                <a:ea typeface="Calibri"/>
                <a:cs typeface="Calibri"/>
                <a:sym typeface="Calibri"/>
              </a:rPr>
              <a:t>We have deployed them on </a:t>
            </a:r>
            <a:r>
              <a:rPr lang="en-US" sz="2100">
                <a:solidFill>
                  <a:schemeClr val="dk1"/>
                </a:solidFill>
                <a:latin typeface="Calibri"/>
                <a:ea typeface="Calibri"/>
                <a:cs typeface="Calibri"/>
                <a:sym typeface="Calibri"/>
              </a:rPr>
              <a:t>Hugging Face</a:t>
            </a:r>
            <a:r>
              <a:rPr lang="en-US" sz="2100">
                <a:solidFill>
                  <a:schemeClr val="dk1"/>
                </a:solidFill>
                <a:latin typeface="Calibri"/>
                <a:ea typeface="Calibri"/>
                <a:cs typeface="Calibri"/>
                <a:sym typeface="Calibri"/>
              </a:rPr>
              <a:t> cloud platform, and running successfully. </a:t>
            </a:r>
            <a:endParaRPr sz="2100">
              <a:solidFill>
                <a:schemeClr val="dk1"/>
              </a:solidFill>
              <a:latin typeface="Calibri"/>
              <a:ea typeface="Calibri"/>
              <a:cs typeface="Calibri"/>
              <a:sym typeface="Calibri"/>
            </a:endParaRPr>
          </a:p>
          <a:p>
            <a:pPr indent="-361950" lvl="0" marL="457200" rtl="0" algn="l">
              <a:lnSpc>
                <a:spcPct val="115000"/>
              </a:lnSpc>
              <a:spcBef>
                <a:spcPts val="0"/>
              </a:spcBef>
              <a:spcAft>
                <a:spcPts val="0"/>
              </a:spcAft>
              <a:buClr>
                <a:schemeClr val="dk1"/>
              </a:buClr>
              <a:buSzPts val="2100"/>
              <a:buFont typeface="Calibri"/>
              <a:buChar char="●"/>
            </a:pPr>
            <a:r>
              <a:rPr lang="en-US" sz="2100">
                <a:solidFill>
                  <a:schemeClr val="dk1"/>
                </a:solidFill>
                <a:latin typeface="Calibri"/>
                <a:ea typeface="Calibri"/>
                <a:cs typeface="Calibri"/>
                <a:sym typeface="Calibri"/>
              </a:rPr>
              <a:t>The model can easily be accessed through H</a:t>
            </a:r>
            <a:r>
              <a:rPr lang="en-US" sz="2100">
                <a:solidFill>
                  <a:schemeClr val="dk1"/>
                </a:solidFill>
                <a:latin typeface="Calibri"/>
                <a:ea typeface="Calibri"/>
                <a:cs typeface="Calibri"/>
                <a:sym typeface="Calibri"/>
              </a:rPr>
              <a:t>ugging face. </a:t>
            </a:r>
            <a:endParaRPr sz="2100">
              <a:solidFill>
                <a:schemeClr val="dk1"/>
              </a:solidFill>
              <a:latin typeface="Calibri"/>
              <a:ea typeface="Calibri"/>
              <a:cs typeface="Calibri"/>
              <a:sym typeface="Calibri"/>
            </a:endParaRPr>
          </a:p>
          <a:p>
            <a:pPr indent="-361950" lvl="0" marL="457200" rtl="0" algn="l">
              <a:lnSpc>
                <a:spcPct val="115000"/>
              </a:lnSpc>
              <a:spcBef>
                <a:spcPts val="0"/>
              </a:spcBef>
              <a:spcAft>
                <a:spcPts val="0"/>
              </a:spcAft>
              <a:buClr>
                <a:schemeClr val="dk1"/>
              </a:buClr>
              <a:buSzPts val="2100"/>
              <a:buFont typeface="Calibri"/>
              <a:buChar char="●"/>
            </a:pPr>
            <a:r>
              <a:rPr lang="en-US" sz="2100">
                <a:solidFill>
                  <a:schemeClr val="dk1"/>
                </a:solidFill>
                <a:latin typeface="Calibri"/>
                <a:ea typeface="Calibri"/>
                <a:cs typeface="Calibri"/>
                <a:sym typeface="Calibri"/>
              </a:rPr>
              <a:t>We can upload any image of our choice, select the model we want and get the relevant output.</a:t>
            </a:r>
            <a:endParaRPr sz="21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2000">
              <a:solidFill>
                <a:schemeClr val="dk1"/>
              </a:solidFill>
              <a:latin typeface="Calibri"/>
              <a:ea typeface="Calibri"/>
              <a:cs typeface="Calibri"/>
              <a:sym typeface="Calibri"/>
            </a:endParaRPr>
          </a:p>
          <a:p>
            <a:pPr indent="-317500" lvl="0" marL="457200" rtl="0" algn="l">
              <a:lnSpc>
                <a:spcPct val="115000"/>
              </a:lnSpc>
              <a:spcBef>
                <a:spcPts val="0"/>
              </a:spcBef>
              <a:spcAft>
                <a:spcPts val="0"/>
              </a:spcAft>
              <a:buClr>
                <a:schemeClr val="dk1"/>
              </a:buClr>
              <a:buSzPts val="1400"/>
              <a:buFont typeface="Calibri"/>
              <a:buChar char="●"/>
            </a:pPr>
            <a:r>
              <a:rPr b="1" lang="en-US" sz="2300" u="sng">
                <a:solidFill>
                  <a:schemeClr val="dk1"/>
                </a:solidFill>
                <a:latin typeface="Calibri"/>
                <a:ea typeface="Calibri"/>
                <a:cs typeface="Calibri"/>
                <a:sym typeface="Calibri"/>
              </a:rPr>
              <a:t>Live Link:</a:t>
            </a:r>
            <a:r>
              <a:rPr lang="en-US" sz="2200">
                <a:solidFill>
                  <a:schemeClr val="dk1"/>
                </a:solidFill>
                <a:latin typeface="Calibri"/>
                <a:ea typeface="Calibri"/>
                <a:cs typeface="Calibri"/>
                <a:sym typeface="Calibri"/>
              </a:rPr>
              <a:t> </a:t>
            </a:r>
            <a:endParaRPr sz="2200">
              <a:solidFill>
                <a:schemeClr val="dk1"/>
              </a:solidFill>
              <a:latin typeface="Calibri"/>
              <a:ea typeface="Calibri"/>
              <a:cs typeface="Calibri"/>
              <a:sym typeface="Calibri"/>
            </a:endParaRPr>
          </a:p>
          <a:p>
            <a:pPr indent="0" lvl="0" marL="457200" rtl="0" algn="l">
              <a:lnSpc>
                <a:spcPct val="115000"/>
              </a:lnSpc>
              <a:spcBef>
                <a:spcPts val="0"/>
              </a:spcBef>
              <a:spcAft>
                <a:spcPts val="0"/>
              </a:spcAft>
              <a:buNone/>
            </a:pPr>
            <a:r>
              <a:t/>
            </a:r>
            <a:endParaRPr sz="2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2000">
                <a:solidFill>
                  <a:schemeClr val="dk1"/>
                </a:solidFill>
                <a:latin typeface="Calibri"/>
                <a:ea typeface="Calibri"/>
                <a:cs typeface="Calibri"/>
                <a:sym typeface="Calibri"/>
              </a:rPr>
              <a:t>       </a:t>
            </a:r>
            <a:r>
              <a:rPr lang="en-US" sz="2000" u="sng">
                <a:solidFill>
                  <a:schemeClr val="hlink"/>
                </a:solidFill>
                <a:latin typeface="Calibri"/>
                <a:ea typeface="Calibri"/>
                <a:cs typeface="Calibri"/>
                <a:sym typeface="Calibri"/>
                <a:hlinkClick r:id="rId4"/>
              </a:rPr>
              <a:t> </a:t>
            </a:r>
            <a:r>
              <a:rPr lang="en-US" sz="2200" u="sng">
                <a:solidFill>
                  <a:schemeClr val="hlink"/>
                </a:solidFill>
                <a:latin typeface="Calibri"/>
                <a:ea typeface="Calibri"/>
                <a:cs typeface="Calibri"/>
                <a:sym typeface="Calibri"/>
                <a:hlinkClick r:id="rId5"/>
              </a:rPr>
              <a:t>https://huggingface.co/spaces/AryaGupta007/DeepFake_Detector_Final</a:t>
            </a:r>
            <a:endParaRPr sz="22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1" name="Shape 201"/>
        <p:cNvGrpSpPr/>
        <p:nvPr/>
      </p:nvGrpSpPr>
      <p:grpSpPr>
        <a:xfrm>
          <a:off x="0" y="0"/>
          <a:ext cx="0" cy="0"/>
          <a:chOff x="0" y="0"/>
          <a:chExt cx="0" cy="0"/>
        </a:xfrm>
      </p:grpSpPr>
      <p:sp>
        <p:nvSpPr>
          <p:cNvPr id="202" name="Google Shape;202;p11"/>
          <p:cNvSpPr txBox="1"/>
          <p:nvPr/>
        </p:nvSpPr>
        <p:spPr>
          <a:xfrm>
            <a:off x="-1839250" y="2680475"/>
            <a:ext cx="12192000" cy="1293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US" sz="7800" u="none" cap="none" strike="noStrike">
                <a:solidFill>
                  <a:srgbClr val="1B786F"/>
                </a:solidFill>
                <a:latin typeface="EB Garamond"/>
                <a:ea typeface="EB Garamond"/>
                <a:cs typeface="EB Garamond"/>
                <a:sym typeface="EB Garamond"/>
              </a:rPr>
              <a:t>Thank You</a:t>
            </a:r>
            <a:endParaRPr b="1" i="0" sz="7800" u="none" cap="none" strike="noStrike">
              <a:solidFill>
                <a:schemeClr val="dk1"/>
              </a:solidFill>
              <a:latin typeface="EB Garamond"/>
              <a:ea typeface="EB Garamond"/>
              <a:cs typeface="EB Garamond"/>
              <a:sym typeface="EB Garamond"/>
            </a:endParaRPr>
          </a:p>
        </p:txBody>
      </p:sp>
      <p:pic>
        <p:nvPicPr>
          <p:cNvPr id="203" name="Google Shape;203;p11" title="download.jpeg"/>
          <p:cNvPicPr preferRelativeResize="0"/>
          <p:nvPr/>
        </p:nvPicPr>
        <p:blipFill rotWithShape="1">
          <a:blip r:embed="rId3">
            <a:alphaModFix/>
          </a:blip>
          <a:srcRect b="16791" l="14315" r="14358" t="6497"/>
          <a:stretch/>
        </p:blipFill>
        <p:spPr>
          <a:xfrm>
            <a:off x="11290059" y="109862"/>
            <a:ext cx="840225" cy="903625"/>
          </a:xfrm>
          <a:prstGeom prst="rect">
            <a:avLst/>
          </a:prstGeom>
          <a:noFill/>
          <a:ln>
            <a:noFill/>
          </a:ln>
        </p:spPr>
      </p:pic>
      <p:sp>
        <p:nvSpPr>
          <p:cNvPr id="204" name="Google Shape;204;p11"/>
          <p:cNvSpPr/>
          <p:nvPr/>
        </p:nvSpPr>
        <p:spPr>
          <a:xfrm>
            <a:off x="0" y="25"/>
            <a:ext cx="360300" cy="6858000"/>
          </a:xfrm>
          <a:prstGeom prst="rect">
            <a:avLst/>
          </a:prstGeom>
          <a:solidFill>
            <a:srgbClr val="1B786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B786F"/>
              </a:solidFill>
              <a:latin typeface="Calibri"/>
              <a:ea typeface="Calibri"/>
              <a:cs typeface="Calibri"/>
              <a:sym typeface="Calibri"/>
            </a:endParaRPr>
          </a:p>
        </p:txBody>
      </p:sp>
      <p:pic>
        <p:nvPicPr>
          <p:cNvPr id="205" name="Google Shape;205;p11"/>
          <p:cNvPicPr preferRelativeResize="0"/>
          <p:nvPr/>
        </p:nvPicPr>
        <p:blipFill rotWithShape="1">
          <a:blip r:embed="rId4">
            <a:alphaModFix/>
          </a:blip>
          <a:srcRect b="0" l="0" r="0" t="0"/>
          <a:stretch/>
        </p:blipFill>
        <p:spPr>
          <a:xfrm>
            <a:off x="6607075" y="1877600"/>
            <a:ext cx="3446250" cy="34462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67885"/>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2024-04-29T06:55:31Z</dcterms:created>
  <dc:creator>DEB</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2024-04-28T00:00:00Z</vt:filetime>
  </property>
  <property fmtid="{D5CDD505-2E9C-101B-9397-08002B2CF9AE}" pid="3" name="LastSaved">
    <vt:filetime>2024-04-29T00:00:00Z</vt:filetime>
  </property>
</Properties>
</file>