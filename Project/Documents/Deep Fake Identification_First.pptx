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12192000" cy="6858000"/>
  <p:embeddedFontLst>
    <p:embeddedFont>
      <p:font typeface="Roboto"/>
      <p:regular r:id="rId19"/>
      <p:bold r:id="rId20"/>
      <p:italic r:id="rId21"/>
      <p:boldItalic r:id="rId22"/>
    </p:embeddedFont>
    <p:embeddedFont>
      <p:font typeface="Constantia"/>
      <p:regular r:id="rId23"/>
      <p:bold r:id="rId24"/>
      <p:italic r:id="rId25"/>
      <p:boldItalic r:id="rId26"/>
    </p:embeddedFont>
    <p:embeddedFont>
      <p:font typeface="Tahoma"/>
      <p:regular r:id="rId27"/>
      <p:bold r:id="rId28"/>
    </p:embeddedFont>
    <p:embeddedFont>
      <p:font typeface="EB Garamon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jYxtBtSIBbZiRjuJJzB8nOsrcQ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E36665-A652-4462-94FA-4127B3B58A93}">
  <a:tblStyle styleId="{D3E36665-A652-4462-94FA-4127B3B58A9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Constantia-bold.fntdata"/><Relationship Id="rId23" Type="http://schemas.openxmlformats.org/officeDocument/2006/relationships/font" Target="fonts/Constanti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Constantia-boldItalic.fntdata"/><Relationship Id="rId25" Type="http://schemas.openxmlformats.org/officeDocument/2006/relationships/font" Target="fonts/Constantia-italic.fntdata"/><Relationship Id="rId28" Type="http://schemas.openxmlformats.org/officeDocument/2006/relationships/font" Target="fonts/Tahoma-bold.fntdata"/><Relationship Id="rId27" Type="http://schemas.openxmlformats.org/officeDocument/2006/relationships/font" Target="fonts/Tahoma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EBGaramon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EBGaramond-italic.fntdata"/><Relationship Id="rId30" Type="http://schemas.openxmlformats.org/officeDocument/2006/relationships/font" Target="fonts/EBGaramond-bold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EBGaramon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28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905625" y="0"/>
            <a:ext cx="528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528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3810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3810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3810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39a4a5468_0_27:notes"/>
          <p:cNvSpPr/>
          <p:nvPr>
            <p:ph idx="2" type="sldImg"/>
          </p:nvPr>
        </p:nvSpPr>
        <p:spPr>
          <a:xfrm>
            <a:off x="3810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839a4a5468_0_2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g3839a4a5468_0_27:notes"/>
          <p:cNvSpPr txBox="1"/>
          <p:nvPr>
            <p:ph idx="12" type="sldNum"/>
          </p:nvPr>
        </p:nvSpPr>
        <p:spPr>
          <a:xfrm>
            <a:off x="6905625" y="6513513"/>
            <a:ext cx="5283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a550b5c6f_4_23:notes"/>
          <p:cNvSpPr/>
          <p:nvPr>
            <p:ph idx="2" type="sldImg"/>
          </p:nvPr>
        </p:nvSpPr>
        <p:spPr>
          <a:xfrm>
            <a:off x="3810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8a550b5c6f_4_2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8a550b5c6f_4_23:notes"/>
          <p:cNvSpPr txBox="1"/>
          <p:nvPr>
            <p:ph idx="12" type="sldNum"/>
          </p:nvPr>
        </p:nvSpPr>
        <p:spPr>
          <a:xfrm>
            <a:off x="6905625" y="6513513"/>
            <a:ext cx="5283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0f1d3873d_0_39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80f1d3873d_0_393:notes"/>
          <p:cNvSpPr/>
          <p:nvPr>
            <p:ph idx="2" type="sldImg"/>
          </p:nvPr>
        </p:nvSpPr>
        <p:spPr>
          <a:xfrm>
            <a:off x="3810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3810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09cb993a8_0_0:notes"/>
          <p:cNvSpPr/>
          <p:nvPr>
            <p:ph idx="2" type="sldImg"/>
          </p:nvPr>
        </p:nvSpPr>
        <p:spPr>
          <a:xfrm>
            <a:off x="3810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809cb993a8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3809cb993a8_0_0:notes"/>
          <p:cNvSpPr txBox="1"/>
          <p:nvPr>
            <p:ph idx="12" type="sldNum"/>
          </p:nvPr>
        </p:nvSpPr>
        <p:spPr>
          <a:xfrm>
            <a:off x="6905625" y="6513513"/>
            <a:ext cx="5283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3810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/>
          <p:nvPr>
            <p:ph idx="2" type="sldImg"/>
          </p:nvPr>
        </p:nvSpPr>
        <p:spPr>
          <a:xfrm>
            <a:off x="3810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 txBox="1"/>
          <p:nvPr>
            <p:ph idx="12" type="sldNum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3810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3810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 txBox="1"/>
          <p:nvPr>
            <p:ph idx="12" type="sldNum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76914" y="165988"/>
            <a:ext cx="601471" cy="60197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4"/>
          <p:cNvSpPr txBox="1"/>
          <p:nvPr>
            <p:ph type="ctrTitle"/>
          </p:nvPr>
        </p:nvSpPr>
        <p:spPr>
          <a:xfrm>
            <a:off x="4775200" y="241299"/>
            <a:ext cx="2641599" cy="63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50" u="sng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 txBox="1"/>
          <p:nvPr>
            <p:ph type="title"/>
          </p:nvPr>
        </p:nvSpPr>
        <p:spPr>
          <a:xfrm>
            <a:off x="4241165" y="2799397"/>
            <a:ext cx="3709669" cy="941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" type="body"/>
          </p:nvPr>
        </p:nvSpPr>
        <p:spPr>
          <a:xfrm>
            <a:off x="3177285" y="1924685"/>
            <a:ext cx="6145530" cy="1892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4241165" y="2799397"/>
            <a:ext cx="3709669" cy="941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241165" y="2799397"/>
            <a:ext cx="3709669" cy="941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4241165" y="2799397"/>
            <a:ext cx="3709669" cy="941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3177285" y="1924685"/>
            <a:ext cx="6145530" cy="1892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 txBox="1"/>
          <p:nvPr/>
        </p:nvSpPr>
        <p:spPr>
          <a:xfrm>
            <a:off x="2032500" y="619725"/>
            <a:ext cx="8127000" cy="9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-US" sz="5800" u="sng">
                <a:latin typeface="Times New Roman"/>
                <a:ea typeface="Times New Roman"/>
                <a:cs typeface="Times New Roman"/>
                <a:sym typeface="Times New Roman"/>
              </a:rPr>
              <a:t>Deep Fake </a:t>
            </a:r>
            <a:r>
              <a:rPr b="1" lang="en-US" sz="5800" u="sng">
                <a:latin typeface="Times New Roman"/>
                <a:ea typeface="Times New Roman"/>
                <a:cs typeface="Times New Roman"/>
                <a:sym typeface="Times New Roman"/>
              </a:rPr>
              <a:t>Identification</a:t>
            </a:r>
            <a:endParaRPr b="1" i="0" sz="5800" u="none" cap="none" strike="noStrike">
              <a:solidFill>
                <a:srgbClr val="06080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60300" y="2772400"/>
            <a:ext cx="11336400" cy="12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2500" u="sng">
                <a:solidFill>
                  <a:srgbClr val="1B786F"/>
                </a:solidFill>
              </a:rPr>
              <a:t>Presented By</a:t>
            </a:r>
            <a:endParaRPr b="1" sz="25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2100"/>
              <a:t>	   </a:t>
            </a:r>
            <a:r>
              <a:rPr b="1" lang="en-US" sz="2000"/>
              <a:t>Swarnadri Sekhar Mukherj</a:t>
            </a:r>
            <a:r>
              <a:rPr b="1" lang="en-US" sz="2000"/>
              <a:t>ee		</a:t>
            </a:r>
            <a:r>
              <a:rPr b="1" lang="en-US" sz="1900"/>
              <a:t>Deb kumar Mondal		</a:t>
            </a:r>
            <a:r>
              <a:rPr b="1" lang="en-US" sz="1900">
                <a:solidFill>
                  <a:schemeClr val="dk1"/>
                </a:solidFill>
              </a:rPr>
              <a:t>	</a:t>
            </a:r>
            <a:r>
              <a:rPr b="1" lang="en-US" sz="1900">
                <a:solidFill>
                  <a:schemeClr val="dk1"/>
                </a:solidFill>
              </a:rPr>
              <a:t>Soumyadeep Shaw</a:t>
            </a:r>
            <a:endParaRPr b="1"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	Meet Kasediya		</a:t>
            </a:r>
            <a:r>
              <a:rPr b="1" lang="en-US" sz="1900"/>
              <a:t>Tanya Kumari</a:t>
            </a:r>
            <a:r>
              <a:rPr b="1" lang="en-US" sz="1900">
                <a:solidFill>
                  <a:schemeClr val="dk1"/>
                </a:solidFill>
              </a:rPr>
              <a:t>		</a:t>
            </a:r>
            <a:r>
              <a:rPr b="1" lang="en-US" sz="1900">
                <a:solidFill>
                  <a:schemeClr val="dk1"/>
                </a:solidFill>
              </a:rPr>
              <a:t>Sunny Kumar		Prabhjot Kaur	          Arya Gupta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9533325" y="5725125"/>
            <a:ext cx="23919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of Reporting:</a:t>
            </a:r>
            <a:b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Sept </a:t>
            </a:r>
            <a:r>
              <a:rPr lang="en-US" sz="1900"/>
              <a:t>29</a:t>
            </a:r>
            <a:r>
              <a:rPr b="0" baseline="3000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2025</a:t>
            </a:r>
            <a:r>
              <a:rPr b="0" baseline="3000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2" title="download.jpeg"/>
          <p:cNvPicPr preferRelativeResize="0"/>
          <p:nvPr/>
        </p:nvPicPr>
        <p:blipFill rotWithShape="1">
          <a:blip r:embed="rId3">
            <a:alphaModFix/>
          </a:blip>
          <a:srcRect b="16791" l="14315" r="14358" t="6497"/>
          <a:stretch/>
        </p:blipFill>
        <p:spPr>
          <a:xfrm>
            <a:off x="11290059" y="109862"/>
            <a:ext cx="840225" cy="90362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4387950" y="4267200"/>
            <a:ext cx="3223200" cy="9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2300">
                <a:solidFill>
                  <a:srgbClr val="1B786F"/>
                </a:solidFill>
              </a:rPr>
              <a:t> </a:t>
            </a:r>
            <a:r>
              <a:rPr b="1" lang="en-US" sz="2300" u="sng">
                <a:solidFill>
                  <a:srgbClr val="1B786F"/>
                </a:solidFill>
              </a:rPr>
              <a:t> Under </a:t>
            </a:r>
            <a:r>
              <a:rPr b="1" lang="en-US" sz="2300" u="sng">
                <a:solidFill>
                  <a:srgbClr val="1B786F"/>
                </a:solidFill>
              </a:rPr>
              <a:t>Guidance</a:t>
            </a:r>
            <a:r>
              <a:rPr b="1" lang="en-US" sz="2300" u="sng">
                <a:solidFill>
                  <a:srgbClr val="1B786F"/>
                </a:solidFill>
              </a:rPr>
              <a:t> of</a:t>
            </a:r>
            <a:r>
              <a:rPr b="1" lang="en-US" sz="2300" u="sng"/>
              <a:t> </a:t>
            </a:r>
            <a:endParaRPr b="1" sz="2300" u="sng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2100"/>
              <a:t> </a:t>
            </a:r>
            <a:r>
              <a:rPr b="1" lang="en-US" sz="2100"/>
              <a:t> Mr. Harjaspreet Singh</a:t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175700" y="5316575"/>
            <a:ext cx="3756000" cy="9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2100" u="sng">
                <a:solidFill>
                  <a:srgbClr val="1B786F"/>
                </a:solidFill>
              </a:rPr>
              <a:t>To </a:t>
            </a:r>
            <a:endParaRPr b="1" sz="2100" u="sng">
              <a:solidFill>
                <a:srgbClr val="1B786F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2200" u="sng">
                <a:solidFill>
                  <a:schemeClr val="dk1"/>
                </a:solidFill>
              </a:rPr>
              <a:t>SABUDH FOUNDATION</a:t>
            </a:r>
            <a:r>
              <a:rPr b="1" lang="en-US" sz="2000" u="sng">
                <a:solidFill>
                  <a:schemeClr val="dk1"/>
                </a:solidFill>
              </a:rPr>
              <a:t>	</a:t>
            </a:r>
            <a:endParaRPr b="1" sz="2000" u="sng">
              <a:solidFill>
                <a:schemeClr val="dk1"/>
              </a:solidFill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925700" y="1604747"/>
            <a:ext cx="102807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B786F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An AI-powered Platform Designed to Differentiate Between Real and Fake Contents.</a:t>
            </a:r>
            <a:endParaRPr sz="2800">
              <a:solidFill>
                <a:srgbClr val="1B786F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0" y="25"/>
            <a:ext cx="360300" cy="6858000"/>
          </a:xfrm>
          <a:prstGeom prst="rect">
            <a:avLst/>
          </a:prstGeom>
          <a:solidFill>
            <a:srgbClr val="1B78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 txBox="1"/>
          <p:nvPr/>
        </p:nvSpPr>
        <p:spPr>
          <a:xfrm>
            <a:off x="207900" y="303650"/>
            <a:ext cx="5538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F"/>
              </a:buClr>
              <a:buSzPts val="4500"/>
              <a:buFont typeface="EB Garamond"/>
              <a:buChar char="❏"/>
            </a:pPr>
            <a:r>
              <a:rPr b="1" i="0" lang="en-US" sz="4500" u="sng" cap="none" strike="noStrike">
                <a:solidFill>
                  <a:srgbClr val="1B786F"/>
                </a:solidFill>
                <a:latin typeface="EB Garamond"/>
                <a:ea typeface="EB Garamond"/>
                <a:cs typeface="EB Garamond"/>
                <a:sym typeface="EB Garamond"/>
              </a:rPr>
              <a:t>Introduction</a:t>
            </a:r>
            <a:r>
              <a:rPr b="1" i="0" lang="en-US" sz="4500" u="none" cap="none" strike="noStrike">
                <a:solidFill>
                  <a:srgbClr val="1B786F"/>
                </a:solidFill>
                <a:latin typeface="EB Garamond"/>
                <a:ea typeface="EB Garamond"/>
                <a:cs typeface="EB Garamond"/>
                <a:sym typeface="EB Garamond"/>
              </a:rPr>
              <a:t> :- </a:t>
            </a:r>
            <a:endParaRPr b="1" i="0" sz="4500" u="none" cap="none" strike="noStrike">
              <a:solidFill>
                <a:srgbClr val="1B786F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9" name="Google Shape;59;p3"/>
          <p:cNvSpPr txBox="1"/>
          <p:nvPr/>
        </p:nvSpPr>
        <p:spPr>
          <a:xfrm>
            <a:off x="10744200" y="6488668"/>
            <a:ext cx="144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1048575" y="1028656"/>
            <a:ext cx="9921000" cy="53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Deep fakes are </a:t>
            </a:r>
            <a:r>
              <a:rPr b="1" lang="en-US" sz="2200">
                <a:solidFill>
                  <a:schemeClr val="dk1"/>
                </a:solidFill>
              </a:rPr>
              <a:t>AI-generated fake videos, images, or audio</a:t>
            </a:r>
            <a:r>
              <a:rPr lang="en-US" sz="2200">
                <a:solidFill>
                  <a:schemeClr val="dk1"/>
                </a:solidFill>
              </a:rPr>
              <a:t>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M</a:t>
            </a:r>
            <a:r>
              <a:rPr lang="en-US" sz="2200">
                <a:solidFill>
                  <a:schemeClr val="dk1"/>
                </a:solidFill>
              </a:rPr>
              <a:t>ade using special AI models, like </a:t>
            </a:r>
            <a:r>
              <a:rPr b="1" lang="en-US" sz="2200">
                <a:solidFill>
                  <a:schemeClr val="dk1"/>
                </a:solidFill>
              </a:rPr>
              <a:t>GANs (Generative Adversarial Networks)</a:t>
            </a:r>
            <a:r>
              <a:rPr lang="en-US" sz="2200">
                <a:solidFill>
                  <a:schemeClr val="dk1"/>
                </a:solidFill>
              </a:rPr>
              <a:t>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These fakes look </a:t>
            </a:r>
            <a:r>
              <a:rPr b="1" lang="en-US" sz="2200">
                <a:solidFill>
                  <a:schemeClr val="dk1"/>
                </a:solidFill>
              </a:rPr>
              <a:t>very real</a:t>
            </a:r>
            <a:r>
              <a:rPr lang="en-US" sz="2200">
                <a:solidFill>
                  <a:schemeClr val="dk1"/>
                </a:solidFill>
              </a:rPr>
              <a:t> and are hard to </a:t>
            </a:r>
            <a:r>
              <a:rPr lang="en-US" sz="2200">
                <a:solidFill>
                  <a:schemeClr val="dk1"/>
                </a:solidFill>
              </a:rPr>
              <a:t>differentiate</a:t>
            </a:r>
            <a:r>
              <a:rPr lang="en-US" sz="2200">
                <a:solidFill>
                  <a:schemeClr val="dk1"/>
                </a:solidFill>
              </a:rPr>
              <a:t> from real content.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Used in </a:t>
            </a:r>
            <a:r>
              <a:rPr b="1" lang="en-US" sz="2200">
                <a:solidFill>
                  <a:schemeClr val="dk1"/>
                </a:solidFill>
              </a:rPr>
              <a:t>entertainment</a:t>
            </a:r>
            <a:r>
              <a:rPr lang="en-US" sz="2200">
                <a:solidFill>
                  <a:schemeClr val="dk1"/>
                </a:solidFill>
              </a:rPr>
              <a:t> (funny videos, memes), but can also in </a:t>
            </a:r>
            <a:r>
              <a:rPr b="1" lang="en-US" sz="2200">
                <a:solidFill>
                  <a:schemeClr val="dk1"/>
                </a:solidFill>
              </a:rPr>
              <a:t>dangerous ways</a:t>
            </a:r>
            <a:r>
              <a:rPr lang="en-US" sz="2200">
                <a:solidFill>
                  <a:schemeClr val="dk1"/>
                </a:solidFill>
              </a:rPr>
              <a:t>.</a:t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500" u="sng">
                <a:solidFill>
                  <a:srgbClr val="272525"/>
                </a:solidFill>
                <a:latin typeface="Constantia"/>
                <a:ea typeface="Constantia"/>
                <a:cs typeface="Constantia"/>
                <a:sym typeface="Constantia"/>
              </a:rPr>
              <a:t>Importances</a:t>
            </a:r>
            <a:r>
              <a:rPr b="0" i="0" lang="en-US" sz="2500" u="none" cap="none" strike="noStrike">
                <a:solidFill>
                  <a:srgbClr val="272525"/>
                </a:solidFill>
                <a:latin typeface="Constantia"/>
                <a:ea typeface="Constantia"/>
                <a:cs typeface="Constantia"/>
                <a:sym typeface="Constantia"/>
              </a:rPr>
              <a:t> :- 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Constantia"/>
              <a:buChar char="➢"/>
            </a:pPr>
            <a:r>
              <a:rPr lang="en-US" sz="2200">
                <a:solidFill>
                  <a:schemeClr val="dk1"/>
                </a:solidFill>
              </a:rPr>
              <a:t>Spread </a:t>
            </a:r>
            <a:r>
              <a:rPr b="1" lang="en-US" sz="2200">
                <a:solidFill>
                  <a:schemeClr val="dk1"/>
                </a:solidFill>
              </a:rPr>
              <a:t>fake news</a:t>
            </a:r>
            <a:r>
              <a:rPr lang="en-US" sz="2200">
                <a:solidFill>
                  <a:schemeClr val="dk1"/>
                </a:solidFill>
              </a:rPr>
              <a:t> and misinformation.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Constantia"/>
              <a:buChar char="➢"/>
            </a:pPr>
            <a:r>
              <a:rPr lang="en-US" sz="2200">
                <a:solidFill>
                  <a:schemeClr val="dk1"/>
                </a:solidFill>
              </a:rPr>
              <a:t>Create </a:t>
            </a:r>
            <a:r>
              <a:rPr b="1" lang="en-US" sz="2200">
                <a:solidFill>
                  <a:schemeClr val="dk1"/>
                </a:solidFill>
              </a:rPr>
              <a:t>false speeches</a:t>
            </a:r>
            <a:r>
              <a:rPr lang="en-US" sz="2200">
                <a:solidFill>
                  <a:schemeClr val="dk1"/>
                </a:solidFill>
              </a:rPr>
              <a:t> by leaders or celebrities.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Constantia"/>
              <a:buChar char="➢"/>
            </a:pPr>
            <a:r>
              <a:rPr lang="en-US" sz="2200">
                <a:solidFill>
                  <a:schemeClr val="dk1"/>
                </a:solidFill>
              </a:rPr>
              <a:t>Cheat people through </a:t>
            </a:r>
            <a:r>
              <a:rPr b="1" lang="en-US" sz="2200">
                <a:solidFill>
                  <a:schemeClr val="dk1"/>
                </a:solidFill>
              </a:rPr>
              <a:t>scams and identity theft</a:t>
            </a:r>
            <a:r>
              <a:rPr lang="en-US" sz="2200">
                <a:solidFill>
                  <a:schemeClr val="dk1"/>
                </a:solidFill>
              </a:rPr>
              <a:t>.</a:t>
            </a:r>
            <a:endParaRPr sz="22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Our project works on </a:t>
            </a:r>
            <a:r>
              <a:rPr b="1" lang="en-US" sz="2200">
                <a:solidFill>
                  <a:schemeClr val="dk1"/>
                </a:solidFill>
              </a:rPr>
              <a:t>building tools to detect</a:t>
            </a:r>
            <a:r>
              <a:rPr lang="en-US" sz="2200">
                <a:solidFill>
                  <a:schemeClr val="dk1"/>
                </a:solidFill>
              </a:rPr>
              <a:t> these deep fakes and protect people.</a:t>
            </a:r>
            <a:endParaRPr sz="2200">
              <a:solidFill>
                <a:srgbClr val="272525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61" name="Google Shape;61;p3" title="download.jpeg"/>
          <p:cNvPicPr preferRelativeResize="0"/>
          <p:nvPr/>
        </p:nvPicPr>
        <p:blipFill rotWithShape="1">
          <a:blip r:embed="rId3">
            <a:alphaModFix/>
          </a:blip>
          <a:srcRect b="16791" l="14315" r="14358" t="6497"/>
          <a:stretch/>
        </p:blipFill>
        <p:spPr>
          <a:xfrm>
            <a:off x="11290059" y="109862"/>
            <a:ext cx="840225" cy="9036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/>
          <p:nvPr/>
        </p:nvSpPr>
        <p:spPr>
          <a:xfrm>
            <a:off x="0" y="25"/>
            <a:ext cx="360300" cy="6858000"/>
          </a:xfrm>
          <a:prstGeom prst="rect">
            <a:avLst/>
          </a:prstGeom>
          <a:solidFill>
            <a:srgbClr val="1B78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 txBox="1"/>
          <p:nvPr/>
        </p:nvSpPr>
        <p:spPr>
          <a:xfrm>
            <a:off x="10744200" y="6488668"/>
            <a:ext cx="144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9" name="Google Shape;69;p4"/>
          <p:cNvSpPr txBox="1"/>
          <p:nvPr/>
        </p:nvSpPr>
        <p:spPr>
          <a:xfrm>
            <a:off x="159550" y="290825"/>
            <a:ext cx="87333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F"/>
              </a:buClr>
              <a:buSzPts val="4500"/>
              <a:buFont typeface="EB Garamond"/>
              <a:buChar char="❏"/>
            </a:pPr>
            <a:r>
              <a:rPr b="1" i="0" lang="en-US" sz="4500" u="sng" cap="none" strike="noStrike">
                <a:solidFill>
                  <a:srgbClr val="1B786F"/>
                </a:solidFill>
                <a:latin typeface="EB Garamond"/>
                <a:ea typeface="EB Garamond"/>
                <a:cs typeface="EB Garamond"/>
                <a:sym typeface="EB Garamond"/>
              </a:rPr>
              <a:t>Problem Statement</a:t>
            </a:r>
            <a:r>
              <a:rPr b="1" i="0" lang="en-US" sz="4500" u="none" cap="none" strike="noStrike">
                <a:solidFill>
                  <a:srgbClr val="1B786F"/>
                </a:solidFill>
                <a:latin typeface="EB Garamond"/>
                <a:ea typeface="EB Garamond"/>
                <a:cs typeface="EB Garamond"/>
                <a:sym typeface="EB Garamond"/>
              </a:rPr>
              <a:t> :- </a:t>
            </a:r>
            <a:endParaRPr b="1" i="0" sz="4500" u="none" cap="none" strike="noStrike">
              <a:solidFill>
                <a:srgbClr val="1B786F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70" name="Google Shape;70;p4" title="download.jpeg"/>
          <p:cNvPicPr preferRelativeResize="0"/>
          <p:nvPr/>
        </p:nvPicPr>
        <p:blipFill rotWithShape="1">
          <a:blip r:embed="rId3">
            <a:alphaModFix/>
          </a:blip>
          <a:srcRect b="16791" l="14315" r="14358" t="6497"/>
          <a:stretch/>
        </p:blipFill>
        <p:spPr>
          <a:xfrm>
            <a:off x="11290059" y="109862"/>
            <a:ext cx="840225" cy="9036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4"/>
          <p:cNvSpPr/>
          <p:nvPr/>
        </p:nvSpPr>
        <p:spPr>
          <a:xfrm>
            <a:off x="609600" y="1064594"/>
            <a:ext cx="4655700" cy="784800"/>
          </a:xfrm>
          <a:prstGeom prst="homePlate">
            <a:avLst>
              <a:gd fmla="val 50000" name="adj"/>
            </a:avLst>
          </a:prstGeom>
          <a:solidFill>
            <a:srgbClr val="155B55"/>
          </a:solidFill>
          <a:ln>
            <a:noFill/>
          </a:ln>
        </p:spPr>
        <p:txBody>
          <a:bodyPr anchorCtr="0" anchor="ctr" bIns="114625" lIns="114625" spcFirstLastPara="1" rIns="114625" wrap="square" tIns="114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 Gaps</a:t>
            </a:r>
            <a:endParaRPr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4"/>
          <p:cNvSpPr txBox="1"/>
          <p:nvPr/>
        </p:nvSpPr>
        <p:spPr>
          <a:xfrm>
            <a:off x="4932000" y="1835969"/>
            <a:ext cx="3513900" cy="43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625" lIns="114625" spcFirstLastPara="1" rIns="114625" wrap="square" tIns="114625">
            <a:no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Deep fakes are used to </a:t>
            </a:r>
            <a:r>
              <a:rPr b="1" lang="en-US" sz="2000">
                <a:solidFill>
                  <a:schemeClr val="dk1"/>
                </a:solidFill>
              </a:rPr>
              <a:t>spread fake news </a:t>
            </a:r>
            <a:r>
              <a:rPr lang="en-US" sz="2000">
                <a:solidFill>
                  <a:schemeClr val="dk1"/>
                </a:solidFill>
              </a:rPr>
              <a:t>and </a:t>
            </a:r>
            <a:r>
              <a:rPr b="1" lang="en-US" sz="2000">
                <a:solidFill>
                  <a:schemeClr val="dk1"/>
                </a:solidFill>
              </a:rPr>
              <a:t>Influence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They can cause </a:t>
            </a:r>
            <a:r>
              <a:rPr b="1" lang="en-US" sz="2000">
                <a:solidFill>
                  <a:schemeClr val="dk1"/>
                </a:solidFill>
              </a:rPr>
              <a:t>fraud, scams </a:t>
            </a:r>
            <a:r>
              <a:rPr lang="en-US" sz="2000">
                <a:solidFill>
                  <a:schemeClr val="dk1"/>
                </a:solidFill>
              </a:rPr>
              <a:t>and </a:t>
            </a:r>
            <a:r>
              <a:rPr b="1" lang="en-US" sz="2000">
                <a:solidFill>
                  <a:schemeClr val="dk1"/>
                </a:solidFill>
              </a:rPr>
              <a:t>identity theft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Security</a:t>
            </a:r>
            <a:r>
              <a:rPr lang="en-US" sz="2000">
                <a:solidFill>
                  <a:schemeClr val="dk1"/>
                </a:solidFill>
              </a:rPr>
              <a:t> of </a:t>
            </a:r>
            <a:r>
              <a:rPr b="1" lang="en-US" sz="2000">
                <a:solidFill>
                  <a:schemeClr val="dk1"/>
                </a:solidFill>
              </a:rPr>
              <a:t>Personal </a:t>
            </a:r>
            <a:r>
              <a:rPr b="1" lang="en-US" sz="2000">
                <a:solidFill>
                  <a:schemeClr val="dk1"/>
                </a:solidFill>
              </a:rPr>
              <a:t>Privacy </a:t>
            </a:r>
            <a:r>
              <a:rPr lang="en-US" sz="2000">
                <a:solidFill>
                  <a:schemeClr val="dk1"/>
                </a:solidFill>
              </a:rPr>
              <a:t>and</a:t>
            </a:r>
            <a:r>
              <a:rPr b="1" lang="en-US" sz="2000">
                <a:solidFill>
                  <a:schemeClr val="dk1"/>
                </a:solidFill>
              </a:rPr>
              <a:t> online trust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Important for </a:t>
            </a:r>
            <a:r>
              <a:rPr b="1" lang="en-US" sz="2000">
                <a:solidFill>
                  <a:schemeClr val="dk1"/>
                </a:solidFill>
              </a:rPr>
              <a:t>media, law, </a:t>
            </a:r>
            <a:r>
              <a:rPr lang="en-US" sz="2000">
                <a:solidFill>
                  <a:schemeClr val="dk1"/>
                </a:solidFill>
              </a:rPr>
              <a:t>and</a:t>
            </a:r>
            <a:r>
              <a:rPr b="1" lang="en-US" sz="2000">
                <a:solidFill>
                  <a:schemeClr val="dk1"/>
                </a:solidFill>
              </a:rPr>
              <a:t> public safety</a:t>
            </a:r>
            <a:r>
              <a:rPr lang="en-US" sz="2000">
                <a:solidFill>
                  <a:schemeClr val="dk1"/>
                </a:solidFill>
              </a:rPr>
              <a:t> to have a reliable solution.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8450525" y="1823144"/>
            <a:ext cx="3441900" cy="45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625" lIns="114625" spcFirstLastPara="1" rIns="114625" wrap="square" tIns="114625">
            <a:no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Deep fakes are becoming </a:t>
            </a:r>
            <a:r>
              <a:rPr b="1" lang="en-US" sz="2000">
                <a:solidFill>
                  <a:schemeClr val="dk1"/>
                </a:solidFill>
              </a:rPr>
              <a:t>very realistic</a:t>
            </a:r>
            <a:r>
              <a:rPr lang="en-US" sz="2000">
                <a:solidFill>
                  <a:schemeClr val="dk1"/>
                </a:solidFill>
              </a:rPr>
              <a:t> with new AI models.</a:t>
            </a:r>
            <a:endParaRPr sz="2000">
              <a:solidFill>
                <a:schemeClr val="dk1"/>
              </a:solidFill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Hard to </a:t>
            </a:r>
            <a:r>
              <a:rPr b="1" lang="en-US" sz="2000">
                <a:solidFill>
                  <a:schemeClr val="dk1"/>
                </a:solidFill>
              </a:rPr>
              <a:t>spot differences</a:t>
            </a:r>
            <a:r>
              <a:rPr lang="en-US" sz="2000">
                <a:solidFill>
                  <a:schemeClr val="dk1"/>
                </a:solidFill>
              </a:rPr>
              <a:t> with the human eye.</a:t>
            </a:r>
            <a:endParaRPr sz="2000">
              <a:solidFill>
                <a:schemeClr val="dk1"/>
              </a:solidFill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Building a system that is </a:t>
            </a:r>
            <a:r>
              <a:rPr b="1" lang="en-US" sz="2000">
                <a:solidFill>
                  <a:schemeClr val="dk1"/>
                </a:solidFill>
              </a:rPr>
              <a:t>fast, accurat</a:t>
            </a:r>
            <a:r>
              <a:rPr b="1" lang="en-US" sz="2000">
                <a:solidFill>
                  <a:schemeClr val="dk1"/>
                </a:solidFill>
              </a:rPr>
              <a:t>e</a:t>
            </a:r>
            <a:r>
              <a:rPr b="1" lang="en-US" sz="2000">
                <a:solidFill>
                  <a:schemeClr val="dk1"/>
                </a:solidFill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and</a:t>
            </a:r>
            <a:r>
              <a:rPr b="1" lang="en-US" sz="2000">
                <a:solidFill>
                  <a:schemeClr val="dk1"/>
                </a:solidFill>
              </a:rPr>
              <a:t> scalable</a:t>
            </a:r>
            <a:r>
              <a:rPr lang="en-US" sz="2000">
                <a:solidFill>
                  <a:schemeClr val="dk1"/>
                </a:solidFill>
              </a:rPr>
              <a:t> is not easy.</a:t>
            </a:r>
            <a:endParaRPr sz="2000">
              <a:solidFill>
                <a:schemeClr val="dk1"/>
              </a:solidFill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Training needs </a:t>
            </a:r>
            <a:r>
              <a:rPr b="1" lang="en-US" sz="2000">
                <a:solidFill>
                  <a:schemeClr val="dk1"/>
                </a:solidFill>
              </a:rPr>
              <a:t>large datasets </a:t>
            </a:r>
            <a:r>
              <a:rPr lang="en-US" sz="2000">
                <a:solidFill>
                  <a:schemeClr val="dk1"/>
                </a:solidFill>
              </a:rPr>
              <a:t>and</a:t>
            </a:r>
            <a:r>
              <a:rPr b="1" lang="en-US" sz="2000">
                <a:solidFill>
                  <a:schemeClr val="dk1"/>
                </a:solidFill>
              </a:rPr>
              <a:t> computing power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609600" y="1835975"/>
            <a:ext cx="4219800" cy="46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625" lIns="114625" spcFirstLastPara="1" rIns="114625" wrap="square" tIns="114625">
            <a:noAutofit/>
          </a:bodyPr>
          <a:lstStyle/>
          <a:p>
            <a:pPr indent="-23495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Most existing methods work only on </a:t>
            </a:r>
            <a:r>
              <a:rPr b="1" lang="en-US" sz="1900">
                <a:solidFill>
                  <a:schemeClr val="dk1"/>
                </a:solidFill>
              </a:rPr>
              <a:t>particular</a:t>
            </a:r>
            <a:r>
              <a:rPr b="1" lang="en-US" sz="1900">
                <a:solidFill>
                  <a:schemeClr val="dk1"/>
                </a:solidFill>
              </a:rPr>
              <a:t> dataset</a:t>
            </a:r>
            <a:r>
              <a:rPr lang="en-US" sz="1900">
                <a:solidFill>
                  <a:schemeClr val="dk1"/>
                </a:solidFill>
              </a:rPr>
              <a:t> and failed on new files.</a:t>
            </a:r>
            <a:endParaRPr sz="1900">
              <a:solidFill>
                <a:schemeClr val="dk1"/>
              </a:solidFill>
            </a:endParaRPr>
          </a:p>
          <a:p>
            <a:pPr indent="-234950" lvl="0" marL="1143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Very few methods look at </a:t>
            </a:r>
            <a:r>
              <a:rPr b="1" lang="en-US" sz="1900">
                <a:solidFill>
                  <a:schemeClr val="dk1"/>
                </a:solidFill>
              </a:rPr>
              <a:t>both video and audio together</a:t>
            </a:r>
            <a:r>
              <a:rPr lang="en-US" sz="1900">
                <a:solidFill>
                  <a:schemeClr val="dk1"/>
                </a:solidFill>
              </a:rPr>
              <a:t> – most focus only on faces.</a:t>
            </a:r>
            <a:endParaRPr sz="1900">
              <a:solidFill>
                <a:schemeClr val="dk1"/>
              </a:solidFill>
            </a:endParaRPr>
          </a:p>
          <a:p>
            <a:pPr indent="-234950" lvl="0" marL="1143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</a:rPr>
              <a:t>Limited real-world testing</a:t>
            </a:r>
            <a:r>
              <a:rPr lang="en-US" sz="1900">
                <a:solidFill>
                  <a:schemeClr val="dk1"/>
                </a:solidFill>
              </a:rPr>
              <a:t> – tools work in labs but not in real scenarios like social media.</a:t>
            </a:r>
            <a:endParaRPr sz="1900">
              <a:solidFill>
                <a:schemeClr val="dk1"/>
              </a:solidFill>
            </a:endParaRPr>
          </a:p>
          <a:p>
            <a:pPr indent="-234950" lvl="0" marL="1143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Lack of </a:t>
            </a:r>
            <a:r>
              <a:rPr b="1" lang="en-US" sz="1900">
                <a:solidFill>
                  <a:schemeClr val="dk1"/>
                </a:solidFill>
              </a:rPr>
              <a:t>large, diverse datasets</a:t>
            </a:r>
            <a:r>
              <a:rPr lang="en-US" sz="1900">
                <a:solidFill>
                  <a:schemeClr val="dk1"/>
                </a:solidFill>
              </a:rPr>
              <a:t> </a:t>
            </a:r>
            <a:r>
              <a:rPr lang="en-US" sz="1900">
                <a:solidFill>
                  <a:schemeClr val="dk1"/>
                </a:solidFill>
              </a:rPr>
              <a:t>– </a:t>
            </a:r>
            <a:r>
              <a:rPr lang="en-US" sz="1900">
                <a:solidFill>
                  <a:schemeClr val="dk1"/>
                </a:solidFill>
              </a:rPr>
              <a:t>current models don’t cover all fake styles.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651050" y="1064294"/>
            <a:ext cx="3795000" cy="784800"/>
          </a:xfrm>
          <a:prstGeom prst="chevron">
            <a:avLst>
              <a:gd fmla="val 50000" name="adj"/>
            </a:avLst>
          </a:prstGeom>
          <a:solidFill>
            <a:srgbClr val="1D7E75"/>
          </a:solidFill>
          <a:ln>
            <a:noFill/>
          </a:ln>
        </p:spPr>
        <p:txBody>
          <a:bodyPr anchorCtr="0" anchor="ctr" bIns="114625" lIns="114625" spcFirstLastPara="1" rIns="114625" wrap="square" tIns="114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Necessity</a:t>
            </a:r>
            <a:endParaRPr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8021300" y="1064294"/>
            <a:ext cx="3795000" cy="784800"/>
          </a:xfrm>
          <a:prstGeom prst="chevron">
            <a:avLst>
              <a:gd fmla="val 50000" name="adj"/>
            </a:avLst>
          </a:prstGeom>
          <a:solidFill>
            <a:srgbClr val="249C91"/>
          </a:solidFill>
          <a:ln>
            <a:noFill/>
          </a:ln>
        </p:spPr>
        <p:txBody>
          <a:bodyPr anchorCtr="0" anchor="ctr" bIns="114625" lIns="114625" spcFirstLastPara="1" rIns="114625" wrap="square" tIns="114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Challenges</a:t>
            </a:r>
            <a:endParaRPr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0" y="25"/>
            <a:ext cx="360300" cy="6858000"/>
          </a:xfrm>
          <a:prstGeom prst="rect">
            <a:avLst/>
          </a:prstGeom>
          <a:solidFill>
            <a:srgbClr val="1B78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813153" y="1887950"/>
            <a:ext cx="19500" cy="3714600"/>
          </a:xfrm>
          <a:prstGeom prst="rect">
            <a:avLst/>
          </a:prstGeom>
          <a:solidFill>
            <a:srgbClr val="1B78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 flipH="1">
            <a:off x="8337300" y="1964150"/>
            <a:ext cx="19500" cy="3714600"/>
          </a:xfrm>
          <a:prstGeom prst="rect">
            <a:avLst/>
          </a:prstGeom>
          <a:solidFill>
            <a:srgbClr val="1B78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39a4a5468_0_27"/>
          <p:cNvSpPr txBox="1"/>
          <p:nvPr/>
        </p:nvSpPr>
        <p:spPr>
          <a:xfrm>
            <a:off x="10744200" y="6488668"/>
            <a:ext cx="144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0</a:t>
            </a: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6" name="Google Shape;86;g3839a4a5468_0_27"/>
          <p:cNvSpPr txBox="1"/>
          <p:nvPr/>
        </p:nvSpPr>
        <p:spPr>
          <a:xfrm>
            <a:off x="207900" y="245675"/>
            <a:ext cx="8837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F"/>
              </a:buClr>
              <a:buSzPts val="4500"/>
              <a:buFont typeface="EB Garamond"/>
              <a:buChar char="❏"/>
            </a:pPr>
            <a:r>
              <a:rPr b="1" lang="en-US" sz="4500" u="sng">
                <a:solidFill>
                  <a:srgbClr val="1B786F"/>
                </a:solidFill>
                <a:latin typeface="EB Garamond"/>
                <a:ea typeface="EB Garamond"/>
                <a:cs typeface="EB Garamond"/>
                <a:sym typeface="EB Garamond"/>
              </a:rPr>
              <a:t>Project Objectives</a:t>
            </a:r>
            <a:r>
              <a:rPr b="1" i="0" lang="en-US" sz="4500" u="none" cap="none" strike="noStrike">
                <a:solidFill>
                  <a:srgbClr val="1B786F"/>
                </a:solidFill>
                <a:latin typeface="EB Garamond"/>
                <a:ea typeface="EB Garamond"/>
                <a:cs typeface="EB Garamond"/>
                <a:sym typeface="EB Garamond"/>
              </a:rPr>
              <a:t> :- </a:t>
            </a:r>
            <a:endParaRPr b="1" i="0" sz="4500" u="none" cap="none" strike="noStrike">
              <a:solidFill>
                <a:srgbClr val="1B786F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grpSp>
        <p:nvGrpSpPr>
          <p:cNvPr id="87" name="Google Shape;87;g3839a4a5468_0_27"/>
          <p:cNvGrpSpPr/>
          <p:nvPr/>
        </p:nvGrpSpPr>
        <p:grpSpPr>
          <a:xfrm>
            <a:off x="874925" y="1072975"/>
            <a:ext cx="4698083" cy="5618947"/>
            <a:chOff x="1118225" y="283725"/>
            <a:chExt cx="2090825" cy="4128239"/>
          </a:xfrm>
        </p:grpSpPr>
        <p:sp>
          <p:nvSpPr>
            <p:cNvPr id="88" name="Google Shape;88;g3839a4a5468_0_27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45850" lIns="145850" spcFirstLastPara="1" rIns="145850" wrap="square" tIns="14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2"/>
                <a:buFont typeface="Arial"/>
                <a:buNone/>
              </a:pPr>
              <a:r>
                <a:t/>
              </a:r>
              <a:endParaRPr b="0" i="0" sz="15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g3839a4a5468_0_27"/>
            <p:cNvSpPr/>
            <p:nvPr/>
          </p:nvSpPr>
          <p:spPr>
            <a:xfrm>
              <a:off x="1118227" y="341748"/>
              <a:ext cx="2048100" cy="451800"/>
            </a:xfrm>
            <a:prstGeom prst="rect">
              <a:avLst/>
            </a:prstGeom>
            <a:solidFill>
              <a:srgbClr val="FFFFFF"/>
            </a:solidFill>
            <a:ln cap="flat" cmpd="sng" w="30375">
              <a:solidFill>
                <a:srgbClr val="1D7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5850" lIns="145850" spcFirstLastPara="1" rIns="145850" wrap="square" tIns="14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2"/>
                <a:buFont typeface="Arial"/>
                <a:buNone/>
              </a:pPr>
              <a:r>
                <a:t/>
              </a:r>
              <a:endParaRPr b="0" i="0" sz="15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g3839a4a5468_0_27"/>
            <p:cNvSpPr/>
            <p:nvPr/>
          </p:nvSpPr>
          <p:spPr>
            <a:xfrm>
              <a:off x="1118225" y="341748"/>
              <a:ext cx="1931400" cy="37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5850" lIns="145850" spcFirstLastPara="1" rIns="145850" wrap="square" tIns="145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44"/>
                <a:buFont typeface="Arial"/>
                <a:buNone/>
              </a:pPr>
              <a:r>
                <a:rPr b="1" lang="en-US" sz="3003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  Objectives</a:t>
              </a:r>
              <a:endParaRPr b="1" i="0" sz="3003" u="none" cap="none" strike="noStrike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" name="Google Shape;91;g3839a4a5468_0_27"/>
            <p:cNvSpPr/>
            <p:nvPr/>
          </p:nvSpPr>
          <p:spPr>
            <a:xfrm>
              <a:off x="1185777" y="777764"/>
              <a:ext cx="1992600" cy="363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5850" lIns="145850" spcFirstLastPara="1" rIns="145850" wrap="square" tIns="145850">
              <a:noAutofit/>
            </a:bodyPr>
            <a:lstStyle/>
            <a:p>
              <a:pPr indent="-241300" lvl="0" marL="2286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Char char="●"/>
              </a:pPr>
              <a:r>
                <a:rPr lang="en-US" sz="2000">
                  <a:solidFill>
                    <a:schemeClr val="lt1"/>
                  </a:solidFill>
                </a:rPr>
                <a:t>To </a:t>
              </a:r>
              <a:r>
                <a:rPr lang="en-US" sz="2000">
                  <a:solidFill>
                    <a:schemeClr val="lt1"/>
                  </a:solidFill>
                </a:rPr>
                <a:t>develop an </a:t>
              </a:r>
              <a:r>
                <a:rPr b="1" lang="en-US" sz="2000">
                  <a:solidFill>
                    <a:schemeClr val="lt1"/>
                  </a:solidFill>
                </a:rPr>
                <a:t>AI-based system</a:t>
              </a:r>
              <a:r>
                <a:rPr lang="en-US" sz="2000">
                  <a:solidFill>
                    <a:schemeClr val="lt1"/>
                  </a:solidFill>
                </a:rPr>
                <a:t> for accurate detection of deepfake videos.</a:t>
              </a:r>
              <a:endParaRPr sz="2000">
                <a:solidFill>
                  <a:schemeClr val="lt1"/>
                </a:solidFill>
              </a:endParaRPr>
            </a:p>
            <a:p>
              <a:pPr indent="-241300" lvl="0" marL="228600" rtl="0" algn="l">
                <a:spcBef>
                  <a:spcPts val="10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Char char="●"/>
              </a:pPr>
              <a:r>
                <a:rPr lang="en-US" sz="2000">
                  <a:solidFill>
                    <a:schemeClr val="lt1"/>
                  </a:solidFill>
                </a:rPr>
                <a:t>To combine </a:t>
              </a:r>
              <a:r>
                <a:rPr b="1" lang="en-US" sz="2000">
                  <a:solidFill>
                    <a:schemeClr val="lt1"/>
                  </a:solidFill>
                </a:rPr>
                <a:t>Convolutional Neural Networks (CNNs)</a:t>
              </a:r>
              <a:r>
                <a:rPr lang="en-US" sz="2000">
                  <a:solidFill>
                    <a:schemeClr val="lt1"/>
                  </a:solidFill>
                </a:rPr>
                <a:t> and </a:t>
              </a:r>
              <a:r>
                <a:rPr b="1" lang="en-US" sz="2000">
                  <a:solidFill>
                    <a:schemeClr val="lt1"/>
                  </a:solidFill>
                </a:rPr>
                <a:t>Vision Transformers (ViTs)</a:t>
              </a:r>
              <a:r>
                <a:rPr lang="en-US" sz="2000">
                  <a:solidFill>
                    <a:schemeClr val="lt1"/>
                  </a:solidFill>
                </a:rPr>
                <a:t> for feature extraction.</a:t>
              </a:r>
              <a:endParaRPr sz="2000">
                <a:solidFill>
                  <a:schemeClr val="lt1"/>
                </a:solidFill>
              </a:endParaRPr>
            </a:p>
            <a:p>
              <a:pPr indent="-241300" lvl="0" marL="228600" rtl="0" algn="l">
                <a:spcBef>
                  <a:spcPts val="10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Char char="●"/>
              </a:pPr>
              <a:r>
                <a:rPr lang="en-US" sz="2000">
                  <a:solidFill>
                    <a:schemeClr val="lt1"/>
                  </a:solidFill>
                </a:rPr>
                <a:t>To analyze different </a:t>
              </a:r>
              <a:r>
                <a:rPr b="1" lang="en-US" sz="2000">
                  <a:solidFill>
                    <a:schemeClr val="lt1"/>
                  </a:solidFill>
                </a:rPr>
                <a:t>facial regions (eyes, nose, full face)</a:t>
              </a:r>
              <a:r>
                <a:rPr lang="en-US" sz="2000">
                  <a:solidFill>
                    <a:schemeClr val="lt1"/>
                  </a:solidFill>
                </a:rPr>
                <a:t> for improved detection accuracy.</a:t>
              </a:r>
              <a:endParaRPr sz="2000">
                <a:solidFill>
                  <a:schemeClr val="lt1"/>
                </a:solidFill>
              </a:endParaRPr>
            </a:p>
            <a:p>
              <a:pPr indent="-241300" lvl="0" marL="228600" rtl="0" algn="l">
                <a:spcBef>
                  <a:spcPts val="10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Char char="●"/>
              </a:pPr>
              <a:r>
                <a:rPr lang="en-US" sz="2000">
                  <a:solidFill>
                    <a:schemeClr val="lt1"/>
                  </a:solidFill>
                </a:rPr>
                <a:t>To build a </a:t>
              </a:r>
              <a:r>
                <a:rPr b="1" lang="en-US" sz="2000">
                  <a:solidFill>
                    <a:schemeClr val="lt1"/>
                  </a:solidFill>
                </a:rPr>
                <a:t>robust model</a:t>
              </a:r>
              <a:r>
                <a:rPr lang="en-US" sz="2000">
                  <a:solidFill>
                    <a:schemeClr val="lt1"/>
                  </a:solidFill>
                </a:rPr>
                <a:t> that minimizes misinformation risks on digital and social media platforms.</a:t>
              </a:r>
              <a:endParaRPr sz="2000">
                <a:solidFill>
                  <a:schemeClr val="lt1"/>
                </a:solidFill>
              </a:endParaRPr>
            </a:p>
          </p:txBody>
        </p:sp>
      </p:grpSp>
      <p:grpSp>
        <p:nvGrpSpPr>
          <p:cNvPr id="92" name="Google Shape;92;g3839a4a5468_0_27"/>
          <p:cNvGrpSpPr/>
          <p:nvPr/>
        </p:nvGrpSpPr>
        <p:grpSpPr>
          <a:xfrm>
            <a:off x="5790824" y="1072949"/>
            <a:ext cx="5755626" cy="5523114"/>
            <a:chOff x="1118222" y="283725"/>
            <a:chExt cx="2102205" cy="4076400"/>
          </a:xfrm>
        </p:grpSpPr>
        <p:sp>
          <p:nvSpPr>
            <p:cNvPr id="93" name="Google Shape;93;g3839a4a5468_0_27"/>
            <p:cNvSpPr/>
            <p:nvPr/>
          </p:nvSpPr>
          <p:spPr>
            <a:xfrm>
              <a:off x="1190027" y="283725"/>
              <a:ext cx="2030400" cy="40764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35975" lIns="135975" spcFirstLastPara="1" rIns="135975" wrap="square" tIns="135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3839a4a5468_0_27"/>
            <p:cNvSpPr/>
            <p:nvPr/>
          </p:nvSpPr>
          <p:spPr>
            <a:xfrm>
              <a:off x="1118222" y="341749"/>
              <a:ext cx="2048100" cy="525900"/>
            </a:xfrm>
            <a:prstGeom prst="rect">
              <a:avLst/>
            </a:prstGeom>
            <a:solidFill>
              <a:srgbClr val="FFFFFF"/>
            </a:solidFill>
            <a:ln cap="flat" cmpd="sng" w="28325">
              <a:solidFill>
                <a:srgbClr val="1D7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5975" lIns="135975" spcFirstLastPara="1" rIns="135975" wrap="square" tIns="135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65"/>
                <a:buFont typeface="Arial"/>
                <a:buNone/>
              </a:pPr>
              <a:r>
                <a:rPr b="1" lang="en-US" sz="28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  Expected Outcomes </a:t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3839a4a5468_0_27"/>
            <p:cNvSpPr/>
            <p:nvPr/>
          </p:nvSpPr>
          <p:spPr>
            <a:xfrm>
              <a:off x="1198658" y="844948"/>
              <a:ext cx="2003100" cy="3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5975" lIns="135975" spcFirstLastPara="1" rIns="135975" wrap="square" tIns="135975">
              <a:noAutofit/>
            </a:bodyPr>
            <a:lstStyle/>
            <a:p>
              <a:pPr indent="-241300" lvl="0" marL="28575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Roboto"/>
                <a:buChar char="●"/>
              </a:pPr>
              <a:r>
                <a:rPr lang="en-US" sz="2000">
                  <a:solidFill>
                    <a:schemeClr val="lt1"/>
                  </a:solidFill>
                </a:rPr>
                <a:t>Achieved </a:t>
              </a:r>
              <a:r>
                <a:rPr b="1" lang="en-US" sz="2000">
                  <a:solidFill>
                    <a:schemeClr val="lt1"/>
                  </a:solidFill>
                </a:rPr>
                <a:t>high accuracy</a:t>
              </a:r>
              <a:r>
                <a:rPr lang="en-US" sz="2000">
                  <a:solidFill>
                    <a:schemeClr val="lt1"/>
                  </a:solidFill>
                </a:rPr>
                <a:t> in detecting manipulated videos.</a:t>
              </a:r>
              <a:endParaRPr sz="2000">
                <a:solidFill>
                  <a:schemeClr val="lt1"/>
                </a:solidFill>
              </a:endParaRPr>
            </a:p>
            <a:p>
              <a:pPr indent="-241300" lvl="0" marL="28575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Roboto"/>
                <a:buChar char="●"/>
              </a:pPr>
              <a:r>
                <a:rPr lang="en-US" sz="2000">
                  <a:solidFill>
                    <a:schemeClr val="lt1"/>
                  </a:solidFill>
                </a:rPr>
                <a:t>A </a:t>
              </a:r>
              <a:r>
                <a:rPr b="1" lang="en-US" sz="2000">
                  <a:solidFill>
                    <a:schemeClr val="lt1"/>
                  </a:solidFill>
                </a:rPr>
                <a:t>hybrid detection framework</a:t>
              </a:r>
              <a:r>
                <a:rPr lang="en-US" sz="2000">
                  <a:solidFill>
                    <a:schemeClr val="lt1"/>
                  </a:solidFill>
                </a:rPr>
                <a:t> integrating CNNs + ViTs with majority voting.</a:t>
              </a:r>
              <a:endParaRPr sz="2000">
                <a:solidFill>
                  <a:schemeClr val="lt1"/>
                </a:solidFill>
              </a:endParaRPr>
            </a:p>
            <a:p>
              <a:pPr indent="-241300" lvl="0" marL="28575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Roboto"/>
                <a:buChar char="●"/>
              </a:pPr>
              <a:r>
                <a:rPr lang="en-US" sz="2000">
                  <a:solidFill>
                    <a:schemeClr val="lt1"/>
                  </a:solidFill>
                </a:rPr>
                <a:t>Enhanced resilience against diverse deepfake generation techniques.</a:t>
              </a:r>
              <a:endParaRPr sz="2000">
                <a:solidFill>
                  <a:schemeClr val="lt1"/>
                </a:solidFill>
              </a:endParaRPr>
            </a:p>
            <a:p>
              <a:pPr indent="-241300" lvl="0" marL="28575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Roboto"/>
                <a:buChar char="●"/>
              </a:pPr>
              <a:r>
                <a:rPr lang="en-US" sz="2000">
                  <a:solidFill>
                    <a:schemeClr val="lt1"/>
                  </a:solidFill>
                </a:rPr>
                <a:t>Contribution to </a:t>
              </a:r>
              <a:r>
                <a:rPr b="1" lang="en-US" sz="2000">
                  <a:solidFill>
                    <a:schemeClr val="lt1"/>
                  </a:solidFill>
                </a:rPr>
                <a:t>digital security and trust</a:t>
              </a:r>
              <a:r>
                <a:rPr lang="en-US" sz="2000">
                  <a:solidFill>
                    <a:schemeClr val="lt1"/>
                  </a:solidFill>
                </a:rPr>
                <a:t> by mitigating misinformation threats.</a:t>
              </a:r>
              <a:endParaRPr sz="2000">
                <a:solidFill>
                  <a:schemeClr val="lt1"/>
                </a:solidFill>
              </a:endParaRPr>
            </a:p>
            <a:p>
              <a:pPr indent="-241300" lvl="0" marL="28575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Roboto"/>
                <a:buChar char="●"/>
              </a:pPr>
              <a:r>
                <a:rPr lang="en-US" sz="2000">
                  <a:solidFill>
                    <a:schemeClr val="lt1"/>
                  </a:solidFill>
                </a:rPr>
                <a:t>Provides a </a:t>
              </a:r>
              <a:r>
                <a:rPr b="1" lang="en-US" sz="2000">
                  <a:solidFill>
                    <a:schemeClr val="lt1"/>
                  </a:solidFill>
                </a:rPr>
                <a:t>research foundation</a:t>
              </a:r>
              <a:r>
                <a:rPr lang="en-US" sz="2000">
                  <a:solidFill>
                    <a:schemeClr val="lt1"/>
                  </a:solidFill>
                </a:rPr>
                <a:t> for future advancements in media authenticity verification.</a:t>
              </a:r>
              <a:endParaRPr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96" name="Google Shape;96;g3839a4a5468_0_27" title="download.jpeg"/>
          <p:cNvPicPr preferRelativeResize="0"/>
          <p:nvPr/>
        </p:nvPicPr>
        <p:blipFill rotWithShape="1">
          <a:blip r:embed="rId3">
            <a:alphaModFix/>
          </a:blip>
          <a:srcRect b="16791" l="14315" r="14358" t="6497"/>
          <a:stretch/>
        </p:blipFill>
        <p:spPr>
          <a:xfrm>
            <a:off x="11290059" y="109862"/>
            <a:ext cx="840225" cy="90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a550b5c6f_4_23"/>
          <p:cNvSpPr txBox="1"/>
          <p:nvPr/>
        </p:nvSpPr>
        <p:spPr>
          <a:xfrm>
            <a:off x="10744200" y="6488668"/>
            <a:ext cx="144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0</a:t>
            </a: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3" name="Google Shape;103;g38a550b5c6f_4_23"/>
          <p:cNvSpPr txBox="1"/>
          <p:nvPr/>
        </p:nvSpPr>
        <p:spPr>
          <a:xfrm>
            <a:off x="320850" y="245675"/>
            <a:ext cx="8877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F"/>
              </a:buClr>
              <a:buSzPts val="4500"/>
              <a:buFont typeface="EB Garamond"/>
              <a:buChar char="❏"/>
            </a:pPr>
            <a:r>
              <a:rPr b="1" lang="en-US" sz="4500" u="sng">
                <a:solidFill>
                  <a:srgbClr val="1B786F"/>
                </a:solidFill>
                <a:latin typeface="EB Garamond"/>
                <a:ea typeface="EB Garamond"/>
                <a:cs typeface="EB Garamond"/>
                <a:sym typeface="EB Garamond"/>
              </a:rPr>
              <a:t>Review of Existing Literature</a:t>
            </a:r>
            <a:r>
              <a:rPr b="1" i="0" lang="en-US" sz="4500" u="none" cap="none" strike="noStrike">
                <a:solidFill>
                  <a:srgbClr val="1B786F"/>
                </a:solidFill>
                <a:latin typeface="EB Garamond"/>
                <a:ea typeface="EB Garamond"/>
                <a:cs typeface="EB Garamond"/>
                <a:sym typeface="EB Garamond"/>
              </a:rPr>
              <a:t> :- </a:t>
            </a:r>
            <a:endParaRPr b="1" i="0" sz="4500" u="none" cap="none" strike="noStrike">
              <a:solidFill>
                <a:srgbClr val="1B786F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04" name="Google Shape;104;g38a550b5c6f_4_23" title="download.jpeg"/>
          <p:cNvPicPr preferRelativeResize="0"/>
          <p:nvPr/>
        </p:nvPicPr>
        <p:blipFill rotWithShape="1">
          <a:blip r:embed="rId3">
            <a:alphaModFix/>
          </a:blip>
          <a:srcRect b="16791" l="14315" r="14358" t="6497"/>
          <a:stretch/>
        </p:blipFill>
        <p:spPr>
          <a:xfrm>
            <a:off x="11290059" y="109862"/>
            <a:ext cx="840225" cy="903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g38a550b5c6f_4_23"/>
          <p:cNvGrpSpPr/>
          <p:nvPr/>
        </p:nvGrpSpPr>
        <p:grpSpPr>
          <a:xfrm>
            <a:off x="765968" y="1072975"/>
            <a:ext cx="5512254" cy="5534936"/>
            <a:chOff x="1118224" y="283725"/>
            <a:chExt cx="2090826" cy="4076400"/>
          </a:xfrm>
        </p:grpSpPr>
        <p:sp>
          <p:nvSpPr>
            <p:cNvPr id="106" name="Google Shape;106;g38a550b5c6f_4_23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35975" lIns="135975" spcFirstLastPara="1" rIns="135975" wrap="square" tIns="135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8a550b5c6f_4_23"/>
            <p:cNvSpPr/>
            <p:nvPr/>
          </p:nvSpPr>
          <p:spPr>
            <a:xfrm>
              <a:off x="1118224" y="341746"/>
              <a:ext cx="2048100" cy="414600"/>
            </a:xfrm>
            <a:prstGeom prst="rect">
              <a:avLst/>
            </a:prstGeom>
            <a:solidFill>
              <a:srgbClr val="FFFFFF"/>
            </a:solidFill>
            <a:ln cap="flat" cmpd="sng" w="28325">
              <a:solidFill>
                <a:srgbClr val="1D7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5975" lIns="135975" spcFirstLastPara="1" rIns="135975" wrap="square" tIns="135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g38a550b5c6f_4_23"/>
            <p:cNvSpPr/>
            <p:nvPr/>
          </p:nvSpPr>
          <p:spPr>
            <a:xfrm>
              <a:off x="1118224" y="341744"/>
              <a:ext cx="2090700" cy="4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5975" lIns="135975" spcFirstLastPara="1" rIns="135975" wrap="square" tIns="1359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1400"/>
                </a:spcBef>
                <a:spcAft>
                  <a:spcPts val="4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500">
                  <a:solidFill>
                    <a:srgbClr val="249C91"/>
                  </a:solidFill>
                </a:rPr>
                <a:t>Summary </a:t>
              </a:r>
              <a:r>
                <a:rPr b="1" lang="en-US" sz="2200">
                  <a:solidFill>
                    <a:srgbClr val="249C91"/>
                  </a:solidFill>
                </a:rPr>
                <a:t>of</a:t>
              </a:r>
              <a:r>
                <a:rPr b="1" lang="en-US" sz="2500">
                  <a:solidFill>
                    <a:srgbClr val="249C91"/>
                  </a:solidFill>
                </a:rPr>
                <a:t> Research Papers  </a:t>
              </a:r>
              <a:endParaRPr b="1" sz="2500">
                <a:solidFill>
                  <a:srgbClr val="249C9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" name="Google Shape;109;g38a550b5c6f_4_23"/>
            <p:cNvSpPr/>
            <p:nvPr/>
          </p:nvSpPr>
          <p:spPr>
            <a:xfrm>
              <a:off x="1148438" y="845443"/>
              <a:ext cx="2030400" cy="319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5975" lIns="135975" spcFirstLastPara="1" rIns="67850" wrap="square" tIns="135975">
              <a:noAutofit/>
            </a:bodyPr>
            <a:lstStyle/>
            <a:p>
              <a:pPr indent="-234950" lvl="0" marL="3429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Char char="●"/>
              </a:pPr>
              <a:r>
                <a:rPr lang="en-US" sz="1900">
                  <a:solidFill>
                    <a:schemeClr val="lt1"/>
                  </a:solidFill>
                </a:rPr>
                <a:t>Use of deep learning methods like CNN based methods, frequency analysis, temporal detection and hybrid models.</a:t>
              </a:r>
              <a:endParaRPr sz="1900">
                <a:solidFill>
                  <a:schemeClr val="lt1"/>
                </a:solidFill>
              </a:endParaRPr>
            </a:p>
            <a:p>
              <a:pPr indent="-292100" lvl="0" marL="34290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Char char="●"/>
              </a:pPr>
              <a:r>
                <a:rPr lang="en-US" sz="1900">
                  <a:solidFill>
                    <a:schemeClr val="lt1"/>
                  </a:solidFill>
                </a:rPr>
                <a:t>Provides conceptual knowledge about deep fake data generation and approaches for identification of various types of deep fakes.</a:t>
              </a:r>
              <a:endParaRPr sz="1900">
                <a:solidFill>
                  <a:schemeClr val="lt1"/>
                </a:solidFill>
              </a:endParaRPr>
            </a:p>
            <a:p>
              <a:pPr indent="-292100" lvl="0" marL="34290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Char char="●"/>
              </a:pPr>
              <a:r>
                <a:rPr lang="en-US" sz="1900">
                  <a:solidFill>
                    <a:schemeClr val="lt1"/>
                  </a:solidFill>
                </a:rPr>
                <a:t>Highlights commonly used datasets like FF++ and Celeb-DF and outlines major challenges in the field such as generalization to unseen data, robustness to compression and lack of real-world benchmarks.</a:t>
              </a:r>
              <a:endParaRPr sz="1900">
                <a:solidFill>
                  <a:schemeClr val="lt1"/>
                </a:solidFill>
              </a:endParaRPr>
            </a:p>
            <a:p>
              <a:pPr indent="0" lvl="0" marL="679997" marR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916"/>
                <a:buFont typeface="Arial"/>
                <a:buNone/>
              </a:pPr>
              <a:r>
                <a:t/>
              </a:r>
              <a:endParaRPr i="0" sz="1916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0" name="Google Shape;110;g38a550b5c6f_4_23"/>
          <p:cNvGrpSpPr/>
          <p:nvPr/>
        </p:nvGrpSpPr>
        <p:grpSpPr>
          <a:xfrm>
            <a:off x="6526777" y="1072974"/>
            <a:ext cx="4901329" cy="5534936"/>
            <a:chOff x="1118218" y="283725"/>
            <a:chExt cx="2090832" cy="4076400"/>
          </a:xfrm>
        </p:grpSpPr>
        <p:sp>
          <p:nvSpPr>
            <p:cNvPr id="111" name="Google Shape;111;g38a550b5c6f_4_23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35975" lIns="135975" spcFirstLastPara="1" rIns="135975" wrap="square" tIns="1359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38a550b5c6f_4_23"/>
            <p:cNvSpPr/>
            <p:nvPr/>
          </p:nvSpPr>
          <p:spPr>
            <a:xfrm>
              <a:off x="1118218" y="341744"/>
              <a:ext cx="2048100" cy="471900"/>
            </a:xfrm>
            <a:prstGeom prst="rect">
              <a:avLst/>
            </a:prstGeom>
            <a:solidFill>
              <a:srgbClr val="FFFFFF"/>
            </a:solidFill>
            <a:ln cap="flat" cmpd="sng" w="28325">
              <a:solidFill>
                <a:srgbClr val="1D7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5975" lIns="135975" spcFirstLastPara="1" rIns="135975" wrap="square" tIns="1359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1400"/>
                </a:spcBef>
                <a:spcAft>
                  <a:spcPts val="4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600">
                  <a:solidFill>
                    <a:srgbClr val="249C91"/>
                  </a:solidFill>
                </a:rPr>
                <a:t>Findings and trends</a:t>
              </a:r>
              <a:endParaRPr b="0" i="0" sz="2600" u="none" cap="none" strike="noStrike">
                <a:solidFill>
                  <a:srgbClr val="249C9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38a550b5c6f_4_23"/>
            <p:cNvSpPr/>
            <p:nvPr/>
          </p:nvSpPr>
          <p:spPr>
            <a:xfrm>
              <a:off x="1148430" y="813645"/>
              <a:ext cx="2030400" cy="345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5975" lIns="135975" spcFirstLastPara="1" rIns="135975" wrap="square" tIns="135975">
              <a:noAutofit/>
            </a:bodyPr>
            <a:lstStyle/>
            <a:p>
              <a:pPr indent="-34290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Char char="●"/>
              </a:pPr>
              <a:r>
                <a:rPr b="1" lang="en-US" sz="1800">
                  <a:solidFill>
                    <a:schemeClr val="lt1"/>
                  </a:solidFill>
                </a:rPr>
                <a:t>Emerging Techniques &amp; Methods -</a:t>
              </a:r>
              <a:r>
                <a:rPr lang="en-US" sz="1800">
                  <a:solidFill>
                    <a:schemeClr val="lt1"/>
                  </a:solidFill>
                </a:rPr>
                <a:t> CNN, LSTM, Frequency and Temporal Analysis.</a:t>
              </a:r>
              <a:endParaRPr sz="1800">
                <a:solidFill>
                  <a:schemeClr val="lt1"/>
                </a:solidFill>
              </a:endParaRPr>
            </a:p>
            <a:p>
              <a:pPr indent="-342900" lvl="0" marL="45720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Char char="●"/>
              </a:pPr>
              <a:r>
                <a:rPr b="1" lang="en-US" sz="1800">
                  <a:solidFill>
                    <a:schemeClr val="lt1"/>
                  </a:solidFill>
                </a:rPr>
                <a:t>Performance Trends -</a:t>
              </a:r>
              <a:r>
                <a:rPr lang="en-US" sz="1800">
                  <a:solidFill>
                    <a:schemeClr val="lt1"/>
                  </a:solidFill>
                </a:rPr>
                <a:t> Accuracy on </a:t>
              </a:r>
              <a:r>
                <a:rPr lang="en-US" sz="1800">
                  <a:solidFill>
                    <a:schemeClr val="lt1"/>
                  </a:solidFill>
                </a:rPr>
                <a:t>known</a:t>
              </a:r>
              <a:r>
                <a:rPr lang="en-US" sz="1800">
                  <a:solidFill>
                    <a:schemeClr val="lt1"/>
                  </a:solidFill>
                </a:rPr>
                <a:t> and unknown datasets. Sensitivity to compressed and resolution data on social media.</a:t>
              </a:r>
              <a:endParaRPr sz="1800">
                <a:solidFill>
                  <a:schemeClr val="lt1"/>
                </a:solidFill>
              </a:endParaRPr>
            </a:p>
            <a:p>
              <a:pPr indent="-342900" lvl="0" marL="45720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Char char="●"/>
              </a:pPr>
              <a:r>
                <a:rPr b="1" lang="en-US" sz="1800">
                  <a:solidFill>
                    <a:schemeClr val="lt1"/>
                  </a:solidFill>
                </a:rPr>
                <a:t>Datasets Used -</a:t>
              </a:r>
              <a:r>
                <a:rPr lang="en-US" sz="1800">
                  <a:solidFill>
                    <a:schemeClr val="lt1"/>
                  </a:solidFill>
                </a:rPr>
                <a:t> Face Forensics++, Celeb-DF, DFDC</a:t>
              </a:r>
              <a:endParaRPr sz="1800">
                <a:solidFill>
                  <a:schemeClr val="lt1"/>
                </a:solidFill>
              </a:endParaRPr>
            </a:p>
            <a:p>
              <a:pPr indent="-342900" lvl="0" marL="45720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Char char="●"/>
              </a:pPr>
              <a:r>
                <a:rPr b="1" lang="en-US" sz="1800">
                  <a:solidFill>
                    <a:schemeClr val="lt1"/>
                  </a:solidFill>
                </a:rPr>
                <a:t>Research Gaps and Challenges - </a:t>
              </a:r>
              <a:r>
                <a:rPr lang="en-US" sz="1800">
                  <a:solidFill>
                    <a:schemeClr val="lt1"/>
                  </a:solidFill>
                </a:rPr>
                <a:t>Generalisation on unseen data, few studies on audio deep fakes, lack of explainability and interpretability</a:t>
              </a:r>
              <a:endParaRPr sz="180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0f1d3873d_0_393"/>
          <p:cNvSpPr txBox="1"/>
          <p:nvPr/>
        </p:nvSpPr>
        <p:spPr>
          <a:xfrm>
            <a:off x="10744200" y="6488668"/>
            <a:ext cx="144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0</a:t>
            </a: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9" name="Google Shape;119;g380f1d3873d_0_393"/>
          <p:cNvSpPr txBox="1"/>
          <p:nvPr/>
        </p:nvSpPr>
        <p:spPr>
          <a:xfrm>
            <a:off x="320850" y="261725"/>
            <a:ext cx="8877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F"/>
              </a:buClr>
              <a:buSzPts val="4500"/>
              <a:buFont typeface="EB Garamond"/>
              <a:buChar char="❏"/>
            </a:pPr>
            <a:r>
              <a:rPr b="1" lang="en-US" sz="4500" u="sng">
                <a:solidFill>
                  <a:srgbClr val="1B786F"/>
                </a:solidFill>
                <a:latin typeface="EB Garamond"/>
                <a:ea typeface="EB Garamond"/>
                <a:cs typeface="EB Garamond"/>
                <a:sym typeface="EB Garamond"/>
              </a:rPr>
              <a:t>Tools and </a:t>
            </a:r>
            <a:r>
              <a:rPr b="1" lang="en-US" sz="4500" u="sng">
                <a:solidFill>
                  <a:srgbClr val="1B786F"/>
                </a:solidFill>
                <a:latin typeface="EB Garamond"/>
                <a:ea typeface="EB Garamond"/>
                <a:cs typeface="EB Garamond"/>
                <a:sym typeface="EB Garamond"/>
              </a:rPr>
              <a:t>Techniques</a:t>
            </a:r>
            <a:r>
              <a:rPr b="1" i="0" lang="en-US" sz="4500" u="none" cap="none" strike="noStrike">
                <a:solidFill>
                  <a:srgbClr val="1B786F"/>
                </a:solidFill>
                <a:latin typeface="EB Garamond"/>
                <a:ea typeface="EB Garamond"/>
                <a:cs typeface="EB Garamond"/>
                <a:sym typeface="EB Garamond"/>
              </a:rPr>
              <a:t> :- </a:t>
            </a:r>
            <a:endParaRPr b="1" i="0" sz="4500" u="none" cap="none" strike="noStrike">
              <a:solidFill>
                <a:srgbClr val="1B786F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20" name="Google Shape;120;g380f1d3873d_0_393" title="download.jpeg"/>
          <p:cNvPicPr preferRelativeResize="0"/>
          <p:nvPr/>
        </p:nvPicPr>
        <p:blipFill rotWithShape="1">
          <a:blip r:embed="rId3">
            <a:alphaModFix/>
          </a:blip>
          <a:srcRect b="16791" l="14315" r="14358" t="6497"/>
          <a:stretch/>
        </p:blipFill>
        <p:spPr>
          <a:xfrm>
            <a:off x="11290059" y="109862"/>
            <a:ext cx="840225" cy="903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g380f1d3873d_0_393"/>
          <p:cNvGrpSpPr/>
          <p:nvPr/>
        </p:nvGrpSpPr>
        <p:grpSpPr>
          <a:xfrm>
            <a:off x="525775" y="1034494"/>
            <a:ext cx="5739248" cy="5415497"/>
            <a:chOff x="1109377" y="283725"/>
            <a:chExt cx="2099673" cy="4076400"/>
          </a:xfrm>
        </p:grpSpPr>
        <p:sp>
          <p:nvSpPr>
            <p:cNvPr id="122" name="Google Shape;122;g380f1d3873d_0_393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42350" lIns="142350" spcFirstLastPara="1" rIns="142350" wrap="square" tIns="142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6"/>
                <a:buFont typeface="Arial"/>
                <a:buNone/>
              </a:pPr>
              <a:r>
                <a:t/>
              </a:r>
              <a:endParaRPr b="0" i="0" sz="14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380f1d3873d_0_393"/>
            <p:cNvSpPr/>
            <p:nvPr/>
          </p:nvSpPr>
          <p:spPr>
            <a:xfrm>
              <a:off x="1118230" y="341742"/>
              <a:ext cx="2048100" cy="542700"/>
            </a:xfrm>
            <a:prstGeom prst="rect">
              <a:avLst/>
            </a:prstGeom>
            <a:solidFill>
              <a:srgbClr val="FFFFFF"/>
            </a:solidFill>
            <a:ln cap="flat" cmpd="sng" w="29650">
              <a:solidFill>
                <a:srgbClr val="1D7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2350" lIns="142350" spcFirstLastPara="1" rIns="142350" wrap="square" tIns="142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6"/>
                <a:buFont typeface="Arial"/>
                <a:buNone/>
              </a:pPr>
              <a:r>
                <a:t/>
              </a:r>
              <a:endParaRPr b="0" i="0" sz="14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380f1d3873d_0_393"/>
            <p:cNvSpPr/>
            <p:nvPr/>
          </p:nvSpPr>
          <p:spPr>
            <a:xfrm>
              <a:off x="1118230" y="341742"/>
              <a:ext cx="2090700" cy="46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350" lIns="142350" spcFirstLastPara="1" rIns="142350" wrap="square" tIns="1423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466"/>
                </a:spcBef>
                <a:spcAft>
                  <a:spcPts val="419"/>
                </a:spcAft>
                <a:buClr>
                  <a:schemeClr val="dk1"/>
                </a:buClr>
                <a:buSzPts val="1152"/>
                <a:buFont typeface="Arial"/>
                <a:buNone/>
              </a:pPr>
              <a:r>
                <a:rPr b="1" lang="en-US" sz="2722">
                  <a:solidFill>
                    <a:srgbClr val="249C91"/>
                  </a:solidFill>
                </a:rPr>
                <a:t> Overview of Methodologies :</a:t>
              </a:r>
              <a:endParaRPr b="1" sz="2722">
                <a:solidFill>
                  <a:srgbClr val="249C9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" name="Google Shape;125;g380f1d3873d_0_393"/>
            <p:cNvSpPr/>
            <p:nvPr/>
          </p:nvSpPr>
          <p:spPr>
            <a:xfrm>
              <a:off x="1109377" y="885249"/>
              <a:ext cx="2090700" cy="34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350" lIns="142350" spcFirstLastPara="1" rIns="142350" wrap="square" tIns="142350">
              <a:noAutofit/>
            </a:bodyPr>
            <a:lstStyle/>
            <a:p>
              <a:pPr indent="-239717" lvl="0" marL="47625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75"/>
                <a:buChar char="●"/>
              </a:pPr>
              <a:r>
                <a:rPr b="1" lang="en-US" sz="1675">
                  <a:solidFill>
                    <a:schemeClr val="lt1"/>
                  </a:solidFill>
                </a:rPr>
                <a:t>CNNs:</a:t>
              </a:r>
              <a:r>
                <a:rPr lang="en-US" sz="1675">
                  <a:solidFill>
                    <a:schemeClr val="lt1"/>
                  </a:solidFill>
                </a:rPr>
                <a:t> Most common, capture pixel-level artifacts in images.</a:t>
              </a:r>
              <a:endParaRPr sz="837">
                <a:solidFill>
                  <a:schemeClr val="lt1"/>
                </a:solidFill>
              </a:endParaRPr>
            </a:p>
            <a:p>
              <a:pPr indent="-242121" lvl="0" marL="478654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lt1"/>
                </a:buClr>
                <a:buSzPts val="1675"/>
                <a:buChar char="●"/>
              </a:pPr>
              <a:r>
                <a:rPr b="1" lang="en-US" sz="1675">
                  <a:solidFill>
                    <a:schemeClr val="lt1"/>
                  </a:solidFill>
                </a:rPr>
                <a:t>RNNs / LSTMs:</a:t>
              </a:r>
              <a:r>
                <a:rPr lang="en-US" sz="1675">
                  <a:solidFill>
                    <a:schemeClr val="lt1"/>
                  </a:solidFill>
                </a:rPr>
                <a:t> Track temporal consistency across video frames.</a:t>
              </a:r>
              <a:endParaRPr sz="837">
                <a:solidFill>
                  <a:schemeClr val="lt1"/>
                </a:solidFill>
              </a:endParaRPr>
            </a:p>
            <a:p>
              <a:pPr indent="-242121" lvl="0" marL="478654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lt1"/>
                </a:buClr>
                <a:buSzPts val="1675"/>
                <a:buChar char="●"/>
              </a:pPr>
              <a:r>
                <a:rPr b="1" lang="en-US" sz="1675">
                  <a:solidFill>
                    <a:schemeClr val="lt1"/>
                  </a:solidFill>
                </a:rPr>
                <a:t>Transformers:</a:t>
              </a:r>
              <a:r>
                <a:rPr lang="en-US" sz="1675">
                  <a:solidFill>
                    <a:schemeClr val="lt1"/>
                  </a:solidFill>
                </a:rPr>
                <a:t> Use attention to detect subtle, global inconsistencies.</a:t>
              </a:r>
              <a:endParaRPr sz="837">
                <a:solidFill>
                  <a:schemeClr val="lt1"/>
                </a:solidFill>
              </a:endParaRPr>
            </a:p>
            <a:p>
              <a:pPr indent="-242121" lvl="0" marL="478654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lt1"/>
                </a:buClr>
                <a:buSzPts val="1675"/>
                <a:buChar char="●"/>
              </a:pPr>
              <a:r>
                <a:rPr b="1" lang="en-US" sz="1675">
                  <a:solidFill>
                    <a:schemeClr val="lt1"/>
                  </a:solidFill>
                </a:rPr>
                <a:t>Hybrid Models:</a:t>
              </a:r>
              <a:r>
                <a:rPr lang="en-US" sz="1675">
                  <a:solidFill>
                    <a:schemeClr val="lt1"/>
                  </a:solidFill>
                </a:rPr>
                <a:t> Blend CNNs, Transformers, or frequency cues for stronger performance.</a:t>
              </a:r>
              <a:endParaRPr sz="837">
                <a:solidFill>
                  <a:schemeClr val="lt1"/>
                </a:solidFill>
              </a:endParaRPr>
            </a:p>
            <a:p>
              <a:pPr indent="-242121" lvl="0" marL="478654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lt1"/>
                </a:buClr>
                <a:buSzPts val="1675"/>
                <a:buChar char="●"/>
              </a:pPr>
              <a:r>
                <a:rPr b="1" lang="en-US" sz="1675">
                  <a:solidFill>
                    <a:schemeClr val="lt1"/>
                  </a:solidFill>
                </a:rPr>
                <a:t>Multimodal Systems:</a:t>
              </a:r>
              <a:r>
                <a:rPr lang="en-US" sz="1675">
                  <a:solidFill>
                    <a:schemeClr val="lt1"/>
                  </a:solidFill>
                </a:rPr>
                <a:t> Combine video, audio, and text to catch lip-sync and cross-modal mismatches.</a:t>
              </a:r>
              <a:endParaRPr sz="837">
                <a:solidFill>
                  <a:schemeClr val="lt1"/>
                </a:solidFill>
              </a:endParaRPr>
            </a:p>
            <a:p>
              <a:pPr indent="-242121" lvl="0" marL="478654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lt1"/>
                </a:buClr>
                <a:buSzPts val="1675"/>
                <a:buChar char="●"/>
              </a:pPr>
              <a:r>
                <a:rPr b="1" lang="en-US" sz="1675">
                  <a:solidFill>
                    <a:schemeClr val="lt1"/>
                  </a:solidFill>
                </a:rPr>
                <a:t>Emerging Trends:</a:t>
              </a:r>
              <a:r>
                <a:rPr lang="en-US" sz="1675">
                  <a:solidFill>
                    <a:schemeClr val="lt1"/>
                  </a:solidFill>
                </a:rPr>
                <a:t> Self-supervised learning and LLM-powered tools for better generalization.</a:t>
              </a:r>
              <a:endParaRPr sz="20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711907" marR="0" rtl="0" algn="l">
                <a:lnSpc>
                  <a:spcPct val="115000"/>
                </a:lnSpc>
                <a:spcBef>
                  <a:spcPts val="1256"/>
                </a:spcBef>
                <a:spcAft>
                  <a:spcPts val="0"/>
                </a:spcAft>
                <a:buClr>
                  <a:srgbClr val="000000"/>
                </a:buClr>
                <a:buSzPts val="2006"/>
                <a:buFont typeface="Arial"/>
                <a:buNone/>
              </a:pPr>
              <a:r>
                <a:t/>
              </a:r>
              <a:endParaRPr b="0" i="0" sz="200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" name="Google Shape;126;g380f1d3873d_0_393"/>
          <p:cNvGrpSpPr/>
          <p:nvPr/>
        </p:nvGrpSpPr>
        <p:grpSpPr>
          <a:xfrm>
            <a:off x="6495901" y="1034494"/>
            <a:ext cx="5229997" cy="5415530"/>
            <a:chOff x="1118222" y="283725"/>
            <a:chExt cx="2090828" cy="4076425"/>
          </a:xfrm>
        </p:grpSpPr>
        <p:sp>
          <p:nvSpPr>
            <p:cNvPr id="127" name="Google Shape;127;g380f1d3873d_0_393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42350" lIns="142350" spcFirstLastPara="1" rIns="142350" wrap="square" tIns="142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6"/>
                <a:buFont typeface="Arial"/>
                <a:buNone/>
              </a:pPr>
              <a:r>
                <a:t/>
              </a:r>
              <a:endParaRPr b="0" i="0" sz="14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g380f1d3873d_0_393"/>
            <p:cNvSpPr/>
            <p:nvPr/>
          </p:nvSpPr>
          <p:spPr>
            <a:xfrm>
              <a:off x="1118222" y="341749"/>
              <a:ext cx="2048100" cy="525900"/>
            </a:xfrm>
            <a:prstGeom prst="rect">
              <a:avLst/>
            </a:prstGeom>
            <a:solidFill>
              <a:srgbClr val="FFFFFF"/>
            </a:solidFill>
            <a:ln cap="flat" cmpd="sng" w="29650">
              <a:solidFill>
                <a:srgbClr val="1D7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2350" lIns="142350" spcFirstLastPara="1" rIns="142350" wrap="square" tIns="1423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1466"/>
                </a:spcBef>
                <a:spcAft>
                  <a:spcPts val="419"/>
                </a:spcAft>
                <a:buClr>
                  <a:schemeClr val="dk1"/>
                </a:buClr>
                <a:buSzPts val="1152"/>
                <a:buFont typeface="Arial"/>
                <a:buNone/>
              </a:pPr>
              <a:r>
                <a:rPr b="1" lang="en-US" sz="2512">
                  <a:solidFill>
                    <a:srgbClr val="249C91"/>
                  </a:solidFill>
                </a:rPr>
                <a:t>Common Tools &amp; Frameworks:</a:t>
              </a:r>
              <a:endParaRPr b="0" i="0" sz="2512" u="none" cap="none" strike="noStrike">
                <a:solidFill>
                  <a:srgbClr val="249C9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g380f1d3873d_0_393"/>
            <p:cNvSpPr/>
            <p:nvPr/>
          </p:nvSpPr>
          <p:spPr>
            <a:xfrm>
              <a:off x="1118302" y="842650"/>
              <a:ext cx="2030400" cy="351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350" lIns="142350" spcFirstLastPara="1" rIns="142350" wrap="square" tIns="142350">
              <a:noAutofit/>
            </a:bodyPr>
            <a:lstStyle/>
            <a:p>
              <a:pPr indent="-254821" lvl="0" marL="478654" rtl="0" algn="l">
                <a:lnSpc>
                  <a:spcPct val="115000"/>
                </a:lnSpc>
                <a:spcBef>
                  <a:spcPts val="1256"/>
                </a:spcBef>
                <a:spcAft>
                  <a:spcPts val="0"/>
                </a:spcAft>
                <a:buClr>
                  <a:schemeClr val="lt1"/>
                </a:buClr>
                <a:buSzPts val="1875"/>
                <a:buChar char="●"/>
              </a:pPr>
              <a:r>
                <a:rPr b="1" lang="en-US" sz="2000">
                  <a:solidFill>
                    <a:schemeClr val="lt1"/>
                  </a:solidFill>
                </a:rPr>
                <a:t>Datasets:</a:t>
              </a:r>
              <a:r>
                <a:rPr lang="en-US" sz="1875">
                  <a:solidFill>
                    <a:schemeClr val="lt1"/>
                  </a:solidFill>
                </a:rPr>
                <a:t> FaceForensics++, Celeb-DF v2, DFDC, WildDeepfake, FakeClue.</a:t>
              </a:r>
              <a:endParaRPr sz="1875">
                <a:solidFill>
                  <a:schemeClr val="lt1"/>
                </a:solidFill>
              </a:endParaRPr>
            </a:p>
            <a:p>
              <a:pPr indent="-254821" lvl="0" marL="478654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lt1"/>
                </a:buClr>
                <a:buSzPts val="1875"/>
                <a:buChar char="●"/>
              </a:pPr>
              <a:r>
                <a:rPr b="1" lang="en-US" sz="2000">
                  <a:solidFill>
                    <a:schemeClr val="lt1"/>
                  </a:solidFill>
                </a:rPr>
                <a:t>Frameworks</a:t>
              </a:r>
              <a:r>
                <a:rPr b="1" lang="en-US" sz="1875">
                  <a:solidFill>
                    <a:schemeClr val="lt1"/>
                  </a:solidFill>
                </a:rPr>
                <a:t>:</a:t>
              </a:r>
              <a:r>
                <a:rPr lang="en-US" sz="1875">
                  <a:solidFill>
                    <a:schemeClr val="lt1"/>
                  </a:solidFill>
                </a:rPr>
                <a:t> PyTorch, TensorFlow/Keras for deep learning; OpenCV, Dlib, MediaPipe for face detection.</a:t>
              </a:r>
              <a:endParaRPr sz="1875">
                <a:solidFill>
                  <a:schemeClr val="lt1"/>
                </a:solidFill>
              </a:endParaRPr>
            </a:p>
            <a:p>
              <a:pPr indent="-254821" lvl="0" marL="478654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lt1"/>
                </a:buClr>
                <a:buSzPts val="1875"/>
                <a:buChar char="●"/>
              </a:pPr>
              <a:r>
                <a:rPr b="1" lang="en-US" sz="2000">
                  <a:solidFill>
                    <a:schemeClr val="lt1"/>
                  </a:solidFill>
                </a:rPr>
                <a:t>Utilities</a:t>
              </a:r>
              <a:r>
                <a:rPr b="1" lang="en-US" sz="1875">
                  <a:solidFill>
                    <a:schemeClr val="lt1"/>
                  </a:solidFill>
                </a:rPr>
                <a:t>:</a:t>
              </a:r>
              <a:r>
                <a:rPr lang="en-US" sz="1875">
                  <a:solidFill>
                    <a:schemeClr val="lt1"/>
                  </a:solidFill>
                </a:rPr>
                <a:t> FFmpeg for video processing; Scikit-learn for metrics and evaluation.</a:t>
              </a:r>
              <a:endParaRPr sz="1875">
                <a:solidFill>
                  <a:schemeClr val="lt1"/>
                </a:solidFill>
              </a:endParaRPr>
            </a:p>
            <a:p>
              <a:pPr indent="-254821" lvl="0" marL="478654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lt1"/>
                </a:buClr>
                <a:buSzPts val="1875"/>
                <a:buChar char="●"/>
              </a:pPr>
              <a:r>
                <a:rPr b="1" lang="en-US" sz="2000">
                  <a:solidFill>
                    <a:schemeClr val="lt1"/>
                  </a:solidFill>
                </a:rPr>
                <a:t>Popular Models:</a:t>
              </a:r>
              <a:r>
                <a:rPr lang="en-US" sz="1875">
                  <a:solidFill>
                    <a:schemeClr val="lt1"/>
                  </a:solidFill>
                </a:rPr>
                <a:t> XceptionNet, MesoNet, F3-Net, Vision Transformers (DFDT, GenConViT), multimodal/LLM based systems.</a:t>
              </a:r>
              <a:endParaRPr sz="2157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/>
        </p:nvSpPr>
        <p:spPr>
          <a:xfrm>
            <a:off x="10744200" y="6488668"/>
            <a:ext cx="144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0</a:t>
            </a: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7</a:t>
            </a:r>
            <a:endParaRPr b="0" i="0" sz="16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220575" y="224000"/>
            <a:ext cx="8977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F"/>
              </a:buClr>
              <a:buSzPts val="4500"/>
              <a:buFont typeface="EB Garamond"/>
              <a:buChar char="❏"/>
            </a:pPr>
            <a:r>
              <a:rPr b="1" lang="en-US" sz="4500" u="sng">
                <a:solidFill>
                  <a:srgbClr val="1B786F"/>
                </a:solidFill>
                <a:latin typeface="EB Garamond"/>
                <a:ea typeface="EB Garamond"/>
                <a:cs typeface="EB Garamond"/>
                <a:sym typeface="EB Garamond"/>
              </a:rPr>
              <a:t>Comparative Analysis</a:t>
            </a:r>
            <a:r>
              <a:rPr b="1" i="0" lang="en-US" sz="4500" u="none" cap="none" strike="noStrike">
                <a:solidFill>
                  <a:srgbClr val="1B786F"/>
                </a:solidFill>
                <a:latin typeface="EB Garamond"/>
                <a:ea typeface="EB Garamond"/>
                <a:cs typeface="EB Garamond"/>
                <a:sym typeface="EB Garamond"/>
              </a:rPr>
              <a:t> :- </a:t>
            </a:r>
            <a:endParaRPr b="1" i="0" sz="4500" u="none" cap="none" strike="noStrike">
              <a:solidFill>
                <a:srgbClr val="1B786F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36" name="Google Shape;136;p6" title="download.jpeg"/>
          <p:cNvPicPr preferRelativeResize="0"/>
          <p:nvPr/>
        </p:nvPicPr>
        <p:blipFill rotWithShape="1">
          <a:blip r:embed="rId3">
            <a:alphaModFix/>
          </a:blip>
          <a:srcRect b="16791" l="14315" r="14358" t="6497"/>
          <a:stretch/>
        </p:blipFill>
        <p:spPr>
          <a:xfrm>
            <a:off x="11290059" y="109862"/>
            <a:ext cx="840225" cy="90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7492850" y="1020750"/>
            <a:ext cx="3536700" cy="528900"/>
          </a:xfrm>
          <a:prstGeom prst="rect">
            <a:avLst/>
          </a:prstGeom>
          <a:solidFill>
            <a:srgbClr val="1B786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lt1"/>
                </a:solidFill>
              </a:rPr>
              <a:t>Weaknesses</a:t>
            </a:r>
            <a:endParaRPr b="1"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180850" y="1020750"/>
            <a:ext cx="3174300" cy="528900"/>
          </a:xfrm>
          <a:prstGeom prst="rect">
            <a:avLst/>
          </a:prstGeom>
          <a:solidFill>
            <a:srgbClr val="1B786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</a:rPr>
              <a:t>Method</a:t>
            </a:r>
            <a:endParaRPr b="1" sz="2500">
              <a:solidFill>
                <a:schemeClr val="lt1"/>
              </a:solidFill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382649" y="1571425"/>
            <a:ext cx="3082500" cy="899100"/>
          </a:xfrm>
          <a:prstGeom prst="rect">
            <a:avLst/>
          </a:prstGeom>
          <a:solidFill>
            <a:srgbClr val="1B786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Simple, effective on images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683152" y="1574450"/>
            <a:ext cx="2671800" cy="899100"/>
          </a:xfrm>
          <a:prstGeom prst="rect">
            <a:avLst/>
          </a:prstGeom>
          <a:solidFill>
            <a:srgbClr val="1B786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</a:rPr>
              <a:t>CNN-based Models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188739" y="1574625"/>
            <a:ext cx="494400" cy="899100"/>
          </a:xfrm>
          <a:prstGeom prst="rect">
            <a:avLst/>
          </a:prstGeom>
          <a:solidFill>
            <a:srgbClr val="1F887E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1.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382750" y="1023137"/>
            <a:ext cx="3082500" cy="528900"/>
          </a:xfrm>
          <a:prstGeom prst="rect">
            <a:avLst/>
          </a:prstGeom>
          <a:solidFill>
            <a:srgbClr val="1B786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lt1"/>
                </a:solidFill>
              </a:rPr>
              <a:t>Strengths</a:t>
            </a:r>
            <a:endParaRPr b="1"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385036" y="2485825"/>
            <a:ext cx="3082500" cy="899100"/>
          </a:xfrm>
          <a:prstGeom prst="rect">
            <a:avLst/>
          </a:prstGeom>
          <a:solidFill>
            <a:srgbClr val="1B786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Good for video sequences, captures motion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685538" y="2488850"/>
            <a:ext cx="2671800" cy="899100"/>
          </a:xfrm>
          <a:prstGeom prst="rect">
            <a:avLst/>
          </a:prstGeom>
          <a:solidFill>
            <a:srgbClr val="1B786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</a:rPr>
              <a:t>RNN / LSTM</a:t>
            </a:r>
            <a:r>
              <a:rPr b="1" lang="en-US" sz="2000">
                <a:solidFill>
                  <a:schemeClr val="lt1"/>
                </a:solidFill>
              </a:rPr>
              <a:t> Models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191126" y="2489025"/>
            <a:ext cx="494400" cy="899100"/>
          </a:xfrm>
          <a:prstGeom prst="rect">
            <a:avLst/>
          </a:prstGeom>
          <a:solidFill>
            <a:srgbClr val="1F887E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2</a:t>
            </a:r>
            <a:r>
              <a:rPr lang="en-US" sz="2000">
                <a:solidFill>
                  <a:schemeClr val="lt1"/>
                </a:solidFill>
              </a:rPr>
              <a:t>.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382649" y="3400225"/>
            <a:ext cx="3082500" cy="899100"/>
          </a:xfrm>
          <a:prstGeom prst="rect">
            <a:avLst/>
          </a:prstGeom>
          <a:solidFill>
            <a:srgbClr val="1B786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Global Context, Scalable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1683152" y="3403250"/>
            <a:ext cx="2671800" cy="899100"/>
          </a:xfrm>
          <a:prstGeom prst="rect">
            <a:avLst/>
          </a:prstGeom>
          <a:solidFill>
            <a:srgbClr val="1B786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</a:rPr>
              <a:t>Transformer</a:t>
            </a:r>
            <a:r>
              <a:rPr b="1" lang="en-US" sz="2000">
                <a:solidFill>
                  <a:schemeClr val="lt1"/>
                </a:solidFill>
              </a:rPr>
              <a:t> Models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1188739" y="3403425"/>
            <a:ext cx="494400" cy="899100"/>
          </a:xfrm>
          <a:prstGeom prst="rect">
            <a:avLst/>
          </a:prstGeom>
          <a:solidFill>
            <a:srgbClr val="1F887E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3</a:t>
            </a:r>
            <a:r>
              <a:rPr lang="en-US" sz="2000">
                <a:solidFill>
                  <a:schemeClr val="lt1"/>
                </a:solidFill>
              </a:rPr>
              <a:t>.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382649" y="4314625"/>
            <a:ext cx="3082500" cy="899100"/>
          </a:xfrm>
          <a:prstGeom prst="rect">
            <a:avLst/>
          </a:prstGeom>
          <a:solidFill>
            <a:srgbClr val="1B786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Combine strengths, best performance so far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683152" y="4317650"/>
            <a:ext cx="2671800" cy="899100"/>
          </a:xfrm>
          <a:prstGeom prst="rect">
            <a:avLst/>
          </a:prstGeom>
          <a:solidFill>
            <a:srgbClr val="1B786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</a:rPr>
              <a:t>Hybrid</a:t>
            </a:r>
            <a:r>
              <a:rPr b="1" lang="en-US" sz="2000">
                <a:solidFill>
                  <a:schemeClr val="lt1"/>
                </a:solidFill>
              </a:rPr>
              <a:t> Models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188739" y="4317825"/>
            <a:ext cx="494400" cy="899100"/>
          </a:xfrm>
          <a:prstGeom prst="rect">
            <a:avLst/>
          </a:prstGeom>
          <a:solidFill>
            <a:srgbClr val="1F887E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4</a:t>
            </a:r>
            <a:r>
              <a:rPr lang="en-US" sz="2000">
                <a:solidFill>
                  <a:schemeClr val="lt1"/>
                </a:solidFill>
              </a:rPr>
              <a:t>.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382649" y="5229025"/>
            <a:ext cx="3082500" cy="899100"/>
          </a:xfrm>
          <a:prstGeom prst="rect">
            <a:avLst/>
          </a:prstGeom>
          <a:solidFill>
            <a:srgbClr val="1B786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Detects lip-sync, audio-visual mismatch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683152" y="5232050"/>
            <a:ext cx="2671800" cy="899100"/>
          </a:xfrm>
          <a:prstGeom prst="rect">
            <a:avLst/>
          </a:prstGeom>
          <a:solidFill>
            <a:srgbClr val="1B786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</a:rPr>
              <a:t>Multimodal</a:t>
            </a:r>
            <a:r>
              <a:rPr b="1" lang="en-US" sz="2000">
                <a:solidFill>
                  <a:schemeClr val="lt1"/>
                </a:solidFill>
              </a:rPr>
              <a:t> System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1188739" y="5232225"/>
            <a:ext cx="494400" cy="899100"/>
          </a:xfrm>
          <a:prstGeom prst="rect">
            <a:avLst/>
          </a:prstGeom>
          <a:solidFill>
            <a:srgbClr val="1F887E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5</a:t>
            </a:r>
            <a:r>
              <a:rPr lang="en-US" sz="2000">
                <a:solidFill>
                  <a:schemeClr val="lt1"/>
                </a:solidFill>
              </a:rPr>
              <a:t>.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7492850" y="5223400"/>
            <a:ext cx="3536700" cy="899100"/>
          </a:xfrm>
          <a:prstGeom prst="rect">
            <a:avLst/>
          </a:prstGeom>
          <a:solidFill>
            <a:srgbClr val="1B786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Dataset scarcity, synchronization complexity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56" name="Google Shape;156;p6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{D3E36665-A652-4462-94FA-4127B3B58A93}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57" name="Google Shape;157;p6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{D3E36665-A652-4462-94FA-4127B3B58A93}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58" name="Google Shape;158;p6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{D3E36665-A652-4462-94FA-4127B3B58A93}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9" name="Google Shape;159;p6"/>
          <p:cNvSpPr/>
          <p:nvPr/>
        </p:nvSpPr>
        <p:spPr>
          <a:xfrm>
            <a:off x="7492850" y="1565800"/>
            <a:ext cx="3536700" cy="899100"/>
          </a:xfrm>
          <a:prstGeom prst="rect">
            <a:avLst/>
          </a:prstGeom>
          <a:solidFill>
            <a:srgbClr val="1B786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Poor temporal understanding, dataset-specific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7492850" y="2492985"/>
            <a:ext cx="3536700" cy="899100"/>
          </a:xfrm>
          <a:prstGeom prst="rect">
            <a:avLst/>
          </a:prstGeom>
          <a:solidFill>
            <a:srgbClr val="1B786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High training cost, prone to overfitting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7492850" y="3403425"/>
            <a:ext cx="3536700" cy="891600"/>
          </a:xfrm>
          <a:prstGeom prst="rect">
            <a:avLst/>
          </a:prstGeom>
          <a:solidFill>
            <a:srgbClr val="1B786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Data-hungry, slower training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7488759" y="4314626"/>
            <a:ext cx="3536700" cy="899100"/>
          </a:xfrm>
          <a:prstGeom prst="rect">
            <a:avLst/>
          </a:prstGeom>
          <a:solidFill>
            <a:srgbClr val="1B786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Complex design, heavy resources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09cb993a8_0_0"/>
          <p:cNvSpPr txBox="1"/>
          <p:nvPr>
            <p:ph type="title"/>
          </p:nvPr>
        </p:nvSpPr>
        <p:spPr>
          <a:xfrm>
            <a:off x="454525" y="231625"/>
            <a:ext cx="4900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143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F"/>
              </a:buClr>
              <a:buSzPts val="4500"/>
              <a:buFont typeface="EB Garamond"/>
              <a:buChar char="❏"/>
            </a:pPr>
            <a:r>
              <a:rPr b="1" lang="en-US" sz="4500" u="sng">
                <a:solidFill>
                  <a:srgbClr val="1B786F"/>
                </a:solidFill>
                <a:latin typeface="EB Garamond"/>
                <a:ea typeface="EB Garamond"/>
                <a:cs typeface="EB Garamond"/>
                <a:sym typeface="EB Garamond"/>
              </a:rPr>
              <a:t>Methodology</a:t>
            </a:r>
            <a:r>
              <a:rPr b="1" lang="en-US" sz="4500">
                <a:solidFill>
                  <a:srgbClr val="1B786F"/>
                </a:solidFill>
                <a:latin typeface="EB Garamond"/>
                <a:ea typeface="EB Garamond"/>
                <a:cs typeface="EB Garamond"/>
                <a:sym typeface="EB Garamond"/>
              </a:rPr>
              <a:t> :-</a:t>
            </a:r>
            <a:endParaRPr>
              <a:solidFill>
                <a:srgbClr val="1B786F"/>
              </a:solidFill>
            </a:endParaRPr>
          </a:p>
        </p:txBody>
      </p:sp>
      <p:pic>
        <p:nvPicPr>
          <p:cNvPr id="169" name="Google Shape;169;g3809cb993a8_0_0" title="download.jpeg"/>
          <p:cNvPicPr preferRelativeResize="0"/>
          <p:nvPr/>
        </p:nvPicPr>
        <p:blipFill rotWithShape="1">
          <a:blip r:embed="rId3">
            <a:alphaModFix/>
          </a:blip>
          <a:srcRect b="16791" l="14315" r="14358" t="6497"/>
          <a:stretch/>
        </p:blipFill>
        <p:spPr>
          <a:xfrm>
            <a:off x="11290059" y="109862"/>
            <a:ext cx="840225" cy="90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809cb993a8_0_0"/>
          <p:cNvSpPr txBox="1"/>
          <p:nvPr/>
        </p:nvSpPr>
        <p:spPr>
          <a:xfrm>
            <a:off x="10744200" y="6488668"/>
            <a:ext cx="144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0</a:t>
            </a: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8</a:t>
            </a:r>
            <a:endParaRPr b="0" i="0" sz="16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1" name="Google Shape;171;g3809cb993a8_0_0"/>
          <p:cNvSpPr txBox="1"/>
          <p:nvPr/>
        </p:nvSpPr>
        <p:spPr>
          <a:xfrm>
            <a:off x="972250" y="885850"/>
            <a:ext cx="9611100" cy="57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US" sz="2300">
                <a:solidFill>
                  <a:schemeClr val="dk1"/>
                </a:solidFill>
              </a:rPr>
              <a:t>Data Collection:</a:t>
            </a:r>
            <a:r>
              <a:rPr lang="en-US" sz="2100">
                <a:solidFill>
                  <a:schemeClr val="dk1"/>
                </a:solidFill>
              </a:rPr>
              <a:t> Use benchmark datasets (Face </a:t>
            </a:r>
            <a:r>
              <a:rPr lang="en-US" sz="2100">
                <a:solidFill>
                  <a:schemeClr val="dk1"/>
                </a:solidFill>
              </a:rPr>
              <a:t>Forensics++</a:t>
            </a:r>
            <a:r>
              <a:rPr lang="en-US" sz="2100">
                <a:solidFill>
                  <a:schemeClr val="dk1"/>
                </a:solidFill>
              </a:rPr>
              <a:t>, DFDC, Celeb-DF) with preprocessing (face alignment, normalization).</a:t>
            </a:r>
            <a:endParaRPr sz="21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US" sz="2300">
                <a:solidFill>
                  <a:schemeClr val="dk1"/>
                </a:solidFill>
              </a:rPr>
              <a:t>Feature Extraction:</a:t>
            </a:r>
            <a:r>
              <a:rPr lang="en-US" sz="2100">
                <a:solidFill>
                  <a:schemeClr val="dk1"/>
                </a:solidFill>
              </a:rPr>
              <a:t> Detect faces; analyze spatial (artifacts), temporal (motion, lip-sync), and audio (spectrogram) cues.</a:t>
            </a:r>
            <a:endParaRPr sz="21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US" sz="2300">
                <a:solidFill>
                  <a:schemeClr val="dk1"/>
                </a:solidFill>
              </a:rPr>
              <a:t>Model Training &amp; Validation: </a:t>
            </a:r>
            <a:r>
              <a:rPr lang="en-US" sz="2300">
                <a:solidFill>
                  <a:schemeClr val="dk1"/>
                </a:solidFill>
              </a:rPr>
              <a:t>We will first create a CNN model and will note the </a:t>
            </a:r>
            <a:r>
              <a:rPr lang="en-US" sz="2300">
                <a:solidFill>
                  <a:schemeClr val="dk1"/>
                </a:solidFill>
              </a:rPr>
              <a:t>accuracy</a:t>
            </a:r>
            <a:r>
              <a:rPr lang="en-US" sz="2300">
                <a:solidFill>
                  <a:schemeClr val="dk1"/>
                </a:solidFill>
              </a:rPr>
              <a:t> as baseline. As next step, we will try different models like Transformer accordingly in search of surpassing our baseline </a:t>
            </a:r>
            <a:r>
              <a:rPr lang="en-US" sz="2300">
                <a:solidFill>
                  <a:schemeClr val="dk1"/>
                </a:solidFill>
              </a:rPr>
              <a:t>metrics</a:t>
            </a:r>
            <a:r>
              <a:rPr lang="en-US" sz="23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US" sz="2300">
                <a:solidFill>
                  <a:schemeClr val="dk1"/>
                </a:solidFill>
              </a:rPr>
              <a:t>Evaluation:</a:t>
            </a:r>
            <a:r>
              <a:rPr lang="en-US" sz="2100">
                <a:solidFill>
                  <a:schemeClr val="dk1"/>
                </a:solidFill>
              </a:rPr>
              <a:t> Measure Accuracy, Precision, Recall, F1-score, ROC-AUC; test robustness on unseen Deepfakes.</a:t>
            </a:r>
            <a:endParaRPr sz="21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US" sz="2300">
                <a:solidFill>
                  <a:schemeClr val="dk1"/>
                </a:solidFill>
              </a:rPr>
              <a:t>Deployment:</a:t>
            </a:r>
            <a:r>
              <a:rPr lang="en-US" sz="2100">
                <a:solidFill>
                  <a:schemeClr val="dk1"/>
                </a:solidFill>
              </a:rPr>
              <a:t> Assess real-time feasibility for digital platforms and social media monitoring.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809cb993a8_0_0"/>
          <p:cNvSpPr/>
          <p:nvPr/>
        </p:nvSpPr>
        <p:spPr>
          <a:xfrm>
            <a:off x="0" y="25"/>
            <a:ext cx="360300" cy="6858000"/>
          </a:xfrm>
          <a:prstGeom prst="rect">
            <a:avLst/>
          </a:prstGeom>
          <a:solidFill>
            <a:srgbClr val="1B78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/>
          <p:nvPr/>
        </p:nvSpPr>
        <p:spPr>
          <a:xfrm>
            <a:off x="10744200" y="6488668"/>
            <a:ext cx="144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09</a:t>
            </a:r>
            <a:endParaRPr b="0" i="0" sz="16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360300" y="287050"/>
            <a:ext cx="6802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F"/>
              </a:buClr>
              <a:buSzPts val="4500"/>
              <a:buFont typeface="EB Garamond"/>
              <a:buChar char="❏"/>
            </a:pPr>
            <a:r>
              <a:rPr b="1" lang="en-US" sz="4500" u="sng">
                <a:solidFill>
                  <a:srgbClr val="1B786F"/>
                </a:solidFill>
                <a:latin typeface="EB Garamond"/>
                <a:ea typeface="EB Garamond"/>
                <a:cs typeface="EB Garamond"/>
                <a:sym typeface="EB Garamond"/>
              </a:rPr>
              <a:t>Expected Outcomes</a:t>
            </a:r>
            <a:r>
              <a:rPr b="1" i="0" lang="en-US" sz="4500" u="none" cap="none" strike="noStrike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 :- </a:t>
            </a:r>
            <a:endParaRPr b="1" i="0" sz="4500" u="none" cap="none" strike="noStrike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79" name="Google Shape;179;p7" title="download.jpeg"/>
          <p:cNvPicPr preferRelativeResize="0"/>
          <p:nvPr/>
        </p:nvPicPr>
        <p:blipFill rotWithShape="1">
          <a:blip r:embed="rId3">
            <a:alphaModFix/>
          </a:blip>
          <a:srcRect b="16791" l="14315" r="14358" t="6497"/>
          <a:stretch/>
        </p:blipFill>
        <p:spPr>
          <a:xfrm>
            <a:off x="11290059" y="109862"/>
            <a:ext cx="840225" cy="90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 txBox="1"/>
          <p:nvPr/>
        </p:nvSpPr>
        <p:spPr>
          <a:xfrm>
            <a:off x="830000" y="1121675"/>
            <a:ext cx="10088400" cy="50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chemeClr val="dk1"/>
                </a:solidFill>
              </a:rPr>
              <a:t>A</a:t>
            </a:r>
            <a:r>
              <a:rPr lang="en-US" sz="2400">
                <a:solidFill>
                  <a:schemeClr val="dk1"/>
                </a:solidFill>
              </a:rPr>
              <a:t>chieving </a:t>
            </a:r>
            <a:r>
              <a:rPr b="1" lang="en-US" sz="2400">
                <a:solidFill>
                  <a:schemeClr val="dk1"/>
                </a:solidFill>
              </a:rPr>
              <a:t>high accuracy</a:t>
            </a:r>
            <a:r>
              <a:rPr lang="en-US" sz="2400">
                <a:solidFill>
                  <a:schemeClr val="dk1"/>
                </a:solidFill>
              </a:rPr>
              <a:t> in identifying deepfakes across </a:t>
            </a:r>
            <a:r>
              <a:rPr b="1" lang="en-US" sz="2400">
                <a:solidFill>
                  <a:schemeClr val="dk1"/>
                </a:solidFill>
              </a:rPr>
              <a:t>images, videos </a:t>
            </a:r>
            <a:r>
              <a:rPr lang="en-US" sz="2400">
                <a:solidFill>
                  <a:schemeClr val="dk1"/>
                </a:solidFill>
              </a:rPr>
              <a:t>and </a:t>
            </a:r>
            <a:r>
              <a:rPr b="1" lang="en-US" sz="2400">
                <a:solidFill>
                  <a:schemeClr val="dk1"/>
                </a:solidFill>
              </a:rPr>
              <a:t>audio</a:t>
            </a:r>
            <a:r>
              <a:rPr lang="en-US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chemeClr val="dk1"/>
                </a:solidFill>
              </a:rPr>
              <a:t>Demonstrating model </a:t>
            </a:r>
            <a:r>
              <a:rPr b="1" lang="en-US" sz="2400">
                <a:solidFill>
                  <a:schemeClr val="dk1"/>
                </a:solidFill>
              </a:rPr>
              <a:t>robustness</a:t>
            </a:r>
            <a:r>
              <a:rPr lang="en-US" sz="2400">
                <a:solidFill>
                  <a:schemeClr val="dk1"/>
                </a:solidFill>
              </a:rPr>
              <a:t> against new, unseen deepfake methods.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chemeClr val="dk1"/>
                </a:solidFill>
              </a:rPr>
              <a:t>To enabl</a:t>
            </a:r>
            <a:r>
              <a:rPr lang="en-US" sz="2400">
                <a:solidFill>
                  <a:schemeClr val="dk1"/>
                </a:solidFill>
              </a:rPr>
              <a:t>e</a:t>
            </a:r>
            <a:r>
              <a:rPr lang="en-US" sz="2400">
                <a:solidFill>
                  <a:schemeClr val="dk1"/>
                </a:solidFill>
              </a:rPr>
              <a:t> potential </a:t>
            </a:r>
            <a:r>
              <a:rPr b="1" lang="en-US" sz="2400">
                <a:solidFill>
                  <a:schemeClr val="dk1"/>
                </a:solidFill>
              </a:rPr>
              <a:t>real-time application</a:t>
            </a:r>
            <a:r>
              <a:rPr lang="en-US" sz="2400">
                <a:solidFill>
                  <a:schemeClr val="dk1"/>
                </a:solidFill>
              </a:rPr>
              <a:t> for digital platforms and social media monitoring.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chemeClr val="dk1"/>
                </a:solidFill>
              </a:rPr>
              <a:t>Share</a:t>
            </a:r>
            <a:r>
              <a:rPr b="1" lang="en-US" sz="2400">
                <a:solidFill>
                  <a:schemeClr val="dk1"/>
                </a:solidFill>
              </a:rPr>
              <a:t> reproducible results </a:t>
            </a:r>
            <a:r>
              <a:rPr lang="en-US" sz="2400">
                <a:solidFill>
                  <a:schemeClr val="dk1"/>
                </a:solidFill>
              </a:rPr>
              <a:t>and </a:t>
            </a:r>
            <a:r>
              <a:rPr b="1" lang="en-US" sz="2400">
                <a:solidFill>
                  <a:schemeClr val="dk1"/>
                </a:solidFill>
              </a:rPr>
              <a:t>code</a:t>
            </a:r>
            <a:r>
              <a:rPr lang="en-US" sz="2400">
                <a:solidFill>
                  <a:schemeClr val="dk1"/>
                </a:solidFill>
              </a:rPr>
              <a:t> for further research and industry use.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Improve understanding of key features and strategies needed for trustworthy Deepfake detection.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0" y="25"/>
            <a:ext cx="360300" cy="6858000"/>
          </a:xfrm>
          <a:prstGeom prst="rect">
            <a:avLst/>
          </a:prstGeom>
          <a:solidFill>
            <a:srgbClr val="1B78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 txBox="1"/>
          <p:nvPr/>
        </p:nvSpPr>
        <p:spPr>
          <a:xfrm>
            <a:off x="10744200" y="6488668"/>
            <a:ext cx="144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10</a:t>
            </a:r>
            <a:endParaRPr b="0" i="0" sz="16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360300" y="309050"/>
            <a:ext cx="96348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F"/>
              </a:buClr>
              <a:buSzPts val="4500"/>
              <a:buFont typeface="EB Garamond"/>
              <a:buChar char="❏"/>
            </a:pPr>
            <a:r>
              <a:rPr b="1" lang="en-US" sz="4500" u="sng">
                <a:solidFill>
                  <a:srgbClr val="1B786F"/>
                </a:solidFill>
                <a:latin typeface="EB Garamond"/>
                <a:ea typeface="EB Garamond"/>
                <a:cs typeface="EB Garamond"/>
                <a:sym typeface="EB Garamond"/>
              </a:rPr>
              <a:t>Next Steps &amp; Future Work</a:t>
            </a:r>
            <a:r>
              <a:rPr b="1" i="0" lang="en-US" sz="4500" u="none" cap="none" strike="noStrike">
                <a:solidFill>
                  <a:srgbClr val="1B786F"/>
                </a:solidFill>
                <a:latin typeface="EB Garamond"/>
                <a:ea typeface="EB Garamond"/>
                <a:cs typeface="EB Garamond"/>
                <a:sym typeface="EB Garamond"/>
              </a:rPr>
              <a:t> :- </a:t>
            </a:r>
            <a:endParaRPr b="1" i="0" sz="4500" u="none" cap="none" strike="noStrike">
              <a:solidFill>
                <a:srgbClr val="1B786F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89" name="Google Shape;189;p8" title="download.jpeg"/>
          <p:cNvPicPr preferRelativeResize="0"/>
          <p:nvPr/>
        </p:nvPicPr>
        <p:blipFill rotWithShape="1">
          <a:blip r:embed="rId3">
            <a:alphaModFix/>
          </a:blip>
          <a:srcRect b="16791" l="14315" r="14358" t="6497"/>
          <a:stretch/>
        </p:blipFill>
        <p:spPr>
          <a:xfrm>
            <a:off x="11290059" y="109862"/>
            <a:ext cx="840225" cy="90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 txBox="1"/>
          <p:nvPr/>
        </p:nvSpPr>
        <p:spPr>
          <a:xfrm>
            <a:off x="830000" y="1101050"/>
            <a:ext cx="9995100" cy="53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lang="en-US" sz="2300">
                <a:solidFill>
                  <a:schemeClr val="dk1"/>
                </a:solidFill>
              </a:rPr>
              <a:t>Develop </a:t>
            </a:r>
            <a:r>
              <a:rPr b="1" lang="en-US" sz="2300">
                <a:solidFill>
                  <a:schemeClr val="dk1"/>
                </a:solidFill>
              </a:rPr>
              <a:t>lightweight models </a:t>
            </a:r>
            <a:r>
              <a:rPr lang="en-US" sz="2300">
                <a:solidFill>
                  <a:schemeClr val="dk1"/>
                </a:solidFill>
              </a:rPr>
              <a:t>for </a:t>
            </a:r>
            <a:r>
              <a:rPr b="1" lang="en-US" sz="2300">
                <a:solidFill>
                  <a:schemeClr val="dk1"/>
                </a:solidFill>
              </a:rPr>
              <a:t>mobile </a:t>
            </a:r>
            <a:r>
              <a:rPr lang="en-US" sz="2300">
                <a:solidFill>
                  <a:schemeClr val="dk1"/>
                </a:solidFill>
              </a:rPr>
              <a:t>and </a:t>
            </a:r>
            <a:r>
              <a:rPr b="1" lang="en-US" sz="2300">
                <a:solidFill>
                  <a:schemeClr val="dk1"/>
                </a:solidFill>
              </a:rPr>
              <a:t>real-time applications</a:t>
            </a:r>
            <a:r>
              <a:rPr lang="en-US" sz="2300">
                <a:solidFill>
                  <a:schemeClr val="dk1"/>
                </a:solidFill>
              </a:rPr>
              <a:t>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lang="en-US" sz="2300">
                <a:solidFill>
                  <a:schemeClr val="dk1"/>
                </a:solidFill>
              </a:rPr>
              <a:t>Incorporate </a:t>
            </a:r>
            <a:r>
              <a:rPr b="1" lang="en-US" sz="2300">
                <a:solidFill>
                  <a:schemeClr val="dk1"/>
                </a:solidFill>
              </a:rPr>
              <a:t>multimodal data (audio, video, text)</a:t>
            </a:r>
            <a:r>
              <a:rPr lang="en-US" sz="2300">
                <a:solidFill>
                  <a:schemeClr val="dk1"/>
                </a:solidFill>
              </a:rPr>
              <a:t> for stronger detection.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lang="en-US" sz="2300">
                <a:solidFill>
                  <a:schemeClr val="dk1"/>
                </a:solidFill>
              </a:rPr>
              <a:t>Enhance model </a:t>
            </a:r>
            <a:r>
              <a:rPr b="1" lang="en-US" sz="2300">
                <a:solidFill>
                  <a:schemeClr val="dk1"/>
                </a:solidFill>
              </a:rPr>
              <a:t>robustness </a:t>
            </a:r>
            <a:r>
              <a:rPr lang="en-US" sz="2300">
                <a:solidFill>
                  <a:schemeClr val="dk1"/>
                </a:solidFill>
              </a:rPr>
              <a:t>against </a:t>
            </a:r>
            <a:r>
              <a:rPr b="1" lang="en-US" sz="2300">
                <a:solidFill>
                  <a:schemeClr val="dk1"/>
                </a:solidFill>
              </a:rPr>
              <a:t>adversarial attacks </a:t>
            </a:r>
            <a:r>
              <a:rPr lang="en-US" sz="2300">
                <a:solidFill>
                  <a:schemeClr val="dk1"/>
                </a:solidFill>
              </a:rPr>
              <a:t>and </a:t>
            </a:r>
            <a:r>
              <a:rPr b="1" lang="en-US" sz="2300">
                <a:solidFill>
                  <a:schemeClr val="dk1"/>
                </a:solidFill>
              </a:rPr>
              <a:t>manipulations</a:t>
            </a:r>
            <a:r>
              <a:rPr lang="en-US" sz="2300">
                <a:solidFill>
                  <a:schemeClr val="dk1"/>
                </a:solidFill>
              </a:rPr>
              <a:t>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lang="en-US" sz="2300">
                <a:solidFill>
                  <a:schemeClr val="dk1"/>
                </a:solidFill>
              </a:rPr>
              <a:t>Add </a:t>
            </a:r>
            <a:r>
              <a:rPr b="1" lang="en-US" sz="2300">
                <a:solidFill>
                  <a:schemeClr val="dk1"/>
                </a:solidFill>
              </a:rPr>
              <a:t>explainability</a:t>
            </a:r>
            <a:r>
              <a:rPr lang="en-US" sz="2300">
                <a:solidFill>
                  <a:schemeClr val="dk1"/>
                </a:solidFill>
              </a:rPr>
              <a:t> to improve </a:t>
            </a:r>
            <a:r>
              <a:rPr b="1" lang="en-US" sz="2300">
                <a:solidFill>
                  <a:schemeClr val="dk1"/>
                </a:solidFill>
              </a:rPr>
              <a:t>trust </a:t>
            </a:r>
            <a:r>
              <a:rPr lang="en-US" sz="2300">
                <a:solidFill>
                  <a:schemeClr val="dk1"/>
                </a:solidFill>
              </a:rPr>
              <a:t>and </a:t>
            </a:r>
            <a:r>
              <a:rPr b="1" lang="en-US" sz="2300">
                <a:solidFill>
                  <a:schemeClr val="dk1"/>
                </a:solidFill>
              </a:rPr>
              <a:t>insight</a:t>
            </a:r>
            <a:r>
              <a:rPr lang="en-US" sz="2300">
                <a:solidFill>
                  <a:schemeClr val="dk1"/>
                </a:solidFill>
              </a:rPr>
              <a:t> into model decisions.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lang="en-US" sz="2300">
                <a:solidFill>
                  <a:schemeClr val="dk1"/>
                </a:solidFill>
              </a:rPr>
              <a:t>Expand open datasets and share code for wider research collaboration.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lang="en-US" sz="2300">
                <a:solidFill>
                  <a:schemeClr val="dk1"/>
                </a:solidFill>
              </a:rPr>
              <a:t>Test deployment in </a:t>
            </a:r>
            <a:r>
              <a:rPr b="1" lang="en-US" sz="2300">
                <a:solidFill>
                  <a:schemeClr val="dk1"/>
                </a:solidFill>
              </a:rPr>
              <a:t>real-world platforms</a:t>
            </a:r>
            <a:r>
              <a:rPr lang="en-US" sz="2300">
                <a:solidFill>
                  <a:schemeClr val="dk1"/>
                </a:solidFill>
              </a:rPr>
              <a:t> like social media or news verification.</a:t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0" y="25"/>
            <a:ext cx="360300" cy="6858000"/>
          </a:xfrm>
          <a:prstGeom prst="rect">
            <a:avLst/>
          </a:prstGeom>
          <a:solidFill>
            <a:srgbClr val="1B78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 txBox="1"/>
          <p:nvPr/>
        </p:nvSpPr>
        <p:spPr>
          <a:xfrm>
            <a:off x="10591800" y="6488668"/>
            <a:ext cx="160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n-U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11</a:t>
            </a:r>
            <a:endParaRPr b="0" i="0" sz="16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360300" y="260225"/>
            <a:ext cx="8813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F"/>
              </a:buClr>
              <a:buSzPts val="4500"/>
              <a:buFont typeface="EB Garamond"/>
              <a:buChar char="❏"/>
            </a:pPr>
            <a:r>
              <a:rPr b="1" lang="en-US" sz="4500" u="sng">
                <a:solidFill>
                  <a:srgbClr val="1B786F"/>
                </a:solidFill>
                <a:latin typeface="EB Garamond"/>
                <a:ea typeface="EB Garamond"/>
                <a:cs typeface="EB Garamond"/>
                <a:sym typeface="EB Garamond"/>
              </a:rPr>
              <a:t>References</a:t>
            </a:r>
            <a:r>
              <a:rPr b="1" i="0" lang="en-US" sz="4500" u="none" cap="none" strike="noStrike">
                <a:solidFill>
                  <a:srgbClr val="1B786F"/>
                </a:solidFill>
                <a:latin typeface="EB Garamond"/>
                <a:ea typeface="EB Garamond"/>
                <a:cs typeface="EB Garamond"/>
                <a:sym typeface="EB Garamond"/>
              </a:rPr>
              <a:t> :- </a:t>
            </a:r>
            <a:endParaRPr b="1" i="0" sz="4500" u="none" cap="none" strike="noStrike">
              <a:solidFill>
                <a:srgbClr val="1B786F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98" name="Google Shape;198;p9" title="download.jpeg"/>
          <p:cNvPicPr preferRelativeResize="0"/>
          <p:nvPr/>
        </p:nvPicPr>
        <p:blipFill rotWithShape="1">
          <a:blip r:embed="rId3">
            <a:alphaModFix/>
          </a:blip>
          <a:srcRect b="16791" l="14315" r="14358" t="6497"/>
          <a:stretch/>
        </p:blipFill>
        <p:spPr>
          <a:xfrm>
            <a:off x="11290059" y="109862"/>
            <a:ext cx="840225" cy="90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9"/>
          <p:cNvSpPr txBox="1"/>
          <p:nvPr/>
        </p:nvSpPr>
        <p:spPr>
          <a:xfrm>
            <a:off x="938875" y="1135244"/>
            <a:ext cx="96111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Rossler, A., Cozzolino, D., Verdoliva, L., Riess, C., Thies, J., &amp; Nießner, M. (2019). </a:t>
            </a:r>
            <a:r>
              <a:rPr i="1" lang="en-US" sz="2000">
                <a:solidFill>
                  <a:schemeClr val="dk1"/>
                </a:solidFill>
              </a:rPr>
              <a:t>FaceForensics++: Learning to Detect Manipulated Facial Images</a:t>
            </a:r>
            <a:r>
              <a:rPr lang="en-US" sz="2000">
                <a:solidFill>
                  <a:schemeClr val="dk1"/>
                </a:solidFill>
              </a:rPr>
              <a:t>. IEEE ICCV.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Dolhansky, B. et al. (2020). </a:t>
            </a:r>
            <a:r>
              <a:rPr i="1" lang="en-US" sz="2000">
                <a:solidFill>
                  <a:schemeClr val="dk1"/>
                </a:solidFill>
              </a:rPr>
              <a:t>The DeepFake Detection Challenge (DFDC) Dataset</a:t>
            </a:r>
            <a:r>
              <a:rPr lang="en-US" sz="2000">
                <a:solidFill>
                  <a:schemeClr val="dk1"/>
                </a:solidFill>
              </a:rPr>
              <a:t>. arXiv:2006.07397.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Li, Y., &amp; Lyu, S. (2019). </a:t>
            </a:r>
            <a:r>
              <a:rPr i="1" lang="en-US" sz="2000">
                <a:solidFill>
                  <a:schemeClr val="dk1"/>
                </a:solidFill>
              </a:rPr>
              <a:t>Exposing DeepFake Videos by Detecting Face Warping Artifacts</a:t>
            </a:r>
            <a:r>
              <a:rPr lang="en-US" sz="2000">
                <a:solidFill>
                  <a:schemeClr val="dk1"/>
                </a:solidFill>
              </a:rPr>
              <a:t>. IEEE CVPR Workshops.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Afchar, D., Nozick, V., Yamagishi, J., &amp; Echizen, I. (2018). </a:t>
            </a:r>
            <a:r>
              <a:rPr i="1" lang="en-US" sz="2000">
                <a:solidFill>
                  <a:schemeClr val="dk1"/>
                </a:solidFill>
              </a:rPr>
              <a:t>MesoNet: a Compact Facial Video Forgery Detection Network</a:t>
            </a:r>
            <a:r>
              <a:rPr lang="en-US" sz="2000">
                <a:solidFill>
                  <a:schemeClr val="dk1"/>
                </a:solidFill>
              </a:rPr>
              <a:t>. IEEE WIFS.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Mirsky, Y., &amp; Lee, W. (2021). </a:t>
            </a:r>
            <a:r>
              <a:rPr i="1" lang="en-US" sz="2000">
                <a:solidFill>
                  <a:schemeClr val="dk1"/>
                </a:solidFill>
              </a:rPr>
              <a:t>The Creation and Detection of DeepFakes: A Survey</a:t>
            </a:r>
            <a:r>
              <a:rPr lang="en-US" sz="2000">
                <a:solidFill>
                  <a:schemeClr val="dk1"/>
                </a:solidFill>
              </a:rPr>
              <a:t>. ACM Computing Surveys.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0" y="25"/>
            <a:ext cx="360300" cy="6858000"/>
          </a:xfrm>
          <a:prstGeom prst="rect">
            <a:avLst/>
          </a:prstGeom>
          <a:solidFill>
            <a:srgbClr val="1B78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 txBox="1"/>
          <p:nvPr/>
        </p:nvSpPr>
        <p:spPr>
          <a:xfrm>
            <a:off x="0" y="2580675"/>
            <a:ext cx="121920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800" u="none" cap="none" strike="noStrike">
                <a:solidFill>
                  <a:srgbClr val="1B786F"/>
                </a:solidFill>
                <a:latin typeface="EB Garamond"/>
                <a:ea typeface="EB Garamond"/>
                <a:cs typeface="EB Garamond"/>
                <a:sym typeface="EB Garamond"/>
              </a:rPr>
              <a:t>Thank You</a:t>
            </a:r>
            <a:br>
              <a:rPr b="1" i="0" lang="en-US" sz="7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endParaRPr b="1" i="0" sz="7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207" name="Google Shape;207;p11" title="download.jpeg"/>
          <p:cNvPicPr preferRelativeResize="0"/>
          <p:nvPr/>
        </p:nvPicPr>
        <p:blipFill rotWithShape="1">
          <a:blip r:embed="rId3">
            <a:alphaModFix/>
          </a:blip>
          <a:srcRect b="16791" l="14315" r="14358" t="6497"/>
          <a:stretch/>
        </p:blipFill>
        <p:spPr>
          <a:xfrm>
            <a:off x="11290059" y="109862"/>
            <a:ext cx="840225" cy="90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1"/>
          <p:cNvSpPr/>
          <p:nvPr/>
        </p:nvSpPr>
        <p:spPr>
          <a:xfrm>
            <a:off x="0" y="25"/>
            <a:ext cx="360300" cy="6858000"/>
          </a:xfrm>
          <a:prstGeom prst="rect">
            <a:avLst/>
          </a:prstGeom>
          <a:solidFill>
            <a:srgbClr val="1B78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B78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2024-04-29T06:55:31Z</dcterms:created>
  <dc:creator>DEB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2024-04-28T00:00:00Z</vt:filetime>
  </property>
  <property fmtid="{D5CDD505-2E9C-101B-9397-08002B2CF9AE}" pid="3" name="LastSaved">
    <vt:filetime>2024-04-29T00:00:00Z</vt:filetime>
  </property>
</Properties>
</file>